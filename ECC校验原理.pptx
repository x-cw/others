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86" r:id="rId3"/>
    <p:sldId id="287" r:id="rId4"/>
    <p:sldId id="303" r:id="rId5"/>
    <p:sldId id="305" r:id="rId6"/>
    <p:sldId id="306" r:id="rId7"/>
    <p:sldId id="307" r:id="rId8"/>
    <p:sldId id="289" r:id="rId9"/>
    <p:sldId id="290" r:id="rId10"/>
    <p:sldId id="297" r:id="rId11"/>
    <p:sldId id="291" r:id="rId12"/>
    <p:sldId id="292" r:id="rId13"/>
    <p:sldId id="293" r:id="rId14"/>
    <p:sldId id="294" r:id="rId15"/>
    <p:sldId id="295" r:id="rId16"/>
    <p:sldId id="298" r:id="rId17"/>
    <p:sldId id="299" r:id="rId18"/>
    <p:sldId id="300" r:id="rId19"/>
    <p:sldId id="301" r:id="rId20"/>
    <p:sldId id="302" r:id="rId21"/>
    <p:sldId id="296" r:id="rId22"/>
    <p:sldId id="309" r:id="rId23"/>
    <p:sldId id="308" r:id="rId24"/>
    <p:sldId id="310" r:id="rId25"/>
    <p:sldId id="311" r:id="rId26"/>
    <p:sldId id="312" r:id="rId27"/>
    <p:sldId id="313" r:id="rId28"/>
    <p:sldId id="31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3DD"/>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4217" autoAdjust="0"/>
  </p:normalViewPr>
  <p:slideViewPr>
    <p:cSldViewPr snapToGrid="0">
      <p:cViewPr varScale="1">
        <p:scale>
          <a:sx n="110" d="100"/>
          <a:sy n="110" d="100"/>
        </p:scale>
        <p:origin x="5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97412B-27E8-4121-A3A9-B7C36AC67EC0}" type="datetimeFigureOut">
              <a:rPr lang="zh-CN" altLang="en-US" smtClean="0"/>
              <a:t>2022/9/21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3BEC9-3267-4513-BB95-CD3BB7787C81}" type="slidenum">
              <a:rPr lang="zh-CN" altLang="en-US" smtClean="0"/>
              <a:t>‹#›</a:t>
            </a:fld>
            <a:endParaRPr lang="zh-CN" altLang="en-US"/>
          </a:p>
        </p:txBody>
      </p:sp>
    </p:spTree>
    <p:extLst>
      <p:ext uri="{BB962C8B-B14F-4D97-AF65-F5344CB8AC3E}">
        <p14:creationId xmlns:p14="http://schemas.microsoft.com/office/powerpoint/2010/main" val="353333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a:t>
            </a:fld>
            <a:endParaRPr lang="zh-CN" altLang="en-US"/>
          </a:p>
        </p:txBody>
      </p:sp>
    </p:spTree>
    <p:extLst>
      <p:ext uri="{BB962C8B-B14F-4D97-AF65-F5344CB8AC3E}">
        <p14:creationId xmlns:p14="http://schemas.microsoft.com/office/powerpoint/2010/main" val="25912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3</a:t>
            </a:fld>
            <a:endParaRPr lang="zh-CN" altLang="en-US"/>
          </a:p>
        </p:txBody>
      </p:sp>
    </p:spTree>
    <p:extLst>
      <p:ext uri="{BB962C8B-B14F-4D97-AF65-F5344CB8AC3E}">
        <p14:creationId xmlns:p14="http://schemas.microsoft.com/office/powerpoint/2010/main" val="1873341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4</a:t>
            </a:fld>
            <a:endParaRPr lang="zh-CN" altLang="en-US"/>
          </a:p>
        </p:txBody>
      </p:sp>
    </p:spTree>
    <p:extLst>
      <p:ext uri="{BB962C8B-B14F-4D97-AF65-F5344CB8AC3E}">
        <p14:creationId xmlns:p14="http://schemas.microsoft.com/office/powerpoint/2010/main" val="2277791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5</a:t>
            </a:fld>
            <a:endParaRPr lang="zh-CN" altLang="en-US"/>
          </a:p>
        </p:txBody>
      </p:sp>
    </p:spTree>
    <p:extLst>
      <p:ext uri="{BB962C8B-B14F-4D97-AF65-F5344CB8AC3E}">
        <p14:creationId xmlns:p14="http://schemas.microsoft.com/office/powerpoint/2010/main" val="441357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6</a:t>
            </a:fld>
            <a:endParaRPr lang="zh-CN" altLang="en-US"/>
          </a:p>
        </p:txBody>
      </p:sp>
    </p:spTree>
    <p:extLst>
      <p:ext uri="{BB962C8B-B14F-4D97-AF65-F5344CB8AC3E}">
        <p14:creationId xmlns:p14="http://schemas.microsoft.com/office/powerpoint/2010/main" val="158788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7</a:t>
            </a:fld>
            <a:endParaRPr lang="zh-CN" altLang="en-US"/>
          </a:p>
        </p:txBody>
      </p:sp>
    </p:spTree>
    <p:extLst>
      <p:ext uri="{BB962C8B-B14F-4D97-AF65-F5344CB8AC3E}">
        <p14:creationId xmlns:p14="http://schemas.microsoft.com/office/powerpoint/2010/main" val="2986821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8</a:t>
            </a:fld>
            <a:endParaRPr lang="zh-CN" altLang="en-US"/>
          </a:p>
        </p:txBody>
      </p:sp>
    </p:spTree>
    <p:extLst>
      <p:ext uri="{BB962C8B-B14F-4D97-AF65-F5344CB8AC3E}">
        <p14:creationId xmlns:p14="http://schemas.microsoft.com/office/powerpoint/2010/main" val="73856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9</a:t>
            </a:fld>
            <a:endParaRPr lang="zh-CN" altLang="en-US"/>
          </a:p>
        </p:txBody>
      </p:sp>
    </p:spTree>
    <p:extLst>
      <p:ext uri="{BB962C8B-B14F-4D97-AF65-F5344CB8AC3E}">
        <p14:creationId xmlns:p14="http://schemas.microsoft.com/office/powerpoint/2010/main" val="4229045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10</a:t>
            </a:fld>
            <a:endParaRPr lang="zh-CN" altLang="en-US"/>
          </a:p>
        </p:txBody>
      </p:sp>
    </p:spTree>
    <p:extLst>
      <p:ext uri="{BB962C8B-B14F-4D97-AF65-F5344CB8AC3E}">
        <p14:creationId xmlns:p14="http://schemas.microsoft.com/office/powerpoint/2010/main" val="508806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11</a:t>
            </a:fld>
            <a:endParaRPr lang="zh-CN" altLang="en-US"/>
          </a:p>
        </p:txBody>
      </p:sp>
    </p:spTree>
    <p:extLst>
      <p:ext uri="{BB962C8B-B14F-4D97-AF65-F5344CB8AC3E}">
        <p14:creationId xmlns:p14="http://schemas.microsoft.com/office/powerpoint/2010/main" val="45707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12</a:t>
            </a:fld>
            <a:endParaRPr lang="zh-CN" altLang="en-US"/>
          </a:p>
        </p:txBody>
      </p:sp>
    </p:spTree>
    <p:extLst>
      <p:ext uri="{BB962C8B-B14F-4D97-AF65-F5344CB8AC3E}">
        <p14:creationId xmlns:p14="http://schemas.microsoft.com/office/powerpoint/2010/main" val="2382343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13</a:t>
            </a:fld>
            <a:endParaRPr lang="zh-CN" altLang="en-US"/>
          </a:p>
        </p:txBody>
      </p:sp>
    </p:spTree>
    <p:extLst>
      <p:ext uri="{BB962C8B-B14F-4D97-AF65-F5344CB8AC3E}">
        <p14:creationId xmlns:p14="http://schemas.microsoft.com/office/powerpoint/2010/main" val="169147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14</a:t>
            </a:fld>
            <a:endParaRPr lang="zh-CN" altLang="en-US"/>
          </a:p>
        </p:txBody>
      </p:sp>
    </p:spTree>
    <p:extLst>
      <p:ext uri="{BB962C8B-B14F-4D97-AF65-F5344CB8AC3E}">
        <p14:creationId xmlns:p14="http://schemas.microsoft.com/office/powerpoint/2010/main" val="3868316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15</a:t>
            </a:fld>
            <a:endParaRPr lang="zh-CN" altLang="en-US"/>
          </a:p>
        </p:txBody>
      </p:sp>
    </p:spTree>
    <p:extLst>
      <p:ext uri="{BB962C8B-B14F-4D97-AF65-F5344CB8AC3E}">
        <p14:creationId xmlns:p14="http://schemas.microsoft.com/office/powerpoint/2010/main" val="3335514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16</a:t>
            </a:fld>
            <a:endParaRPr lang="zh-CN" altLang="en-US"/>
          </a:p>
        </p:txBody>
      </p:sp>
    </p:spTree>
    <p:extLst>
      <p:ext uri="{BB962C8B-B14F-4D97-AF65-F5344CB8AC3E}">
        <p14:creationId xmlns:p14="http://schemas.microsoft.com/office/powerpoint/2010/main" val="3652859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17</a:t>
            </a:fld>
            <a:endParaRPr lang="zh-CN" altLang="en-US"/>
          </a:p>
        </p:txBody>
      </p:sp>
    </p:spTree>
    <p:extLst>
      <p:ext uri="{BB962C8B-B14F-4D97-AF65-F5344CB8AC3E}">
        <p14:creationId xmlns:p14="http://schemas.microsoft.com/office/powerpoint/2010/main" val="1808874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18</a:t>
            </a:fld>
            <a:endParaRPr lang="zh-CN" altLang="en-US"/>
          </a:p>
        </p:txBody>
      </p:sp>
    </p:spTree>
    <p:extLst>
      <p:ext uri="{BB962C8B-B14F-4D97-AF65-F5344CB8AC3E}">
        <p14:creationId xmlns:p14="http://schemas.microsoft.com/office/powerpoint/2010/main" val="1046276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19</a:t>
            </a:fld>
            <a:endParaRPr lang="zh-CN" altLang="en-US"/>
          </a:p>
        </p:txBody>
      </p:sp>
    </p:spTree>
    <p:extLst>
      <p:ext uri="{BB962C8B-B14F-4D97-AF65-F5344CB8AC3E}">
        <p14:creationId xmlns:p14="http://schemas.microsoft.com/office/powerpoint/2010/main" val="1896101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20</a:t>
            </a:fld>
            <a:endParaRPr lang="zh-CN" altLang="en-US"/>
          </a:p>
        </p:txBody>
      </p:sp>
    </p:spTree>
    <p:extLst>
      <p:ext uri="{BB962C8B-B14F-4D97-AF65-F5344CB8AC3E}">
        <p14:creationId xmlns:p14="http://schemas.microsoft.com/office/powerpoint/2010/main" val="2270772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21</a:t>
            </a:fld>
            <a:endParaRPr lang="zh-CN" altLang="en-US"/>
          </a:p>
        </p:txBody>
      </p:sp>
    </p:spTree>
    <p:extLst>
      <p:ext uri="{BB962C8B-B14F-4D97-AF65-F5344CB8AC3E}">
        <p14:creationId xmlns:p14="http://schemas.microsoft.com/office/powerpoint/2010/main" val="4236697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22</a:t>
            </a:fld>
            <a:endParaRPr lang="zh-CN" altLang="en-US"/>
          </a:p>
        </p:txBody>
      </p:sp>
    </p:spTree>
    <p:extLst>
      <p:ext uri="{BB962C8B-B14F-4D97-AF65-F5344CB8AC3E}">
        <p14:creationId xmlns:p14="http://schemas.microsoft.com/office/powerpoint/2010/main" val="248361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23</a:t>
            </a:fld>
            <a:endParaRPr lang="zh-CN" altLang="en-US"/>
          </a:p>
        </p:txBody>
      </p:sp>
    </p:spTree>
    <p:extLst>
      <p:ext uri="{BB962C8B-B14F-4D97-AF65-F5344CB8AC3E}">
        <p14:creationId xmlns:p14="http://schemas.microsoft.com/office/powerpoint/2010/main" val="2922669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24</a:t>
            </a:fld>
            <a:endParaRPr lang="zh-CN" altLang="en-US"/>
          </a:p>
        </p:txBody>
      </p:sp>
    </p:spTree>
    <p:extLst>
      <p:ext uri="{BB962C8B-B14F-4D97-AF65-F5344CB8AC3E}">
        <p14:creationId xmlns:p14="http://schemas.microsoft.com/office/powerpoint/2010/main" val="20183860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25</a:t>
            </a:fld>
            <a:endParaRPr lang="zh-CN" altLang="en-US"/>
          </a:p>
        </p:txBody>
      </p:sp>
    </p:spTree>
    <p:extLst>
      <p:ext uri="{BB962C8B-B14F-4D97-AF65-F5344CB8AC3E}">
        <p14:creationId xmlns:p14="http://schemas.microsoft.com/office/powerpoint/2010/main" val="3303333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26</a:t>
            </a:fld>
            <a:endParaRPr lang="zh-CN" altLang="en-US"/>
          </a:p>
        </p:txBody>
      </p:sp>
    </p:spTree>
    <p:extLst>
      <p:ext uri="{BB962C8B-B14F-4D97-AF65-F5344CB8AC3E}">
        <p14:creationId xmlns:p14="http://schemas.microsoft.com/office/powerpoint/2010/main" val="926650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27</a:t>
            </a:fld>
            <a:endParaRPr lang="zh-CN" altLang="en-US"/>
          </a:p>
        </p:txBody>
      </p:sp>
    </p:spTree>
    <p:extLst>
      <p:ext uri="{BB962C8B-B14F-4D97-AF65-F5344CB8AC3E}">
        <p14:creationId xmlns:p14="http://schemas.microsoft.com/office/powerpoint/2010/main" val="36473386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B3BEC9-3267-4513-BB95-CD3BB7787C81}" type="slidenum">
              <a:rPr lang="zh-CN" altLang="en-US" smtClean="0"/>
              <a:t>28</a:t>
            </a:fld>
            <a:endParaRPr lang="zh-CN" altLang="en-US"/>
          </a:p>
        </p:txBody>
      </p:sp>
    </p:spTree>
    <p:extLst>
      <p:ext uri="{BB962C8B-B14F-4D97-AF65-F5344CB8AC3E}">
        <p14:creationId xmlns:p14="http://schemas.microsoft.com/office/powerpoint/2010/main" val="333548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9538" y="624729"/>
            <a:ext cx="11192068" cy="743552"/>
          </a:xfrm>
        </p:spPr>
        <p:txBody>
          <a:bodyPr/>
          <a:lstStyle/>
          <a:p>
            <a:r>
              <a:rPr lang="zh-CN" altLang="en-US" dirty="0"/>
              <a:t>单击此处编辑母版标题样式</a:t>
            </a:r>
          </a:p>
        </p:txBody>
      </p:sp>
      <p:sp>
        <p:nvSpPr>
          <p:cNvPr id="3" name="内容占位符 2"/>
          <p:cNvSpPr>
            <a:spLocks noGrp="1"/>
          </p:cNvSpPr>
          <p:nvPr>
            <p:ph idx="1"/>
          </p:nvPr>
        </p:nvSpPr>
        <p:spPr>
          <a:xfrm>
            <a:off x="838200" y="1462714"/>
            <a:ext cx="10515600" cy="443291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37198"/>
            <a:ext cx="10515600" cy="4432919"/>
          </a:xfrm>
        </p:spPr>
        <p:txBody>
          <a:bodyPr/>
          <a:lstStyle>
            <a:lvl5pPr marL="1828800" indent="0">
              <a:buNone/>
              <a:defRPr/>
            </a:lvl5pPr>
          </a:lstStyle>
          <a:p>
            <a:pPr lvl="0"/>
            <a:r>
              <a:rPr lang="zh-CN" altLang="en-US" dirty="0"/>
              <a:t>单击此处编辑母版文本样式</a:t>
            </a:r>
          </a:p>
          <a:p>
            <a:pPr lvl="1"/>
            <a:r>
              <a:rPr lang="zh-CN" altLang="en-US" dirty="0"/>
              <a:t>二级</a:t>
            </a:r>
          </a:p>
        </p:txBody>
      </p:sp>
      <p:sp>
        <p:nvSpPr>
          <p:cNvPr id="7" name="矩形 6"/>
          <p:cNvSpPr/>
          <p:nvPr userDrawn="1"/>
        </p:nvSpPr>
        <p:spPr>
          <a:xfrm>
            <a:off x="0" y="6512560"/>
            <a:ext cx="2440940" cy="345440"/>
          </a:xfrm>
          <a:prstGeom prst="rect">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400" dirty="0">
              <a:ea typeface="微软雅黑" panose="020B0503020204020204" charset="-122"/>
              <a:sym typeface="+mn-ea"/>
            </a:endParaRPr>
          </a:p>
        </p:txBody>
      </p:sp>
      <p:sp>
        <p:nvSpPr>
          <p:cNvPr id="8" name="矩形 7"/>
          <p:cNvSpPr/>
          <p:nvPr userDrawn="1"/>
        </p:nvSpPr>
        <p:spPr>
          <a:xfrm>
            <a:off x="2440940" y="6512560"/>
            <a:ext cx="9751060" cy="34544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金色LOGO-白色-中文"/>
          <p:cNvPicPr>
            <a:picLocks noChangeAspect="1"/>
          </p:cNvPicPr>
          <p:nvPr userDrawn="1"/>
        </p:nvPicPr>
        <p:blipFill>
          <a:blip r:embed="rId2"/>
          <a:stretch>
            <a:fillRect/>
          </a:stretch>
        </p:blipFill>
        <p:spPr>
          <a:xfrm>
            <a:off x="358775" y="6466840"/>
            <a:ext cx="1595120" cy="499110"/>
          </a:xfrm>
          <a:prstGeom prst="rect">
            <a:avLst/>
          </a:prstGeom>
        </p:spPr>
      </p:pic>
      <p:sp>
        <p:nvSpPr>
          <p:cNvPr id="10" name="文本框 9"/>
          <p:cNvSpPr txBox="1"/>
          <p:nvPr userDrawn="1"/>
        </p:nvSpPr>
        <p:spPr>
          <a:xfrm>
            <a:off x="5648960" y="6570345"/>
            <a:ext cx="2513965" cy="275590"/>
          </a:xfrm>
          <a:prstGeom prst="rect">
            <a:avLst/>
          </a:prstGeom>
          <a:noFill/>
        </p:spPr>
        <p:txBody>
          <a:bodyPr wrap="none" rtlCol="0" anchor="t">
            <a:spAutoFit/>
          </a:bodyPr>
          <a:lstStyle/>
          <a:p>
            <a:pPr algn="ctr"/>
            <a:r>
              <a:rPr lang="zh-CN" altLang="en-US" sz="1200" dirty="0">
                <a:solidFill>
                  <a:schemeClr val="bg1"/>
                </a:solidFill>
                <a:latin typeface="微软雅黑" panose="020B0503020204020204" charset="-122"/>
                <a:ea typeface="微软雅黑" panose="020B0503020204020204" charset="-122"/>
                <a:sym typeface="+mn-ea"/>
              </a:rPr>
              <a:t>芯动科技保密资料 禁止拷贝和外传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41863-9EF4-46C2-9395-7A848270419A}" type="slidenum">
              <a:rPr lang="zh-CN" altLang="en-US" smtClean="0"/>
              <a:t>‹#›</a:t>
            </a:fld>
            <a:endParaRPr lang="zh-CN" altLang="en-US"/>
          </a:p>
        </p:txBody>
      </p:sp>
      <p:sp>
        <p:nvSpPr>
          <p:cNvPr id="7" name="矩形 6"/>
          <p:cNvSpPr/>
          <p:nvPr userDrawn="1"/>
        </p:nvSpPr>
        <p:spPr>
          <a:xfrm>
            <a:off x="0" y="6512560"/>
            <a:ext cx="2440940" cy="345440"/>
          </a:xfrm>
          <a:prstGeom prst="rect">
            <a:avLst/>
          </a:pr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400" dirty="0">
              <a:ea typeface="微软雅黑" panose="020B0503020204020204" charset="-122"/>
              <a:sym typeface="+mn-ea"/>
            </a:endParaRPr>
          </a:p>
        </p:txBody>
      </p:sp>
      <p:sp>
        <p:nvSpPr>
          <p:cNvPr id="8" name="矩形 7"/>
          <p:cNvSpPr/>
          <p:nvPr userDrawn="1"/>
        </p:nvSpPr>
        <p:spPr>
          <a:xfrm>
            <a:off x="2440940" y="6512560"/>
            <a:ext cx="9751060" cy="34544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金色LOGO-白色-中文"/>
          <p:cNvPicPr>
            <a:picLocks noChangeAspect="1"/>
          </p:cNvPicPr>
          <p:nvPr userDrawn="1"/>
        </p:nvPicPr>
        <p:blipFill>
          <a:blip r:embed="rId2"/>
          <a:stretch>
            <a:fillRect/>
          </a:stretch>
        </p:blipFill>
        <p:spPr>
          <a:xfrm>
            <a:off x="358775" y="6466840"/>
            <a:ext cx="1595120" cy="499110"/>
          </a:xfrm>
          <a:prstGeom prst="rect">
            <a:avLst/>
          </a:prstGeom>
        </p:spPr>
      </p:pic>
      <p:sp>
        <p:nvSpPr>
          <p:cNvPr id="10" name="文本框 9"/>
          <p:cNvSpPr txBox="1"/>
          <p:nvPr userDrawn="1"/>
        </p:nvSpPr>
        <p:spPr>
          <a:xfrm>
            <a:off x="5648960" y="6570345"/>
            <a:ext cx="2513965" cy="275590"/>
          </a:xfrm>
          <a:prstGeom prst="rect">
            <a:avLst/>
          </a:prstGeom>
          <a:noFill/>
        </p:spPr>
        <p:txBody>
          <a:bodyPr wrap="none" rtlCol="0" anchor="t">
            <a:spAutoFit/>
          </a:bodyPr>
          <a:lstStyle/>
          <a:p>
            <a:pPr algn="ctr"/>
            <a:r>
              <a:rPr lang="zh-CN" altLang="en-US" sz="1200" dirty="0">
                <a:solidFill>
                  <a:schemeClr val="bg1"/>
                </a:solidFill>
                <a:latin typeface="微软雅黑" panose="020B0503020204020204" charset="-122"/>
                <a:ea typeface="微软雅黑" panose="020B0503020204020204" charset="-122"/>
                <a:sym typeface="+mn-ea"/>
              </a:rPr>
              <a:t>芯动科技保密资料 禁止拷贝和外传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日期占位符 2"/>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477424" y="612949"/>
            <a:ext cx="808431" cy="5114611"/>
          </a:xfrm>
        </p:spPr>
        <p:txBody>
          <a:bodyPr vert="eaVert" anchor="b"/>
          <a:lstStyle>
            <a:lvl1pPr>
              <a:defRPr sz="3200"/>
            </a:lvl1pPr>
          </a:lstStyle>
          <a:p>
            <a:r>
              <a:rPr lang="zh-CN" altLang="en-US" dirty="0"/>
              <a:t>单击此处编辑母版标题样式</a:t>
            </a:r>
          </a:p>
        </p:txBody>
      </p:sp>
      <p:sp>
        <p:nvSpPr>
          <p:cNvPr id="3" name="内容占位符 2"/>
          <p:cNvSpPr>
            <a:spLocks noGrp="1"/>
          </p:cNvSpPr>
          <p:nvPr>
            <p:ph idx="1"/>
          </p:nvPr>
        </p:nvSpPr>
        <p:spPr>
          <a:xfrm>
            <a:off x="4138160" y="99218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41863-9EF4-46C2-9395-7A848270419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3"/>
          <p:cNvGrpSpPr/>
          <p:nvPr userDrawn="1"/>
        </p:nvGrpSpPr>
        <p:grpSpPr bwMode="auto">
          <a:xfrm>
            <a:off x="761470" y="2166960"/>
            <a:ext cx="10609263" cy="3895170"/>
            <a:chOff x="460" y="1187"/>
            <a:chExt cx="4955" cy="1982"/>
          </a:xfrm>
          <a:solidFill>
            <a:schemeClr val="bg1">
              <a:lumMod val="95000"/>
            </a:schemeClr>
          </a:solidFill>
        </p:grpSpPr>
        <p:sp>
          <p:nvSpPr>
            <p:cNvPr id="8" name="Freeform 4"/>
            <p:cNvSpPr/>
            <p:nvPr userDrawn="1"/>
          </p:nvSpPr>
          <p:spPr bwMode="ltGray">
            <a:xfrm>
              <a:off x="551" y="1275"/>
              <a:ext cx="1457" cy="1812"/>
            </a:xfrm>
            <a:custGeom>
              <a:avLst/>
              <a:gdLst>
                <a:gd name="T0" fmla="*/ 116 w 1692"/>
                <a:gd name="T1" fmla="*/ 258 h 2586"/>
                <a:gd name="T2" fmla="*/ 320 w 1692"/>
                <a:gd name="T3" fmla="*/ 210 h 2586"/>
                <a:gd name="T4" fmla="*/ 434 w 1692"/>
                <a:gd name="T5" fmla="*/ 240 h 2586"/>
                <a:gd name="T6" fmla="*/ 416 w 1692"/>
                <a:gd name="T7" fmla="*/ 444 h 2586"/>
                <a:gd name="T8" fmla="*/ 272 w 1692"/>
                <a:gd name="T9" fmla="*/ 582 h 2586"/>
                <a:gd name="T10" fmla="*/ 218 w 1692"/>
                <a:gd name="T11" fmla="*/ 714 h 2586"/>
                <a:gd name="T12" fmla="*/ 284 w 1692"/>
                <a:gd name="T13" fmla="*/ 964 h 2586"/>
                <a:gd name="T14" fmla="*/ 316 w 1692"/>
                <a:gd name="T15" fmla="*/ 960 h 2586"/>
                <a:gd name="T16" fmla="*/ 328 w 1692"/>
                <a:gd name="T17" fmla="*/ 906 h 2586"/>
                <a:gd name="T18" fmla="*/ 478 w 1692"/>
                <a:gd name="T19" fmla="*/ 1154 h 2586"/>
                <a:gd name="T20" fmla="*/ 650 w 1692"/>
                <a:gd name="T21" fmla="*/ 1200 h 2586"/>
                <a:gd name="T22" fmla="*/ 794 w 1692"/>
                <a:gd name="T23" fmla="*/ 1350 h 2586"/>
                <a:gd name="T24" fmla="*/ 854 w 1692"/>
                <a:gd name="T25" fmla="*/ 1422 h 2586"/>
                <a:gd name="T26" fmla="*/ 770 w 1692"/>
                <a:gd name="T27" fmla="*/ 1608 h 2586"/>
                <a:gd name="T28" fmla="*/ 916 w 1692"/>
                <a:gd name="T29" fmla="*/ 1782 h 2586"/>
                <a:gd name="T30" fmla="*/ 1034 w 1692"/>
                <a:gd name="T31" fmla="*/ 2022 h 2586"/>
                <a:gd name="T32" fmla="*/ 1094 w 1692"/>
                <a:gd name="T33" fmla="*/ 2310 h 2586"/>
                <a:gd name="T34" fmla="*/ 1194 w 1692"/>
                <a:gd name="T35" fmla="*/ 2540 h 2586"/>
                <a:gd name="T36" fmla="*/ 1280 w 1692"/>
                <a:gd name="T37" fmla="*/ 2520 h 2586"/>
                <a:gd name="T38" fmla="*/ 1244 w 1692"/>
                <a:gd name="T39" fmla="*/ 2394 h 2586"/>
                <a:gd name="T40" fmla="*/ 1288 w 1692"/>
                <a:gd name="T41" fmla="*/ 2306 h 2586"/>
                <a:gd name="T42" fmla="*/ 1368 w 1692"/>
                <a:gd name="T43" fmla="*/ 2228 h 2586"/>
                <a:gd name="T44" fmla="*/ 1448 w 1692"/>
                <a:gd name="T45" fmla="*/ 2076 h 2586"/>
                <a:gd name="T46" fmla="*/ 1568 w 1692"/>
                <a:gd name="T47" fmla="*/ 1950 h 2586"/>
                <a:gd name="T48" fmla="*/ 1622 w 1692"/>
                <a:gd name="T49" fmla="*/ 1746 h 2586"/>
                <a:gd name="T50" fmla="*/ 1552 w 1692"/>
                <a:gd name="T51" fmla="*/ 1538 h 2586"/>
                <a:gd name="T52" fmla="*/ 1376 w 1692"/>
                <a:gd name="T53" fmla="*/ 1410 h 2586"/>
                <a:gd name="T54" fmla="*/ 1104 w 1692"/>
                <a:gd name="T55" fmla="*/ 1280 h 2586"/>
                <a:gd name="T56" fmla="*/ 974 w 1692"/>
                <a:gd name="T57" fmla="*/ 1260 h 2586"/>
                <a:gd name="T58" fmla="*/ 904 w 1692"/>
                <a:gd name="T59" fmla="*/ 1268 h 2586"/>
                <a:gd name="T60" fmla="*/ 794 w 1692"/>
                <a:gd name="T61" fmla="*/ 1308 h 2586"/>
                <a:gd name="T62" fmla="*/ 758 w 1692"/>
                <a:gd name="T63" fmla="*/ 1174 h 2586"/>
                <a:gd name="T64" fmla="*/ 736 w 1692"/>
                <a:gd name="T65" fmla="*/ 1062 h 2586"/>
                <a:gd name="T66" fmla="*/ 632 w 1692"/>
                <a:gd name="T67" fmla="*/ 1104 h 2586"/>
                <a:gd name="T68" fmla="*/ 568 w 1692"/>
                <a:gd name="T69" fmla="*/ 950 h 2586"/>
                <a:gd name="T70" fmla="*/ 740 w 1692"/>
                <a:gd name="T71" fmla="*/ 912 h 2586"/>
                <a:gd name="T72" fmla="*/ 842 w 1692"/>
                <a:gd name="T73" fmla="*/ 906 h 2586"/>
                <a:gd name="T74" fmla="*/ 896 w 1692"/>
                <a:gd name="T75" fmla="*/ 900 h 2586"/>
                <a:gd name="T76" fmla="*/ 1058 w 1692"/>
                <a:gd name="T77" fmla="*/ 750 h 2586"/>
                <a:gd name="T78" fmla="*/ 1184 w 1692"/>
                <a:gd name="T79" fmla="*/ 678 h 2586"/>
                <a:gd name="T80" fmla="*/ 1278 w 1692"/>
                <a:gd name="T81" fmla="*/ 636 h 2586"/>
                <a:gd name="T82" fmla="*/ 1340 w 1692"/>
                <a:gd name="T83" fmla="*/ 538 h 2586"/>
                <a:gd name="T84" fmla="*/ 1288 w 1692"/>
                <a:gd name="T85" fmla="*/ 512 h 2586"/>
                <a:gd name="T86" fmla="*/ 1526 w 1692"/>
                <a:gd name="T87" fmla="*/ 456 h 2586"/>
                <a:gd name="T88" fmla="*/ 1406 w 1692"/>
                <a:gd name="T89" fmla="*/ 342 h 2586"/>
                <a:gd name="T90" fmla="*/ 1328 w 1692"/>
                <a:gd name="T91" fmla="*/ 264 h 2586"/>
                <a:gd name="T92" fmla="*/ 1222 w 1692"/>
                <a:gd name="T93" fmla="*/ 364 h 2586"/>
                <a:gd name="T94" fmla="*/ 1110 w 1692"/>
                <a:gd name="T95" fmla="*/ 444 h 2586"/>
                <a:gd name="T96" fmla="*/ 1022 w 1692"/>
                <a:gd name="T97" fmla="*/ 304 h 2586"/>
                <a:gd name="T98" fmla="*/ 1212 w 1692"/>
                <a:gd name="T99" fmla="*/ 240 h 2586"/>
                <a:gd name="T100" fmla="*/ 1266 w 1692"/>
                <a:gd name="T101" fmla="*/ 198 h 2586"/>
                <a:gd name="T102" fmla="*/ 1328 w 1692"/>
                <a:gd name="T103" fmla="*/ 172 h 2586"/>
                <a:gd name="T104" fmla="*/ 1286 w 1692"/>
                <a:gd name="T105" fmla="*/ 144 h 2586"/>
                <a:gd name="T106" fmla="*/ 1262 w 1692"/>
                <a:gd name="T107" fmla="*/ 120 h 2586"/>
                <a:gd name="T108" fmla="*/ 1202 w 1692"/>
                <a:gd name="T109" fmla="*/ 102 h 2586"/>
                <a:gd name="T110" fmla="*/ 1106 w 1692"/>
                <a:gd name="T111" fmla="*/ 136 h 2586"/>
                <a:gd name="T112" fmla="*/ 950 w 1692"/>
                <a:gd name="T113" fmla="*/ 120 h 2586"/>
                <a:gd name="T114" fmla="*/ 550 w 1692"/>
                <a:gd name="T115" fmla="*/ 0 h 2586"/>
                <a:gd name="T116" fmla="*/ 344 w 1692"/>
                <a:gd name="T117" fmla="*/ 32 h 2586"/>
                <a:gd name="T118" fmla="*/ 290 w 1692"/>
                <a:gd name="T119" fmla="*/ 102 h 2586"/>
                <a:gd name="T120" fmla="*/ 128 w 1692"/>
                <a:gd name="T121" fmla="*/ 174 h 2586"/>
                <a:gd name="T122" fmla="*/ 128 w 1692"/>
                <a:gd name="T123" fmla="*/ 216 h 2586"/>
                <a:gd name="T124" fmla="*/ 2 w 1692"/>
                <a:gd name="T125" fmla="*/ 252 h 2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grpFill/>
            <a:ln>
              <a:noFill/>
            </a:ln>
            <a:effectLst/>
          </p:spPr>
          <p:txBody>
            <a:bodyPr/>
            <a:lstStyle/>
            <a:p>
              <a:pPr>
                <a:defRPr/>
              </a:pPr>
              <a:endParaRPr lang="zh-CN" altLang="en-US" dirty="0">
                <a:solidFill>
                  <a:schemeClr val="bg1">
                    <a:lumMod val="95000"/>
                  </a:schemeClr>
                </a:solidFill>
              </a:endParaRPr>
            </a:p>
          </p:txBody>
        </p:sp>
        <p:sp>
          <p:nvSpPr>
            <p:cNvPr id="9" name="Freeform 5"/>
            <p:cNvSpPr/>
            <p:nvPr/>
          </p:nvSpPr>
          <p:spPr bwMode="ltGray">
            <a:xfrm>
              <a:off x="505" y="1448"/>
              <a:ext cx="39" cy="26"/>
            </a:xfrm>
            <a:custGeom>
              <a:avLst/>
              <a:gdLst>
                <a:gd name="T0" fmla="*/ 16 w 46"/>
                <a:gd name="T1" fmla="*/ 4 h 38"/>
                <a:gd name="T2" fmla="*/ 0 w 46"/>
                <a:gd name="T3" fmla="*/ 22 h 38"/>
                <a:gd name="T4" fmla="*/ 22 w 46"/>
                <a:gd name="T5" fmla="*/ 38 h 38"/>
                <a:gd name="T6" fmla="*/ 46 w 46"/>
                <a:gd name="T7" fmla="*/ 26 h 38"/>
                <a:gd name="T8" fmla="*/ 30 w 46"/>
                <a:gd name="T9" fmla="*/ 0 h 38"/>
                <a:gd name="T10" fmla="*/ 16 w 46"/>
                <a:gd name="T11" fmla="*/ 4 h 38"/>
              </a:gdLst>
              <a:ahLst/>
              <a:cxnLst>
                <a:cxn ang="0">
                  <a:pos x="T0" y="T1"/>
                </a:cxn>
                <a:cxn ang="0">
                  <a:pos x="T2" y="T3"/>
                </a:cxn>
                <a:cxn ang="0">
                  <a:pos x="T4" y="T5"/>
                </a:cxn>
                <a:cxn ang="0">
                  <a:pos x="T6" y="T7"/>
                </a:cxn>
                <a:cxn ang="0">
                  <a:pos x="T8" y="T9"/>
                </a:cxn>
                <a:cxn ang="0">
                  <a:pos x="T10" y="T11"/>
                </a:cxn>
              </a:cxnLst>
              <a:rect l="0" t="0" r="r" b="b"/>
              <a:pathLst>
                <a:path w="46" h="38">
                  <a:moveTo>
                    <a:pt x="16" y="4"/>
                  </a:moveTo>
                  <a:lnTo>
                    <a:pt x="0" y="22"/>
                  </a:lnTo>
                  <a:lnTo>
                    <a:pt x="22" y="38"/>
                  </a:lnTo>
                  <a:lnTo>
                    <a:pt x="46" y="26"/>
                  </a:lnTo>
                  <a:lnTo>
                    <a:pt x="30" y="0"/>
                  </a:lnTo>
                  <a:lnTo>
                    <a:pt x="16" y="4"/>
                  </a:lnTo>
                  <a:close/>
                </a:path>
              </a:pathLst>
            </a:custGeom>
            <a:grpFill/>
            <a:ln>
              <a:noFill/>
            </a:ln>
            <a:effectLst/>
          </p:spPr>
          <p:txBody>
            <a:bodyPr/>
            <a:lstStyle/>
            <a:p>
              <a:pPr>
                <a:defRPr/>
              </a:pPr>
              <a:endParaRPr lang="zh-CN" altLang="en-US">
                <a:solidFill>
                  <a:schemeClr val="bg1">
                    <a:lumMod val="95000"/>
                  </a:schemeClr>
                </a:solidFill>
              </a:endParaRPr>
            </a:p>
          </p:txBody>
        </p:sp>
        <p:sp>
          <p:nvSpPr>
            <p:cNvPr id="10" name="Freeform 6"/>
            <p:cNvSpPr/>
            <p:nvPr/>
          </p:nvSpPr>
          <p:spPr bwMode="ltGray">
            <a:xfrm>
              <a:off x="858" y="1563"/>
              <a:ext cx="45" cy="30"/>
            </a:xfrm>
            <a:custGeom>
              <a:avLst/>
              <a:gdLst>
                <a:gd name="T0" fmla="*/ 12 w 52"/>
                <a:gd name="T1" fmla="*/ 0 h 44"/>
                <a:gd name="T2" fmla="*/ 26 w 52"/>
                <a:gd name="T3" fmla="*/ 44 h 44"/>
                <a:gd name="T4" fmla="*/ 42 w 52"/>
                <a:gd name="T5" fmla="*/ 42 h 44"/>
                <a:gd name="T6" fmla="*/ 38 w 52"/>
                <a:gd name="T7" fmla="*/ 16 h 44"/>
                <a:gd name="T8" fmla="*/ 26 w 52"/>
                <a:gd name="T9" fmla="*/ 2 h 44"/>
                <a:gd name="T10" fmla="*/ 12 w 52"/>
                <a:gd name="T11" fmla="*/ 0 h 44"/>
              </a:gdLst>
              <a:ahLst/>
              <a:cxnLst>
                <a:cxn ang="0">
                  <a:pos x="T0" y="T1"/>
                </a:cxn>
                <a:cxn ang="0">
                  <a:pos x="T2" y="T3"/>
                </a:cxn>
                <a:cxn ang="0">
                  <a:pos x="T4" y="T5"/>
                </a:cxn>
                <a:cxn ang="0">
                  <a:pos x="T6" y="T7"/>
                </a:cxn>
                <a:cxn ang="0">
                  <a:pos x="T8" y="T9"/>
                </a:cxn>
                <a:cxn ang="0">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 name="Freeform 7"/>
            <p:cNvSpPr/>
            <p:nvPr/>
          </p:nvSpPr>
          <p:spPr bwMode="ltGray">
            <a:xfrm>
              <a:off x="1757" y="1615"/>
              <a:ext cx="113" cy="69"/>
            </a:xfrm>
            <a:custGeom>
              <a:avLst/>
              <a:gdLst>
                <a:gd name="T0" fmla="*/ 97 w 131"/>
                <a:gd name="T1" fmla="*/ 0 h 98"/>
                <a:gd name="T2" fmla="*/ 79 w 131"/>
                <a:gd name="T3" fmla="*/ 8 h 98"/>
                <a:gd name="T4" fmla="*/ 53 w 131"/>
                <a:gd name="T5" fmla="*/ 24 h 98"/>
                <a:gd name="T6" fmla="*/ 39 w 131"/>
                <a:gd name="T7" fmla="*/ 40 h 98"/>
                <a:gd name="T8" fmla="*/ 21 w 131"/>
                <a:gd name="T9" fmla="*/ 52 h 98"/>
                <a:gd name="T10" fmla="*/ 63 w 131"/>
                <a:gd name="T11" fmla="*/ 82 h 98"/>
                <a:gd name="T12" fmla="*/ 79 w 131"/>
                <a:gd name="T13" fmla="*/ 94 h 98"/>
                <a:gd name="T14" fmla="*/ 85 w 131"/>
                <a:gd name="T15" fmla="*/ 92 h 98"/>
                <a:gd name="T16" fmla="*/ 89 w 131"/>
                <a:gd name="T17" fmla="*/ 86 h 98"/>
                <a:gd name="T18" fmla="*/ 97 w 131"/>
                <a:gd name="T19" fmla="*/ 98 h 98"/>
                <a:gd name="T20" fmla="*/ 123 w 131"/>
                <a:gd name="T21" fmla="*/ 86 h 98"/>
                <a:gd name="T22" fmla="*/ 129 w 131"/>
                <a:gd name="T23" fmla="*/ 74 h 98"/>
                <a:gd name="T24" fmla="*/ 101 w 131"/>
                <a:gd name="T25" fmla="*/ 40 h 98"/>
                <a:gd name="T26" fmla="*/ 115 w 131"/>
                <a:gd name="T27" fmla="*/ 24 h 98"/>
                <a:gd name="T28" fmla="*/ 111 w 131"/>
                <a:gd name="T29" fmla="*/ 4 h 98"/>
                <a:gd name="T30" fmla="*/ 97 w 131"/>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2" name="Freeform 8"/>
            <p:cNvSpPr/>
            <p:nvPr/>
          </p:nvSpPr>
          <p:spPr bwMode="ltGray">
            <a:xfrm>
              <a:off x="1212" y="1974"/>
              <a:ext cx="182" cy="79"/>
            </a:xfrm>
            <a:custGeom>
              <a:avLst/>
              <a:gdLst>
                <a:gd name="T0" fmla="*/ 47 w 212"/>
                <a:gd name="T1" fmla="*/ 12 h 112"/>
                <a:gd name="T2" fmla="*/ 17 w 212"/>
                <a:gd name="T3" fmla="*/ 12 h 112"/>
                <a:gd name="T4" fmla="*/ 5 w 212"/>
                <a:gd name="T5" fmla="*/ 16 h 112"/>
                <a:gd name="T6" fmla="*/ 25 w 212"/>
                <a:gd name="T7" fmla="*/ 52 h 112"/>
                <a:gd name="T8" fmla="*/ 51 w 212"/>
                <a:gd name="T9" fmla="*/ 44 h 112"/>
                <a:gd name="T10" fmla="*/ 93 w 212"/>
                <a:gd name="T11" fmla="*/ 54 h 112"/>
                <a:gd name="T12" fmla="*/ 111 w 212"/>
                <a:gd name="T13" fmla="*/ 60 h 112"/>
                <a:gd name="T14" fmla="*/ 133 w 212"/>
                <a:gd name="T15" fmla="*/ 88 h 112"/>
                <a:gd name="T16" fmla="*/ 141 w 212"/>
                <a:gd name="T17" fmla="*/ 112 h 112"/>
                <a:gd name="T18" fmla="*/ 157 w 212"/>
                <a:gd name="T19" fmla="*/ 100 h 112"/>
                <a:gd name="T20" fmla="*/ 169 w 212"/>
                <a:gd name="T21" fmla="*/ 96 h 112"/>
                <a:gd name="T22" fmla="*/ 187 w 212"/>
                <a:gd name="T23" fmla="*/ 102 h 112"/>
                <a:gd name="T24" fmla="*/ 195 w 212"/>
                <a:gd name="T25" fmla="*/ 80 h 112"/>
                <a:gd name="T26" fmla="*/ 153 w 212"/>
                <a:gd name="T27" fmla="*/ 54 h 112"/>
                <a:gd name="T28" fmla="*/ 105 w 212"/>
                <a:gd name="T29" fmla="*/ 20 h 112"/>
                <a:gd name="T30" fmla="*/ 53 w 212"/>
                <a:gd name="T31" fmla="*/ 26 h 112"/>
                <a:gd name="T32" fmla="*/ 47 w 212"/>
                <a:gd name="T33" fmla="*/ 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3" name="Freeform 9"/>
            <p:cNvSpPr/>
            <p:nvPr/>
          </p:nvSpPr>
          <p:spPr bwMode="ltGray">
            <a:xfrm>
              <a:off x="1362" y="2034"/>
              <a:ext cx="114" cy="38"/>
            </a:xfrm>
            <a:custGeom>
              <a:avLst/>
              <a:gdLst>
                <a:gd name="T0" fmla="*/ 57 w 133"/>
                <a:gd name="T1" fmla="*/ 0 h 54"/>
                <a:gd name="T2" fmla="*/ 43 w 133"/>
                <a:gd name="T3" fmla="*/ 6 h 54"/>
                <a:gd name="T4" fmla="*/ 31 w 133"/>
                <a:gd name="T5" fmla="*/ 30 h 54"/>
                <a:gd name="T6" fmla="*/ 15 w 133"/>
                <a:gd name="T7" fmla="*/ 34 h 54"/>
                <a:gd name="T8" fmla="*/ 3 w 133"/>
                <a:gd name="T9" fmla="*/ 42 h 54"/>
                <a:gd name="T10" fmla="*/ 13 w 133"/>
                <a:gd name="T11" fmla="*/ 54 h 54"/>
                <a:gd name="T12" fmla="*/ 133 w 133"/>
                <a:gd name="T13" fmla="*/ 34 h 54"/>
                <a:gd name="T14" fmla="*/ 123 w 133"/>
                <a:gd name="T15" fmla="*/ 16 h 54"/>
                <a:gd name="T16" fmla="*/ 105 w 133"/>
                <a:gd name="T17" fmla="*/ 8 h 54"/>
                <a:gd name="T18" fmla="*/ 101 w 133"/>
                <a:gd name="T19" fmla="*/ 24 h 54"/>
                <a:gd name="T20" fmla="*/ 89 w 133"/>
                <a:gd name="T21" fmla="*/ 18 h 54"/>
                <a:gd name="T22" fmla="*/ 67 w 133"/>
                <a:gd name="T23" fmla="*/ 14 h 54"/>
                <a:gd name="T24" fmla="*/ 57 w 133"/>
                <a:gd name="T25"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4" name="Freeform 10"/>
            <p:cNvSpPr/>
            <p:nvPr/>
          </p:nvSpPr>
          <p:spPr bwMode="ltGray">
            <a:xfrm>
              <a:off x="1483" y="2058"/>
              <a:ext cx="43" cy="17"/>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5" name="Freeform 11"/>
            <p:cNvSpPr/>
            <p:nvPr/>
          </p:nvSpPr>
          <p:spPr bwMode="ltGray">
            <a:xfrm>
              <a:off x="1547" y="2061"/>
              <a:ext cx="14" cy="24"/>
            </a:xfrm>
            <a:custGeom>
              <a:avLst/>
              <a:gdLst>
                <a:gd name="T0" fmla="*/ 14 w 16"/>
                <a:gd name="T1" fmla="*/ 0 h 34"/>
                <a:gd name="T2" fmla="*/ 0 w 16"/>
                <a:gd name="T3" fmla="*/ 14 h 34"/>
                <a:gd name="T4" fmla="*/ 16 w 16"/>
                <a:gd name="T5" fmla="*/ 34 h 34"/>
                <a:gd name="T6" fmla="*/ 12 w 16"/>
                <a:gd name="T7" fmla="*/ 18 h 34"/>
                <a:gd name="T8" fmla="*/ 16 w 16"/>
                <a:gd name="T9" fmla="*/ 6 h 34"/>
                <a:gd name="T10" fmla="*/ 14 w 16"/>
                <a:gd name="T11" fmla="*/ 0 h 34"/>
              </a:gdLst>
              <a:ahLst/>
              <a:cxnLst>
                <a:cxn ang="0">
                  <a:pos x="T0" y="T1"/>
                </a:cxn>
                <a:cxn ang="0">
                  <a:pos x="T2" y="T3"/>
                </a:cxn>
                <a:cxn ang="0">
                  <a:pos x="T4" y="T5"/>
                </a:cxn>
                <a:cxn ang="0">
                  <a:pos x="T6" y="T7"/>
                </a:cxn>
                <a:cxn ang="0">
                  <a:pos x="T8" y="T9"/>
                </a:cxn>
                <a:cxn ang="0">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6" name="Freeform 12"/>
            <p:cNvSpPr/>
            <p:nvPr/>
          </p:nvSpPr>
          <p:spPr bwMode="ltGray">
            <a:xfrm>
              <a:off x="1336" y="1270"/>
              <a:ext cx="207" cy="82"/>
            </a:xfrm>
            <a:custGeom>
              <a:avLst/>
              <a:gdLst>
                <a:gd name="T0" fmla="*/ 64 w 240"/>
                <a:gd name="T1" fmla="*/ 1 h 117"/>
                <a:gd name="T2" fmla="*/ 24 w 240"/>
                <a:gd name="T3" fmla="*/ 31 h 117"/>
                <a:gd name="T4" fmla="*/ 6 w 240"/>
                <a:gd name="T5" fmla="*/ 37 h 117"/>
                <a:gd name="T6" fmla="*/ 0 w 240"/>
                <a:gd name="T7" fmla="*/ 39 h 117"/>
                <a:gd name="T8" fmla="*/ 26 w 240"/>
                <a:gd name="T9" fmla="*/ 59 h 117"/>
                <a:gd name="T10" fmla="*/ 38 w 240"/>
                <a:gd name="T11" fmla="*/ 63 h 117"/>
                <a:gd name="T12" fmla="*/ 68 w 240"/>
                <a:gd name="T13" fmla="*/ 47 h 117"/>
                <a:gd name="T14" fmla="*/ 80 w 240"/>
                <a:gd name="T15" fmla="*/ 43 h 117"/>
                <a:gd name="T16" fmla="*/ 82 w 240"/>
                <a:gd name="T17" fmla="*/ 55 h 117"/>
                <a:gd name="T18" fmla="*/ 64 w 240"/>
                <a:gd name="T19" fmla="*/ 61 h 117"/>
                <a:gd name="T20" fmla="*/ 72 w 240"/>
                <a:gd name="T21" fmla="*/ 73 h 117"/>
                <a:gd name="T22" fmla="*/ 40 w 240"/>
                <a:gd name="T23" fmla="*/ 87 h 117"/>
                <a:gd name="T24" fmla="*/ 70 w 240"/>
                <a:gd name="T25" fmla="*/ 109 h 117"/>
                <a:gd name="T26" fmla="*/ 82 w 240"/>
                <a:gd name="T27" fmla="*/ 113 h 117"/>
                <a:gd name="T28" fmla="*/ 118 w 240"/>
                <a:gd name="T29" fmla="*/ 103 h 117"/>
                <a:gd name="T30" fmla="*/ 150 w 240"/>
                <a:gd name="T31" fmla="*/ 105 h 117"/>
                <a:gd name="T32" fmla="*/ 168 w 240"/>
                <a:gd name="T33" fmla="*/ 117 h 117"/>
                <a:gd name="T34" fmla="*/ 204 w 240"/>
                <a:gd name="T35" fmla="*/ 109 h 117"/>
                <a:gd name="T36" fmla="*/ 224 w 240"/>
                <a:gd name="T37" fmla="*/ 103 h 117"/>
                <a:gd name="T38" fmla="*/ 222 w 240"/>
                <a:gd name="T39" fmla="*/ 77 h 117"/>
                <a:gd name="T40" fmla="*/ 234 w 240"/>
                <a:gd name="T41" fmla="*/ 69 h 117"/>
                <a:gd name="T42" fmla="*/ 238 w 240"/>
                <a:gd name="T43" fmla="*/ 47 h 117"/>
                <a:gd name="T44" fmla="*/ 210 w 240"/>
                <a:gd name="T45" fmla="*/ 57 h 117"/>
                <a:gd name="T46" fmla="*/ 200 w 240"/>
                <a:gd name="T47" fmla="*/ 43 h 117"/>
                <a:gd name="T48" fmla="*/ 172 w 240"/>
                <a:gd name="T49" fmla="*/ 45 h 117"/>
                <a:gd name="T50" fmla="*/ 134 w 240"/>
                <a:gd name="T51" fmla="*/ 9 h 117"/>
                <a:gd name="T52" fmla="*/ 94 w 240"/>
                <a:gd name="T53" fmla="*/ 11 h 117"/>
                <a:gd name="T54" fmla="*/ 82 w 240"/>
                <a:gd name="T55" fmla="*/ 1 h 117"/>
                <a:gd name="T56" fmla="*/ 64 w 240"/>
                <a:gd name="T57" fmla="*/ 1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7" name="Freeform 13"/>
            <p:cNvSpPr/>
            <p:nvPr/>
          </p:nvSpPr>
          <p:spPr bwMode="ltGray">
            <a:xfrm>
              <a:off x="1428" y="1232"/>
              <a:ext cx="168" cy="56"/>
            </a:xfrm>
            <a:custGeom>
              <a:avLst/>
              <a:gdLst>
                <a:gd name="T0" fmla="*/ 97 w 194"/>
                <a:gd name="T1" fmla="*/ 10 h 80"/>
                <a:gd name="T2" fmla="*/ 13 w 194"/>
                <a:gd name="T3" fmla="*/ 24 h 80"/>
                <a:gd name="T4" fmla="*/ 9 w 194"/>
                <a:gd name="T5" fmla="*/ 34 h 80"/>
                <a:gd name="T6" fmla="*/ 57 w 194"/>
                <a:gd name="T7" fmla="*/ 52 h 80"/>
                <a:gd name="T8" fmla="*/ 135 w 194"/>
                <a:gd name="T9" fmla="*/ 74 h 80"/>
                <a:gd name="T10" fmla="*/ 175 w 194"/>
                <a:gd name="T11" fmla="*/ 68 h 80"/>
                <a:gd name="T12" fmla="*/ 187 w 194"/>
                <a:gd name="T13" fmla="*/ 64 h 80"/>
                <a:gd name="T14" fmla="*/ 175 w 194"/>
                <a:gd name="T15" fmla="*/ 44 h 80"/>
                <a:gd name="T16" fmla="*/ 163 w 194"/>
                <a:gd name="T17" fmla="*/ 36 h 80"/>
                <a:gd name="T18" fmla="*/ 129 w 194"/>
                <a:gd name="T19" fmla="*/ 26 h 80"/>
                <a:gd name="T20" fmla="*/ 97 w 194"/>
                <a:gd name="T21" fmla="*/ 1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8" name="Freeform 14"/>
            <p:cNvSpPr/>
            <p:nvPr/>
          </p:nvSpPr>
          <p:spPr bwMode="ltGray">
            <a:xfrm>
              <a:off x="1664" y="1297"/>
              <a:ext cx="268" cy="178"/>
            </a:xfrm>
            <a:custGeom>
              <a:avLst/>
              <a:gdLst>
                <a:gd name="T0" fmla="*/ 67 w 310"/>
                <a:gd name="T1" fmla="*/ 9 h 254"/>
                <a:gd name="T2" fmla="*/ 51 w 310"/>
                <a:gd name="T3" fmla="*/ 23 h 254"/>
                <a:gd name="T4" fmla="*/ 21 w 310"/>
                <a:gd name="T5" fmla="*/ 39 h 254"/>
                <a:gd name="T6" fmla="*/ 53 w 310"/>
                <a:gd name="T7" fmla="*/ 77 h 254"/>
                <a:gd name="T8" fmla="*/ 79 w 310"/>
                <a:gd name="T9" fmla="*/ 85 h 254"/>
                <a:gd name="T10" fmla="*/ 103 w 310"/>
                <a:gd name="T11" fmla="*/ 99 h 254"/>
                <a:gd name="T12" fmla="*/ 127 w 310"/>
                <a:gd name="T13" fmla="*/ 85 h 254"/>
                <a:gd name="T14" fmla="*/ 143 w 310"/>
                <a:gd name="T15" fmla="*/ 101 h 254"/>
                <a:gd name="T16" fmla="*/ 149 w 310"/>
                <a:gd name="T17" fmla="*/ 127 h 254"/>
                <a:gd name="T18" fmla="*/ 115 w 310"/>
                <a:gd name="T19" fmla="*/ 151 h 254"/>
                <a:gd name="T20" fmla="*/ 89 w 310"/>
                <a:gd name="T21" fmla="*/ 173 h 254"/>
                <a:gd name="T22" fmla="*/ 69 w 310"/>
                <a:gd name="T23" fmla="*/ 169 h 254"/>
                <a:gd name="T24" fmla="*/ 57 w 310"/>
                <a:gd name="T25" fmla="*/ 165 h 254"/>
                <a:gd name="T26" fmla="*/ 43 w 310"/>
                <a:gd name="T27" fmla="*/ 187 h 254"/>
                <a:gd name="T28" fmla="*/ 39 w 310"/>
                <a:gd name="T29" fmla="*/ 199 h 254"/>
                <a:gd name="T30" fmla="*/ 73 w 310"/>
                <a:gd name="T31" fmla="*/ 205 h 254"/>
                <a:gd name="T32" fmla="*/ 95 w 310"/>
                <a:gd name="T33" fmla="*/ 203 h 254"/>
                <a:gd name="T34" fmla="*/ 115 w 310"/>
                <a:gd name="T35" fmla="*/ 231 h 254"/>
                <a:gd name="T36" fmla="*/ 127 w 310"/>
                <a:gd name="T37" fmla="*/ 235 h 254"/>
                <a:gd name="T38" fmla="*/ 139 w 310"/>
                <a:gd name="T39" fmla="*/ 239 h 254"/>
                <a:gd name="T40" fmla="*/ 155 w 310"/>
                <a:gd name="T41" fmla="*/ 251 h 254"/>
                <a:gd name="T42" fmla="*/ 181 w 310"/>
                <a:gd name="T43" fmla="*/ 237 h 254"/>
                <a:gd name="T44" fmla="*/ 203 w 310"/>
                <a:gd name="T45" fmla="*/ 235 h 254"/>
                <a:gd name="T46" fmla="*/ 229 w 310"/>
                <a:gd name="T47" fmla="*/ 213 h 254"/>
                <a:gd name="T48" fmla="*/ 225 w 310"/>
                <a:gd name="T49" fmla="*/ 185 h 254"/>
                <a:gd name="T50" fmla="*/ 217 w 310"/>
                <a:gd name="T51" fmla="*/ 173 h 254"/>
                <a:gd name="T52" fmla="*/ 233 w 310"/>
                <a:gd name="T53" fmla="*/ 167 h 254"/>
                <a:gd name="T54" fmla="*/ 245 w 310"/>
                <a:gd name="T55" fmla="*/ 183 h 254"/>
                <a:gd name="T56" fmla="*/ 247 w 310"/>
                <a:gd name="T57" fmla="*/ 197 h 254"/>
                <a:gd name="T58" fmla="*/ 261 w 310"/>
                <a:gd name="T59" fmla="*/ 193 h 254"/>
                <a:gd name="T60" fmla="*/ 303 w 310"/>
                <a:gd name="T61" fmla="*/ 169 h 254"/>
                <a:gd name="T62" fmla="*/ 293 w 310"/>
                <a:gd name="T63" fmla="*/ 147 h 254"/>
                <a:gd name="T64" fmla="*/ 259 w 310"/>
                <a:gd name="T65" fmla="*/ 123 h 254"/>
                <a:gd name="T66" fmla="*/ 265 w 310"/>
                <a:gd name="T67" fmla="*/ 107 h 254"/>
                <a:gd name="T68" fmla="*/ 277 w 310"/>
                <a:gd name="T69" fmla="*/ 103 h 254"/>
                <a:gd name="T70" fmla="*/ 253 w 310"/>
                <a:gd name="T71" fmla="*/ 63 h 254"/>
                <a:gd name="T72" fmla="*/ 233 w 310"/>
                <a:gd name="T73" fmla="*/ 59 h 254"/>
                <a:gd name="T74" fmla="*/ 221 w 310"/>
                <a:gd name="T75" fmla="*/ 55 h 254"/>
                <a:gd name="T76" fmla="*/ 201 w 310"/>
                <a:gd name="T77" fmla="*/ 33 h 254"/>
                <a:gd name="T78" fmla="*/ 155 w 310"/>
                <a:gd name="T79" fmla="*/ 45 h 254"/>
                <a:gd name="T80" fmla="*/ 167 w 310"/>
                <a:gd name="T81" fmla="*/ 25 h 254"/>
                <a:gd name="T82" fmla="*/ 139 w 310"/>
                <a:gd name="T83" fmla="*/ 17 h 254"/>
                <a:gd name="T84" fmla="*/ 119 w 310"/>
                <a:gd name="T85" fmla="*/ 19 h 254"/>
                <a:gd name="T86" fmla="*/ 67 w 310"/>
                <a:gd name="T87" fmla="*/ 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9" name="Freeform 15"/>
            <p:cNvSpPr/>
            <p:nvPr/>
          </p:nvSpPr>
          <p:spPr bwMode="ltGray">
            <a:xfrm>
              <a:off x="1662" y="1221"/>
              <a:ext cx="51" cy="34"/>
            </a:xfrm>
            <a:custGeom>
              <a:avLst/>
              <a:gdLst>
                <a:gd name="T0" fmla="*/ 26 w 59"/>
                <a:gd name="T1" fmla="*/ 0 h 50"/>
                <a:gd name="T2" fmla="*/ 0 w 59"/>
                <a:gd name="T3" fmla="*/ 10 h 50"/>
                <a:gd name="T4" fmla="*/ 30 w 59"/>
                <a:gd name="T5" fmla="*/ 40 h 50"/>
                <a:gd name="T6" fmla="*/ 48 w 59"/>
                <a:gd name="T7" fmla="*/ 50 h 50"/>
                <a:gd name="T8" fmla="*/ 58 w 59"/>
                <a:gd name="T9" fmla="*/ 28 h 50"/>
                <a:gd name="T10" fmla="*/ 44 w 59"/>
                <a:gd name="T11" fmla="*/ 8 h 50"/>
                <a:gd name="T12" fmla="*/ 26 w 5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0" name="Freeform 16"/>
            <p:cNvSpPr/>
            <p:nvPr/>
          </p:nvSpPr>
          <p:spPr bwMode="ltGray">
            <a:xfrm>
              <a:off x="1565" y="1286"/>
              <a:ext cx="75" cy="39"/>
            </a:xfrm>
            <a:custGeom>
              <a:avLst/>
              <a:gdLst>
                <a:gd name="T0" fmla="*/ 44 w 86"/>
                <a:gd name="T1" fmla="*/ 7 h 57"/>
                <a:gd name="T2" fmla="*/ 24 w 86"/>
                <a:gd name="T3" fmla="*/ 25 h 57"/>
                <a:gd name="T4" fmla="*/ 4 w 86"/>
                <a:gd name="T5" fmla="*/ 27 h 57"/>
                <a:gd name="T6" fmla="*/ 16 w 86"/>
                <a:gd name="T7" fmla="*/ 57 h 57"/>
                <a:gd name="T8" fmla="*/ 74 w 86"/>
                <a:gd name="T9" fmla="*/ 35 h 57"/>
                <a:gd name="T10" fmla="*/ 86 w 86"/>
                <a:gd name="T11" fmla="*/ 17 h 57"/>
                <a:gd name="T12" fmla="*/ 56 w 86"/>
                <a:gd name="T13" fmla="*/ 7 h 57"/>
                <a:gd name="T14" fmla="*/ 44 w 86"/>
                <a:gd name="T15" fmla="*/ 7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1" name="Freeform 17"/>
            <p:cNvSpPr/>
            <p:nvPr/>
          </p:nvSpPr>
          <p:spPr bwMode="ltGray">
            <a:xfrm>
              <a:off x="1644" y="1294"/>
              <a:ext cx="62" cy="23"/>
            </a:xfrm>
            <a:custGeom>
              <a:avLst/>
              <a:gdLst>
                <a:gd name="T0" fmla="*/ 40 w 73"/>
                <a:gd name="T1" fmla="*/ 0 h 34"/>
                <a:gd name="T2" fmla="*/ 10 w 73"/>
                <a:gd name="T3" fmla="*/ 16 h 34"/>
                <a:gd name="T4" fmla="*/ 24 w 73"/>
                <a:gd name="T5" fmla="*/ 34 h 34"/>
                <a:gd name="T6" fmla="*/ 52 w 73"/>
                <a:gd name="T7" fmla="*/ 28 h 34"/>
                <a:gd name="T8" fmla="*/ 64 w 73"/>
                <a:gd name="T9" fmla="*/ 20 h 34"/>
                <a:gd name="T10" fmla="*/ 40 w 73"/>
                <a:gd name="T11" fmla="*/ 0 h 34"/>
              </a:gdLst>
              <a:ahLst/>
              <a:cxnLst>
                <a:cxn ang="0">
                  <a:pos x="T0" y="T1"/>
                </a:cxn>
                <a:cxn ang="0">
                  <a:pos x="T2" y="T3"/>
                </a:cxn>
                <a:cxn ang="0">
                  <a:pos x="T4" y="T5"/>
                </a:cxn>
                <a:cxn ang="0">
                  <a:pos x="T6" y="T7"/>
                </a:cxn>
                <a:cxn ang="0">
                  <a:pos x="T8" y="T9"/>
                </a:cxn>
                <a:cxn ang="0">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2" name="Freeform 18"/>
            <p:cNvSpPr/>
            <p:nvPr/>
          </p:nvSpPr>
          <p:spPr bwMode="ltGray">
            <a:xfrm>
              <a:off x="1610" y="1260"/>
              <a:ext cx="74" cy="32"/>
            </a:xfrm>
            <a:custGeom>
              <a:avLst/>
              <a:gdLst>
                <a:gd name="T0" fmla="*/ 58 w 85"/>
                <a:gd name="T1" fmla="*/ 10 h 45"/>
                <a:gd name="T2" fmla="*/ 28 w 85"/>
                <a:gd name="T3" fmla="*/ 4 h 45"/>
                <a:gd name="T4" fmla="*/ 0 w 85"/>
                <a:gd name="T5" fmla="*/ 18 h 45"/>
                <a:gd name="T6" fmla="*/ 40 w 85"/>
                <a:gd name="T7" fmla="*/ 32 h 45"/>
                <a:gd name="T8" fmla="*/ 64 w 85"/>
                <a:gd name="T9" fmla="*/ 40 h 45"/>
                <a:gd name="T10" fmla="*/ 84 w 85"/>
                <a:gd name="T11" fmla="*/ 18 h 45"/>
                <a:gd name="T12" fmla="*/ 82 w 85"/>
                <a:gd name="T13" fmla="*/ 6 h 45"/>
                <a:gd name="T14" fmla="*/ 64 w 85"/>
                <a:gd name="T15" fmla="*/ 0 h 45"/>
                <a:gd name="T16" fmla="*/ 58 w 85"/>
                <a:gd name="T1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3" name="Freeform 19"/>
            <p:cNvSpPr/>
            <p:nvPr/>
          </p:nvSpPr>
          <p:spPr bwMode="ltGray">
            <a:xfrm>
              <a:off x="1579" y="1230"/>
              <a:ext cx="51" cy="22"/>
            </a:xfrm>
            <a:custGeom>
              <a:avLst/>
              <a:gdLst>
                <a:gd name="T0" fmla="*/ 16 w 58"/>
                <a:gd name="T1" fmla="*/ 4 h 31"/>
                <a:gd name="T2" fmla="*/ 0 w 58"/>
                <a:gd name="T3" fmla="*/ 18 h 31"/>
                <a:gd name="T4" fmla="*/ 20 w 58"/>
                <a:gd name="T5" fmla="*/ 28 h 31"/>
                <a:gd name="T6" fmla="*/ 28 w 58"/>
                <a:gd name="T7" fmla="*/ 20 h 31"/>
                <a:gd name="T8" fmla="*/ 52 w 58"/>
                <a:gd name="T9" fmla="*/ 12 h 31"/>
                <a:gd name="T10" fmla="*/ 44 w 58"/>
                <a:gd name="T11" fmla="*/ 0 h 31"/>
                <a:gd name="T12" fmla="*/ 16 w 58"/>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4" name="Freeform 20"/>
            <p:cNvSpPr/>
            <p:nvPr/>
          </p:nvSpPr>
          <p:spPr bwMode="ltGray">
            <a:xfrm>
              <a:off x="1710" y="1233"/>
              <a:ext cx="131" cy="72"/>
            </a:xfrm>
            <a:custGeom>
              <a:avLst/>
              <a:gdLst>
                <a:gd name="T0" fmla="*/ 38 w 152"/>
                <a:gd name="T1" fmla="*/ 0 h 102"/>
                <a:gd name="T2" fmla="*/ 14 w 152"/>
                <a:gd name="T3" fmla="*/ 6 h 102"/>
                <a:gd name="T4" fmla="*/ 4 w 152"/>
                <a:gd name="T5" fmla="*/ 38 h 102"/>
                <a:gd name="T6" fmla="*/ 12 w 152"/>
                <a:gd name="T7" fmla="*/ 56 h 102"/>
                <a:gd name="T8" fmla="*/ 0 w 152"/>
                <a:gd name="T9" fmla="*/ 72 h 102"/>
                <a:gd name="T10" fmla="*/ 56 w 152"/>
                <a:gd name="T11" fmla="*/ 86 h 102"/>
                <a:gd name="T12" fmla="*/ 82 w 152"/>
                <a:gd name="T13" fmla="*/ 92 h 102"/>
                <a:gd name="T14" fmla="*/ 152 w 152"/>
                <a:gd name="T15" fmla="*/ 86 h 102"/>
                <a:gd name="T16" fmla="*/ 76 w 152"/>
                <a:gd name="T17" fmla="*/ 70 h 102"/>
                <a:gd name="T18" fmla="*/ 54 w 152"/>
                <a:gd name="T19" fmla="*/ 62 h 102"/>
                <a:gd name="T20" fmla="*/ 44 w 152"/>
                <a:gd name="T21" fmla="*/ 52 h 102"/>
                <a:gd name="T22" fmla="*/ 50 w 152"/>
                <a:gd name="T23" fmla="*/ 34 h 102"/>
                <a:gd name="T24" fmla="*/ 38 w 152"/>
                <a:gd name="T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5" name="Freeform 21"/>
            <p:cNvSpPr/>
            <p:nvPr/>
          </p:nvSpPr>
          <p:spPr bwMode="ltGray">
            <a:xfrm>
              <a:off x="460" y="1462"/>
              <a:ext cx="29" cy="14"/>
            </a:xfrm>
            <a:custGeom>
              <a:avLst/>
              <a:gdLst>
                <a:gd name="T0" fmla="*/ 34 w 34"/>
                <a:gd name="T1" fmla="*/ 0 h 20"/>
                <a:gd name="T2" fmla="*/ 24 w 34"/>
                <a:gd name="T3" fmla="*/ 20 h 20"/>
                <a:gd name="T4" fmla="*/ 4 w 34"/>
                <a:gd name="T5" fmla="*/ 18 h 20"/>
                <a:gd name="T6" fmla="*/ 4 w 34"/>
                <a:gd name="T7" fmla="*/ 6 h 20"/>
                <a:gd name="T8" fmla="*/ 34 w 34"/>
                <a:gd name="T9" fmla="*/ 0 h 20"/>
              </a:gdLst>
              <a:ahLst/>
              <a:cxnLst>
                <a:cxn ang="0">
                  <a:pos x="T0" y="T1"/>
                </a:cxn>
                <a:cxn ang="0">
                  <a:pos x="T2" y="T3"/>
                </a:cxn>
                <a:cxn ang="0">
                  <a:pos x="T4" y="T5"/>
                </a:cxn>
                <a:cxn ang="0">
                  <a:pos x="T6" y="T7"/>
                </a:cxn>
                <a:cxn ang="0">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6" name="Freeform 22"/>
            <p:cNvSpPr/>
            <p:nvPr/>
          </p:nvSpPr>
          <p:spPr bwMode="ltGray">
            <a:xfrm>
              <a:off x="1331" y="1940"/>
              <a:ext cx="18" cy="11"/>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7" name="Freeform 23"/>
            <p:cNvSpPr/>
            <p:nvPr/>
          </p:nvSpPr>
          <p:spPr bwMode="ltGray">
            <a:xfrm>
              <a:off x="1334" y="1963"/>
              <a:ext cx="19" cy="11"/>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8" name="Freeform 24"/>
            <p:cNvSpPr/>
            <p:nvPr/>
          </p:nvSpPr>
          <p:spPr bwMode="ltGray">
            <a:xfrm>
              <a:off x="1569" y="2086"/>
              <a:ext cx="17" cy="12"/>
            </a:xfrm>
            <a:custGeom>
              <a:avLst/>
              <a:gdLst>
                <a:gd name="T0" fmla="*/ 3 w 21"/>
                <a:gd name="T1" fmla="*/ 0 h 16"/>
                <a:gd name="T2" fmla="*/ 13 w 21"/>
                <a:gd name="T3" fmla="*/ 16 h 16"/>
                <a:gd name="T4" fmla="*/ 3 w 21"/>
                <a:gd name="T5" fmla="*/ 0 h 16"/>
              </a:gdLst>
              <a:ahLst/>
              <a:cxnLst>
                <a:cxn ang="0">
                  <a:pos x="T0" y="T1"/>
                </a:cxn>
                <a:cxn ang="0">
                  <a:pos x="T2" y="T3"/>
                </a:cxn>
                <a:cxn ang="0">
                  <a:pos x="T4" y="T5"/>
                </a:cxn>
              </a:cxnLst>
              <a:rect l="0" t="0" r="r" b="b"/>
              <a:pathLst>
                <a:path w="21" h="16">
                  <a:moveTo>
                    <a:pt x="3" y="0"/>
                  </a:moveTo>
                  <a:cubicBezTo>
                    <a:pt x="0" y="9"/>
                    <a:pt x="6" y="11"/>
                    <a:pt x="13" y="16"/>
                  </a:cubicBezTo>
                  <a:cubicBezTo>
                    <a:pt x="21" y="4"/>
                    <a:pt x="16" y="2"/>
                    <a:pt x="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29" name="Freeform 25"/>
            <p:cNvSpPr/>
            <p:nvPr/>
          </p:nvSpPr>
          <p:spPr bwMode="ltGray">
            <a:xfrm>
              <a:off x="1711" y="1634"/>
              <a:ext cx="44" cy="17"/>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0" name="Freeform 26"/>
            <p:cNvSpPr/>
            <p:nvPr/>
          </p:nvSpPr>
          <p:spPr bwMode="ltGray">
            <a:xfrm>
              <a:off x="1596" y="1442"/>
              <a:ext cx="44" cy="17"/>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1" name="Freeform 27"/>
            <p:cNvSpPr/>
            <p:nvPr/>
          </p:nvSpPr>
          <p:spPr bwMode="ltGray">
            <a:xfrm>
              <a:off x="1671" y="1275"/>
              <a:ext cx="45" cy="17"/>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2" name="Freeform 28"/>
            <p:cNvSpPr/>
            <p:nvPr/>
          </p:nvSpPr>
          <p:spPr bwMode="ltGray">
            <a:xfrm>
              <a:off x="1744" y="1376"/>
              <a:ext cx="43" cy="17"/>
            </a:xfrm>
            <a:custGeom>
              <a:avLst/>
              <a:gdLst>
                <a:gd name="T0" fmla="*/ 13 w 51"/>
                <a:gd name="T1" fmla="*/ 0 h 24"/>
                <a:gd name="T2" fmla="*/ 7 w 51"/>
                <a:gd name="T3" fmla="*/ 18 h 24"/>
                <a:gd name="T4" fmla="*/ 27 w 51"/>
                <a:gd name="T5" fmla="*/ 24 h 24"/>
                <a:gd name="T6" fmla="*/ 33 w 51"/>
                <a:gd name="T7" fmla="*/ 4 h 24"/>
                <a:gd name="T8" fmla="*/ 13 w 51"/>
                <a:gd name="T9" fmla="*/ 0 h 24"/>
              </a:gdLst>
              <a:ahLst/>
              <a:cxnLst>
                <a:cxn ang="0">
                  <a:pos x="T0" y="T1"/>
                </a:cxn>
                <a:cxn ang="0">
                  <a:pos x="T2" y="T3"/>
                </a:cxn>
                <a:cxn ang="0">
                  <a:pos x="T4" y="T5"/>
                </a:cxn>
                <a:cxn ang="0">
                  <a:pos x="T6" y="T7"/>
                </a:cxn>
                <a:cxn ang="0">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3" name="Freeform 29"/>
            <p:cNvSpPr/>
            <p:nvPr/>
          </p:nvSpPr>
          <p:spPr bwMode="ltGray">
            <a:xfrm>
              <a:off x="1762" y="1187"/>
              <a:ext cx="801" cy="323"/>
            </a:xfrm>
            <a:custGeom>
              <a:avLst/>
              <a:gdLst>
                <a:gd name="T0" fmla="*/ 28 w 929"/>
                <a:gd name="T1" fmla="*/ 56 h 462"/>
                <a:gd name="T2" fmla="*/ 6 w 929"/>
                <a:gd name="T3" fmla="*/ 92 h 462"/>
                <a:gd name="T4" fmla="*/ 36 w 929"/>
                <a:gd name="T5" fmla="*/ 100 h 462"/>
                <a:gd name="T6" fmla="*/ 16 w 929"/>
                <a:gd name="T7" fmla="*/ 116 h 462"/>
                <a:gd name="T8" fmla="*/ 104 w 929"/>
                <a:gd name="T9" fmla="*/ 136 h 462"/>
                <a:gd name="T10" fmla="*/ 142 w 929"/>
                <a:gd name="T11" fmla="*/ 130 h 462"/>
                <a:gd name="T12" fmla="*/ 250 w 929"/>
                <a:gd name="T13" fmla="*/ 78 h 462"/>
                <a:gd name="T14" fmla="*/ 300 w 929"/>
                <a:gd name="T15" fmla="*/ 66 h 462"/>
                <a:gd name="T16" fmla="*/ 324 w 929"/>
                <a:gd name="T17" fmla="*/ 80 h 462"/>
                <a:gd name="T18" fmla="*/ 272 w 929"/>
                <a:gd name="T19" fmla="*/ 88 h 462"/>
                <a:gd name="T20" fmla="*/ 242 w 929"/>
                <a:gd name="T21" fmla="*/ 112 h 462"/>
                <a:gd name="T22" fmla="*/ 254 w 929"/>
                <a:gd name="T23" fmla="*/ 120 h 462"/>
                <a:gd name="T24" fmla="*/ 260 w 929"/>
                <a:gd name="T25" fmla="*/ 158 h 462"/>
                <a:gd name="T26" fmla="*/ 350 w 929"/>
                <a:gd name="T27" fmla="*/ 192 h 462"/>
                <a:gd name="T28" fmla="*/ 336 w 929"/>
                <a:gd name="T29" fmla="*/ 210 h 462"/>
                <a:gd name="T30" fmla="*/ 368 w 929"/>
                <a:gd name="T31" fmla="*/ 246 h 462"/>
                <a:gd name="T32" fmla="*/ 348 w 929"/>
                <a:gd name="T33" fmla="*/ 266 h 462"/>
                <a:gd name="T34" fmla="*/ 324 w 929"/>
                <a:gd name="T35" fmla="*/ 294 h 462"/>
                <a:gd name="T36" fmla="*/ 294 w 929"/>
                <a:gd name="T37" fmla="*/ 324 h 462"/>
                <a:gd name="T38" fmla="*/ 292 w 929"/>
                <a:gd name="T39" fmla="*/ 420 h 462"/>
                <a:gd name="T40" fmla="*/ 332 w 929"/>
                <a:gd name="T41" fmla="*/ 446 h 462"/>
                <a:gd name="T42" fmla="*/ 388 w 929"/>
                <a:gd name="T43" fmla="*/ 448 h 462"/>
                <a:gd name="T44" fmla="*/ 412 w 929"/>
                <a:gd name="T45" fmla="*/ 422 h 462"/>
                <a:gd name="T46" fmla="*/ 506 w 929"/>
                <a:gd name="T47" fmla="*/ 356 h 462"/>
                <a:gd name="T48" fmla="*/ 572 w 929"/>
                <a:gd name="T49" fmla="*/ 334 h 462"/>
                <a:gd name="T50" fmla="*/ 646 w 929"/>
                <a:gd name="T51" fmla="*/ 308 h 462"/>
                <a:gd name="T52" fmla="*/ 720 w 929"/>
                <a:gd name="T53" fmla="*/ 290 h 462"/>
                <a:gd name="T54" fmla="*/ 762 w 929"/>
                <a:gd name="T55" fmla="*/ 260 h 462"/>
                <a:gd name="T56" fmla="*/ 800 w 929"/>
                <a:gd name="T57" fmla="*/ 200 h 462"/>
                <a:gd name="T58" fmla="*/ 802 w 929"/>
                <a:gd name="T59" fmla="*/ 154 h 462"/>
                <a:gd name="T60" fmla="*/ 802 w 929"/>
                <a:gd name="T61" fmla="*/ 124 h 462"/>
                <a:gd name="T62" fmla="*/ 832 w 929"/>
                <a:gd name="T63" fmla="*/ 90 h 462"/>
                <a:gd name="T64" fmla="*/ 876 w 929"/>
                <a:gd name="T65" fmla="*/ 94 h 462"/>
                <a:gd name="T66" fmla="*/ 922 w 929"/>
                <a:gd name="T67" fmla="*/ 52 h 462"/>
                <a:gd name="T68" fmla="*/ 888 w 929"/>
                <a:gd name="T69" fmla="*/ 56 h 462"/>
                <a:gd name="T70" fmla="*/ 848 w 929"/>
                <a:gd name="T71" fmla="*/ 46 h 462"/>
                <a:gd name="T72" fmla="*/ 794 w 929"/>
                <a:gd name="T73" fmla="*/ 22 h 462"/>
                <a:gd name="T74" fmla="*/ 642 w 929"/>
                <a:gd name="T75" fmla="*/ 26 h 462"/>
                <a:gd name="T76" fmla="*/ 584 w 929"/>
                <a:gd name="T77" fmla="*/ 38 h 462"/>
                <a:gd name="T78" fmla="*/ 556 w 929"/>
                <a:gd name="T79" fmla="*/ 38 h 462"/>
                <a:gd name="T80" fmla="*/ 516 w 929"/>
                <a:gd name="T81" fmla="*/ 54 h 462"/>
                <a:gd name="T82" fmla="*/ 478 w 929"/>
                <a:gd name="T83" fmla="*/ 30 h 462"/>
                <a:gd name="T84" fmla="*/ 432 w 929"/>
                <a:gd name="T85" fmla="*/ 40 h 462"/>
                <a:gd name="T86" fmla="*/ 366 w 929"/>
                <a:gd name="T87" fmla="*/ 52 h 462"/>
                <a:gd name="T88" fmla="*/ 410 w 929"/>
                <a:gd name="T89" fmla="*/ 38 h 462"/>
                <a:gd name="T90" fmla="*/ 352 w 929"/>
                <a:gd name="T91" fmla="*/ 8 h 462"/>
                <a:gd name="T92" fmla="*/ 334 w 929"/>
                <a:gd name="T93" fmla="*/ 2 h 462"/>
                <a:gd name="T94" fmla="*/ 314 w 929"/>
                <a:gd name="T95" fmla="*/ 8 h 462"/>
                <a:gd name="T96" fmla="*/ 240 w 929"/>
                <a:gd name="T97" fmla="*/ 16 h 462"/>
                <a:gd name="T98" fmla="*/ 160 w 929"/>
                <a:gd name="T99" fmla="*/ 28 h 462"/>
                <a:gd name="T100" fmla="*/ 108 w 929"/>
                <a:gd name="T101" fmla="*/ 26 h 462"/>
                <a:gd name="T102" fmla="*/ 114 w 929"/>
                <a:gd name="T103" fmla="*/ 68 h 462"/>
                <a:gd name="T104" fmla="*/ 104 w 929"/>
                <a:gd name="T105" fmla="*/ 52 h 462"/>
                <a:gd name="T106" fmla="*/ 60 w 929"/>
                <a:gd name="T107" fmla="*/ 42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4" name="Freeform 30"/>
            <p:cNvSpPr/>
            <p:nvPr/>
          </p:nvSpPr>
          <p:spPr bwMode="ltGray">
            <a:xfrm>
              <a:off x="2007" y="1359"/>
              <a:ext cx="45" cy="22"/>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5" name="Freeform 31"/>
            <p:cNvSpPr/>
            <p:nvPr/>
          </p:nvSpPr>
          <p:spPr bwMode="ltGray">
            <a:xfrm>
              <a:off x="2333" y="1421"/>
              <a:ext cx="147" cy="50"/>
            </a:xfrm>
            <a:custGeom>
              <a:avLst/>
              <a:gdLst>
                <a:gd name="T0" fmla="*/ 102 w 172"/>
                <a:gd name="T1" fmla="*/ 8 h 72"/>
                <a:gd name="T2" fmla="*/ 66 w 172"/>
                <a:gd name="T3" fmla="*/ 4 h 72"/>
                <a:gd name="T4" fmla="*/ 54 w 172"/>
                <a:gd name="T5" fmla="*/ 0 h 72"/>
                <a:gd name="T6" fmla="*/ 0 w 172"/>
                <a:gd name="T7" fmla="*/ 28 h 72"/>
                <a:gd name="T8" fmla="*/ 28 w 172"/>
                <a:gd name="T9" fmla="*/ 40 h 72"/>
                <a:gd name="T10" fmla="*/ 42 w 172"/>
                <a:gd name="T11" fmla="*/ 60 h 72"/>
                <a:gd name="T12" fmla="*/ 66 w 172"/>
                <a:gd name="T13" fmla="*/ 68 h 72"/>
                <a:gd name="T14" fmla="*/ 78 w 172"/>
                <a:gd name="T15" fmla="*/ 72 h 72"/>
                <a:gd name="T16" fmla="*/ 130 w 172"/>
                <a:gd name="T17" fmla="*/ 60 h 72"/>
                <a:gd name="T18" fmla="*/ 172 w 172"/>
                <a:gd name="T19" fmla="*/ 44 h 72"/>
                <a:gd name="T20" fmla="*/ 148 w 172"/>
                <a:gd name="T21" fmla="*/ 18 h 72"/>
                <a:gd name="T22" fmla="*/ 136 w 172"/>
                <a:gd name="T23" fmla="*/ 4 h 72"/>
                <a:gd name="T24" fmla="*/ 102 w 172"/>
                <a:gd name="T25" fmla="*/ 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6" name="Freeform 32"/>
            <p:cNvSpPr/>
            <p:nvPr/>
          </p:nvSpPr>
          <p:spPr bwMode="ltGray">
            <a:xfrm>
              <a:off x="2449" y="1268"/>
              <a:ext cx="45" cy="23"/>
            </a:xfrm>
            <a:custGeom>
              <a:avLst/>
              <a:gdLst>
                <a:gd name="T0" fmla="*/ 34 w 52"/>
                <a:gd name="T1" fmla="*/ 0 h 32"/>
                <a:gd name="T2" fmla="*/ 8 w 52"/>
                <a:gd name="T3" fmla="*/ 20 h 32"/>
                <a:gd name="T4" fmla="*/ 24 w 52"/>
                <a:gd name="T5" fmla="*/ 32 h 32"/>
                <a:gd name="T6" fmla="*/ 42 w 52"/>
                <a:gd name="T7" fmla="*/ 30 h 32"/>
                <a:gd name="T8" fmla="*/ 34 w 52"/>
                <a:gd name="T9" fmla="*/ 0 h 32"/>
              </a:gdLst>
              <a:ahLst/>
              <a:cxnLst>
                <a:cxn ang="0">
                  <a:pos x="T0" y="T1"/>
                </a:cxn>
                <a:cxn ang="0">
                  <a:pos x="T2" y="T3"/>
                </a:cxn>
                <a:cxn ang="0">
                  <a:pos x="T4" y="T5"/>
                </a:cxn>
                <a:cxn ang="0">
                  <a:pos x="T6" y="T7"/>
                </a:cxn>
                <a:cxn ang="0">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7" name="Freeform 33"/>
            <p:cNvSpPr/>
            <p:nvPr/>
          </p:nvSpPr>
          <p:spPr bwMode="ltGray">
            <a:xfrm>
              <a:off x="2758" y="1238"/>
              <a:ext cx="178" cy="59"/>
            </a:xfrm>
            <a:custGeom>
              <a:avLst/>
              <a:gdLst>
                <a:gd name="T0" fmla="*/ 191 w 206"/>
                <a:gd name="T1" fmla="*/ 7 h 85"/>
                <a:gd name="T2" fmla="*/ 103 w 206"/>
                <a:gd name="T3" fmla="*/ 9 h 85"/>
                <a:gd name="T4" fmla="*/ 109 w 206"/>
                <a:gd name="T5" fmla="*/ 25 h 85"/>
                <a:gd name="T6" fmla="*/ 107 w 206"/>
                <a:gd name="T7" fmla="*/ 33 h 85"/>
                <a:gd name="T8" fmla="*/ 89 w 206"/>
                <a:gd name="T9" fmla="*/ 27 h 85"/>
                <a:gd name="T10" fmla="*/ 77 w 206"/>
                <a:gd name="T11" fmla="*/ 19 h 85"/>
                <a:gd name="T12" fmla="*/ 23 w 206"/>
                <a:gd name="T13" fmla="*/ 27 h 85"/>
                <a:gd name="T14" fmla="*/ 31 w 206"/>
                <a:gd name="T15" fmla="*/ 49 h 85"/>
                <a:gd name="T16" fmla="*/ 55 w 206"/>
                <a:gd name="T17" fmla="*/ 53 h 85"/>
                <a:gd name="T18" fmla="*/ 75 w 206"/>
                <a:gd name="T19" fmla="*/ 73 h 85"/>
                <a:gd name="T20" fmla="*/ 89 w 206"/>
                <a:gd name="T21" fmla="*/ 85 h 85"/>
                <a:gd name="T22" fmla="*/ 109 w 206"/>
                <a:gd name="T23" fmla="*/ 67 h 85"/>
                <a:gd name="T24" fmla="*/ 121 w 206"/>
                <a:gd name="T25" fmla="*/ 59 h 85"/>
                <a:gd name="T26" fmla="*/ 127 w 206"/>
                <a:gd name="T27" fmla="*/ 47 h 85"/>
                <a:gd name="T28" fmla="*/ 167 w 206"/>
                <a:gd name="T29" fmla="*/ 35 h 85"/>
                <a:gd name="T30" fmla="*/ 187 w 206"/>
                <a:gd name="T31" fmla="*/ 31 h 85"/>
                <a:gd name="T32" fmla="*/ 199 w 206"/>
                <a:gd name="T33" fmla="*/ 27 h 85"/>
                <a:gd name="T34" fmla="*/ 191 w 206"/>
                <a:gd name="T35" fmla="*/ 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8" name="Freeform 34"/>
            <p:cNvSpPr/>
            <p:nvPr/>
          </p:nvSpPr>
          <p:spPr bwMode="ltGray">
            <a:xfrm>
              <a:off x="2870" y="1269"/>
              <a:ext cx="55" cy="20"/>
            </a:xfrm>
            <a:custGeom>
              <a:avLst/>
              <a:gdLst>
                <a:gd name="T0" fmla="*/ 36 w 64"/>
                <a:gd name="T1" fmla="*/ 6 h 28"/>
                <a:gd name="T2" fmla="*/ 8 w 64"/>
                <a:gd name="T3" fmla="*/ 4 h 28"/>
                <a:gd name="T4" fmla="*/ 24 w 64"/>
                <a:gd name="T5" fmla="*/ 28 h 28"/>
                <a:gd name="T6" fmla="*/ 54 w 64"/>
                <a:gd name="T7" fmla="*/ 14 h 28"/>
                <a:gd name="T8" fmla="*/ 36 w 64"/>
                <a:gd name="T9" fmla="*/ 6 h 28"/>
              </a:gdLst>
              <a:ahLst/>
              <a:cxnLst>
                <a:cxn ang="0">
                  <a:pos x="T0" y="T1"/>
                </a:cxn>
                <a:cxn ang="0">
                  <a:pos x="T2" y="T3"/>
                </a:cxn>
                <a:cxn ang="0">
                  <a:pos x="T4" y="T5"/>
                </a:cxn>
                <a:cxn ang="0">
                  <a:pos x="T6" y="T7"/>
                </a:cxn>
                <a:cxn ang="0">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39" name="Freeform 35"/>
            <p:cNvSpPr/>
            <p:nvPr/>
          </p:nvSpPr>
          <p:spPr bwMode="ltGray">
            <a:xfrm>
              <a:off x="2534" y="1524"/>
              <a:ext cx="125" cy="123"/>
            </a:xfrm>
            <a:custGeom>
              <a:avLst/>
              <a:gdLst>
                <a:gd name="T0" fmla="*/ 24 w 146"/>
                <a:gd name="T1" fmla="*/ 19 h 176"/>
                <a:gd name="T2" fmla="*/ 0 w 146"/>
                <a:gd name="T3" fmla="*/ 25 h 176"/>
                <a:gd name="T4" fmla="*/ 14 w 146"/>
                <a:gd name="T5" fmla="*/ 43 h 176"/>
                <a:gd name="T6" fmla="*/ 34 w 146"/>
                <a:gd name="T7" fmla="*/ 87 h 176"/>
                <a:gd name="T8" fmla="*/ 52 w 146"/>
                <a:gd name="T9" fmla="*/ 91 h 176"/>
                <a:gd name="T10" fmla="*/ 50 w 146"/>
                <a:gd name="T11" fmla="*/ 107 h 176"/>
                <a:gd name="T12" fmla="*/ 28 w 146"/>
                <a:gd name="T13" fmla="*/ 113 h 176"/>
                <a:gd name="T14" fmla="*/ 16 w 146"/>
                <a:gd name="T15" fmla="*/ 131 h 176"/>
                <a:gd name="T16" fmla="*/ 18 w 146"/>
                <a:gd name="T17" fmla="*/ 137 h 176"/>
                <a:gd name="T18" fmla="*/ 30 w 146"/>
                <a:gd name="T19" fmla="*/ 141 h 176"/>
                <a:gd name="T20" fmla="*/ 18 w 146"/>
                <a:gd name="T21" fmla="*/ 169 h 176"/>
                <a:gd name="T22" fmla="*/ 20 w 146"/>
                <a:gd name="T23" fmla="*/ 175 h 176"/>
                <a:gd name="T24" fmla="*/ 34 w 146"/>
                <a:gd name="T25" fmla="*/ 171 h 176"/>
                <a:gd name="T26" fmla="*/ 58 w 146"/>
                <a:gd name="T27" fmla="*/ 169 h 176"/>
                <a:gd name="T28" fmla="*/ 92 w 146"/>
                <a:gd name="T29" fmla="*/ 171 h 176"/>
                <a:gd name="T30" fmla="*/ 110 w 146"/>
                <a:gd name="T31" fmla="*/ 169 h 176"/>
                <a:gd name="T32" fmla="*/ 122 w 146"/>
                <a:gd name="T33" fmla="*/ 165 h 176"/>
                <a:gd name="T34" fmla="*/ 128 w 146"/>
                <a:gd name="T35" fmla="*/ 141 h 176"/>
                <a:gd name="T36" fmla="*/ 146 w 146"/>
                <a:gd name="T37" fmla="*/ 133 h 176"/>
                <a:gd name="T38" fmla="*/ 110 w 146"/>
                <a:gd name="T39" fmla="*/ 109 h 176"/>
                <a:gd name="T40" fmla="*/ 88 w 146"/>
                <a:gd name="T41" fmla="*/ 83 h 176"/>
                <a:gd name="T42" fmla="*/ 82 w 146"/>
                <a:gd name="T43" fmla="*/ 69 h 176"/>
                <a:gd name="T44" fmla="*/ 64 w 146"/>
                <a:gd name="T45" fmla="*/ 61 h 176"/>
                <a:gd name="T46" fmla="*/ 86 w 146"/>
                <a:gd name="T47" fmla="*/ 45 h 176"/>
                <a:gd name="T48" fmla="*/ 64 w 146"/>
                <a:gd name="T49" fmla="*/ 31 h 176"/>
                <a:gd name="T50" fmla="*/ 70 w 146"/>
                <a:gd name="T51" fmla="*/ 13 h 176"/>
                <a:gd name="T52" fmla="*/ 46 w 146"/>
                <a:gd name="T53" fmla="*/ 1 h 176"/>
                <a:gd name="T54" fmla="*/ 30 w 146"/>
                <a:gd name="T55" fmla="*/ 9 h 176"/>
                <a:gd name="T56" fmla="*/ 24 w 146"/>
                <a:gd name="T57" fmla="*/ 1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0" name="Freeform 36"/>
            <p:cNvSpPr/>
            <p:nvPr/>
          </p:nvSpPr>
          <p:spPr bwMode="ltGray">
            <a:xfrm>
              <a:off x="2472" y="1568"/>
              <a:ext cx="79" cy="64"/>
            </a:xfrm>
            <a:custGeom>
              <a:avLst/>
              <a:gdLst>
                <a:gd name="T0" fmla="*/ 58 w 92"/>
                <a:gd name="T1" fmla="*/ 6 h 92"/>
                <a:gd name="T2" fmla="*/ 82 w 92"/>
                <a:gd name="T3" fmla="*/ 8 h 92"/>
                <a:gd name="T4" fmla="*/ 92 w 92"/>
                <a:gd name="T5" fmla="*/ 26 h 92"/>
                <a:gd name="T6" fmla="*/ 78 w 92"/>
                <a:gd name="T7" fmla="*/ 48 h 92"/>
                <a:gd name="T8" fmla="*/ 46 w 92"/>
                <a:gd name="T9" fmla="*/ 76 h 92"/>
                <a:gd name="T10" fmla="*/ 18 w 92"/>
                <a:gd name="T11" fmla="*/ 92 h 92"/>
                <a:gd name="T12" fmla="*/ 8 w 92"/>
                <a:gd name="T13" fmla="*/ 72 h 92"/>
                <a:gd name="T14" fmla="*/ 20 w 92"/>
                <a:gd name="T15" fmla="*/ 64 h 92"/>
                <a:gd name="T16" fmla="*/ 14 w 92"/>
                <a:gd name="T17" fmla="*/ 46 h 92"/>
                <a:gd name="T18" fmla="*/ 40 w 92"/>
                <a:gd name="T19" fmla="*/ 28 h 92"/>
                <a:gd name="T20" fmla="*/ 58 w 92"/>
                <a:gd name="T21" fmla="*/ 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1" name="Freeform 37"/>
            <p:cNvSpPr/>
            <p:nvPr/>
          </p:nvSpPr>
          <p:spPr bwMode="ltGray">
            <a:xfrm>
              <a:off x="4411" y="2637"/>
              <a:ext cx="545" cy="463"/>
            </a:xfrm>
            <a:custGeom>
              <a:avLst/>
              <a:gdLst>
                <a:gd name="T0" fmla="*/ 212 w 633"/>
                <a:gd name="T1" fmla="*/ 11 h 660"/>
                <a:gd name="T2" fmla="*/ 176 w 633"/>
                <a:gd name="T3" fmla="*/ 19 h 660"/>
                <a:gd name="T4" fmla="*/ 144 w 633"/>
                <a:gd name="T5" fmla="*/ 51 h 660"/>
                <a:gd name="T6" fmla="*/ 104 w 633"/>
                <a:gd name="T7" fmla="*/ 59 h 660"/>
                <a:gd name="T8" fmla="*/ 84 w 633"/>
                <a:gd name="T9" fmla="*/ 75 h 660"/>
                <a:gd name="T10" fmla="*/ 68 w 633"/>
                <a:gd name="T11" fmla="*/ 115 h 660"/>
                <a:gd name="T12" fmla="*/ 36 w 633"/>
                <a:gd name="T13" fmla="*/ 167 h 660"/>
                <a:gd name="T14" fmla="*/ 0 w 633"/>
                <a:gd name="T15" fmla="*/ 179 h 660"/>
                <a:gd name="T16" fmla="*/ 72 w 633"/>
                <a:gd name="T17" fmla="*/ 323 h 660"/>
                <a:gd name="T18" fmla="*/ 120 w 633"/>
                <a:gd name="T19" fmla="*/ 427 h 660"/>
                <a:gd name="T20" fmla="*/ 144 w 633"/>
                <a:gd name="T21" fmla="*/ 443 h 660"/>
                <a:gd name="T22" fmla="*/ 168 w 633"/>
                <a:gd name="T23" fmla="*/ 451 h 660"/>
                <a:gd name="T24" fmla="*/ 228 w 633"/>
                <a:gd name="T25" fmla="*/ 431 h 660"/>
                <a:gd name="T26" fmla="*/ 252 w 633"/>
                <a:gd name="T27" fmla="*/ 423 h 660"/>
                <a:gd name="T28" fmla="*/ 300 w 633"/>
                <a:gd name="T29" fmla="*/ 451 h 660"/>
                <a:gd name="T30" fmla="*/ 324 w 633"/>
                <a:gd name="T31" fmla="*/ 527 h 660"/>
                <a:gd name="T32" fmla="*/ 336 w 633"/>
                <a:gd name="T33" fmla="*/ 523 h 660"/>
                <a:gd name="T34" fmla="*/ 344 w 633"/>
                <a:gd name="T35" fmla="*/ 511 h 660"/>
                <a:gd name="T36" fmla="*/ 368 w 633"/>
                <a:gd name="T37" fmla="*/ 547 h 660"/>
                <a:gd name="T38" fmla="*/ 404 w 633"/>
                <a:gd name="T39" fmla="*/ 571 h 660"/>
                <a:gd name="T40" fmla="*/ 436 w 633"/>
                <a:gd name="T41" fmla="*/ 603 h 660"/>
                <a:gd name="T42" fmla="*/ 444 w 633"/>
                <a:gd name="T43" fmla="*/ 615 h 660"/>
                <a:gd name="T44" fmla="*/ 456 w 633"/>
                <a:gd name="T45" fmla="*/ 623 h 660"/>
                <a:gd name="T46" fmla="*/ 484 w 633"/>
                <a:gd name="T47" fmla="*/ 655 h 660"/>
                <a:gd name="T48" fmla="*/ 492 w 633"/>
                <a:gd name="T49" fmla="*/ 631 h 660"/>
                <a:gd name="T50" fmla="*/ 540 w 633"/>
                <a:gd name="T51" fmla="*/ 659 h 660"/>
                <a:gd name="T52" fmla="*/ 588 w 633"/>
                <a:gd name="T53" fmla="*/ 655 h 660"/>
                <a:gd name="T54" fmla="*/ 616 w 633"/>
                <a:gd name="T55" fmla="*/ 531 h 660"/>
                <a:gd name="T56" fmla="*/ 632 w 633"/>
                <a:gd name="T57" fmla="*/ 463 h 660"/>
                <a:gd name="T58" fmla="*/ 620 w 633"/>
                <a:gd name="T59" fmla="*/ 367 h 660"/>
                <a:gd name="T60" fmla="*/ 536 w 633"/>
                <a:gd name="T61" fmla="*/ 271 h 660"/>
                <a:gd name="T62" fmla="*/ 528 w 633"/>
                <a:gd name="T63" fmla="*/ 235 h 660"/>
                <a:gd name="T64" fmla="*/ 460 w 633"/>
                <a:gd name="T65" fmla="*/ 179 h 660"/>
                <a:gd name="T66" fmla="*/ 472 w 633"/>
                <a:gd name="T67" fmla="*/ 155 h 660"/>
                <a:gd name="T68" fmla="*/ 456 w 633"/>
                <a:gd name="T69" fmla="*/ 131 h 660"/>
                <a:gd name="T70" fmla="*/ 416 w 633"/>
                <a:gd name="T71" fmla="*/ 79 h 660"/>
                <a:gd name="T72" fmla="*/ 392 w 633"/>
                <a:gd name="T73" fmla="*/ 31 h 660"/>
                <a:gd name="T74" fmla="*/ 388 w 633"/>
                <a:gd name="T75" fmla="*/ 19 h 660"/>
                <a:gd name="T76" fmla="*/ 364 w 633"/>
                <a:gd name="T77" fmla="*/ 151 h 660"/>
                <a:gd name="T78" fmla="*/ 324 w 633"/>
                <a:gd name="T79" fmla="*/ 115 h 660"/>
                <a:gd name="T80" fmla="*/ 292 w 633"/>
                <a:gd name="T81" fmla="*/ 111 h 660"/>
                <a:gd name="T82" fmla="*/ 272 w 633"/>
                <a:gd name="T83" fmla="*/ 87 h 660"/>
                <a:gd name="T84" fmla="*/ 264 w 633"/>
                <a:gd name="T85" fmla="*/ 63 h 660"/>
                <a:gd name="T86" fmla="*/ 276 w 633"/>
                <a:gd name="T87" fmla="*/ 55 h 660"/>
                <a:gd name="T88" fmla="*/ 240 w 633"/>
                <a:gd name="T89" fmla="*/ 19 h 660"/>
                <a:gd name="T90" fmla="*/ 216 w 633"/>
                <a:gd name="T91" fmla="*/ 11 h 660"/>
                <a:gd name="T92" fmla="*/ 204 w 633"/>
                <a:gd name="T93" fmla="*/ 7 h 660"/>
                <a:gd name="T94" fmla="*/ 212 w 633"/>
                <a:gd name="T95" fmla="*/ 11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2" name="Freeform 38"/>
            <p:cNvSpPr/>
            <p:nvPr/>
          </p:nvSpPr>
          <p:spPr bwMode="ltGray">
            <a:xfrm>
              <a:off x="4580" y="2393"/>
              <a:ext cx="367" cy="196"/>
            </a:xfrm>
            <a:custGeom>
              <a:avLst/>
              <a:gdLst>
                <a:gd name="T0" fmla="*/ 84 w 426"/>
                <a:gd name="T1" fmla="*/ 60 h 280"/>
                <a:gd name="T2" fmla="*/ 68 w 426"/>
                <a:gd name="T3" fmla="*/ 36 h 280"/>
                <a:gd name="T4" fmla="*/ 64 w 426"/>
                <a:gd name="T5" fmla="*/ 16 h 280"/>
                <a:gd name="T6" fmla="*/ 52 w 426"/>
                <a:gd name="T7" fmla="*/ 12 h 280"/>
                <a:gd name="T8" fmla="*/ 16 w 426"/>
                <a:gd name="T9" fmla="*/ 16 h 280"/>
                <a:gd name="T10" fmla="*/ 44 w 426"/>
                <a:gd name="T11" fmla="*/ 40 h 280"/>
                <a:gd name="T12" fmla="*/ 48 w 426"/>
                <a:gd name="T13" fmla="*/ 52 h 280"/>
                <a:gd name="T14" fmla="*/ 24 w 426"/>
                <a:gd name="T15" fmla="*/ 68 h 280"/>
                <a:gd name="T16" fmla="*/ 88 w 426"/>
                <a:gd name="T17" fmla="*/ 92 h 280"/>
                <a:gd name="T18" fmla="*/ 124 w 426"/>
                <a:gd name="T19" fmla="*/ 112 h 280"/>
                <a:gd name="T20" fmla="*/ 128 w 426"/>
                <a:gd name="T21" fmla="*/ 124 h 280"/>
                <a:gd name="T22" fmla="*/ 140 w 426"/>
                <a:gd name="T23" fmla="*/ 132 h 280"/>
                <a:gd name="T24" fmla="*/ 148 w 426"/>
                <a:gd name="T25" fmla="*/ 156 h 280"/>
                <a:gd name="T26" fmla="*/ 132 w 426"/>
                <a:gd name="T27" fmla="*/ 196 h 280"/>
                <a:gd name="T28" fmla="*/ 180 w 426"/>
                <a:gd name="T29" fmla="*/ 188 h 280"/>
                <a:gd name="T30" fmla="*/ 192 w 426"/>
                <a:gd name="T31" fmla="*/ 216 h 280"/>
                <a:gd name="T32" fmla="*/ 216 w 426"/>
                <a:gd name="T33" fmla="*/ 224 h 280"/>
                <a:gd name="T34" fmla="*/ 228 w 426"/>
                <a:gd name="T35" fmla="*/ 228 h 280"/>
                <a:gd name="T36" fmla="*/ 252 w 426"/>
                <a:gd name="T37" fmla="*/ 224 h 280"/>
                <a:gd name="T38" fmla="*/ 276 w 426"/>
                <a:gd name="T39" fmla="*/ 196 h 280"/>
                <a:gd name="T40" fmla="*/ 336 w 426"/>
                <a:gd name="T41" fmla="*/ 252 h 280"/>
                <a:gd name="T42" fmla="*/ 364 w 426"/>
                <a:gd name="T43" fmla="*/ 280 h 280"/>
                <a:gd name="T44" fmla="*/ 360 w 426"/>
                <a:gd name="T45" fmla="*/ 224 h 280"/>
                <a:gd name="T46" fmla="*/ 336 w 426"/>
                <a:gd name="T47" fmla="*/ 200 h 280"/>
                <a:gd name="T48" fmla="*/ 372 w 426"/>
                <a:gd name="T49" fmla="*/ 168 h 280"/>
                <a:gd name="T50" fmla="*/ 408 w 426"/>
                <a:gd name="T51" fmla="*/ 156 h 280"/>
                <a:gd name="T52" fmla="*/ 420 w 426"/>
                <a:gd name="T53" fmla="*/ 152 h 280"/>
                <a:gd name="T54" fmla="*/ 424 w 426"/>
                <a:gd name="T55" fmla="*/ 140 h 280"/>
                <a:gd name="T56" fmla="*/ 356 w 426"/>
                <a:gd name="T57" fmla="*/ 148 h 280"/>
                <a:gd name="T58" fmla="*/ 304 w 426"/>
                <a:gd name="T59" fmla="*/ 140 h 280"/>
                <a:gd name="T60" fmla="*/ 300 w 426"/>
                <a:gd name="T61" fmla="*/ 128 h 280"/>
                <a:gd name="T62" fmla="*/ 292 w 426"/>
                <a:gd name="T63" fmla="*/ 116 h 280"/>
                <a:gd name="T64" fmla="*/ 220 w 426"/>
                <a:gd name="T65" fmla="*/ 80 h 280"/>
                <a:gd name="T66" fmla="*/ 160 w 426"/>
                <a:gd name="T67" fmla="*/ 60 h 280"/>
                <a:gd name="T68" fmla="*/ 136 w 426"/>
                <a:gd name="T69" fmla="*/ 52 h 280"/>
                <a:gd name="T70" fmla="*/ 80 w 426"/>
                <a:gd name="T71" fmla="*/ 52 h 280"/>
                <a:gd name="T72" fmla="*/ 68 w 426"/>
                <a:gd name="T73" fmla="*/ 32 h 280"/>
                <a:gd name="T74" fmla="*/ 68 w 426"/>
                <a:gd name="T7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grpFill/>
            <a:ln>
              <a:noFill/>
            </a:ln>
            <a:effectLst/>
          </p:spPr>
          <p:txBody>
            <a:bodyPr/>
            <a:lstStyle/>
            <a:p>
              <a:pPr>
                <a:defRPr/>
              </a:pPr>
              <a:endParaRPr lang="zh-CN" altLang="en-US">
                <a:solidFill>
                  <a:schemeClr val="bg1">
                    <a:lumMod val="95000"/>
                  </a:schemeClr>
                </a:solidFill>
              </a:endParaRPr>
            </a:p>
          </p:txBody>
        </p:sp>
        <p:sp>
          <p:nvSpPr>
            <p:cNvPr id="43" name="Freeform 39"/>
            <p:cNvSpPr/>
            <p:nvPr/>
          </p:nvSpPr>
          <p:spPr bwMode="ltGray">
            <a:xfrm>
              <a:off x="4855" y="3115"/>
              <a:ext cx="52" cy="54"/>
            </a:xfrm>
            <a:custGeom>
              <a:avLst/>
              <a:gdLst>
                <a:gd name="T0" fmla="*/ 32 w 60"/>
                <a:gd name="T1" fmla="*/ 18 h 78"/>
                <a:gd name="T2" fmla="*/ 0 w 60"/>
                <a:gd name="T3" fmla="*/ 18 h 78"/>
                <a:gd name="T4" fmla="*/ 20 w 60"/>
                <a:gd name="T5" fmla="*/ 42 h 78"/>
                <a:gd name="T6" fmla="*/ 28 w 60"/>
                <a:gd name="T7" fmla="*/ 66 h 78"/>
                <a:gd name="T8" fmla="*/ 32 w 60"/>
                <a:gd name="T9" fmla="*/ 78 h 78"/>
                <a:gd name="T10" fmla="*/ 60 w 60"/>
                <a:gd name="T11" fmla="*/ 50 h 78"/>
                <a:gd name="T12" fmla="*/ 32 w 60"/>
                <a:gd name="T13" fmla="*/ 18 h 78"/>
              </a:gdLst>
              <a:ahLst/>
              <a:cxnLst>
                <a:cxn ang="0">
                  <a:pos x="T0" y="T1"/>
                </a:cxn>
                <a:cxn ang="0">
                  <a:pos x="T2" y="T3"/>
                </a:cxn>
                <a:cxn ang="0">
                  <a:pos x="T4" y="T5"/>
                </a:cxn>
                <a:cxn ang="0">
                  <a:pos x="T6" y="T7"/>
                </a:cxn>
                <a:cxn ang="0">
                  <a:pos x="T8" y="T9"/>
                </a:cxn>
                <a:cxn ang="0">
                  <a:pos x="T10" y="T11"/>
                </a:cxn>
                <a:cxn ang="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4" name="Freeform 40"/>
            <p:cNvSpPr/>
            <p:nvPr/>
          </p:nvSpPr>
          <p:spPr bwMode="ltGray">
            <a:xfrm>
              <a:off x="5011" y="3031"/>
              <a:ext cx="189" cy="79"/>
            </a:xfrm>
            <a:custGeom>
              <a:avLst/>
              <a:gdLst>
                <a:gd name="T0" fmla="*/ 47 w 219"/>
                <a:gd name="T1" fmla="*/ 73 h 113"/>
                <a:gd name="T2" fmla="*/ 39 w 219"/>
                <a:gd name="T3" fmla="*/ 61 h 113"/>
                <a:gd name="T4" fmla="*/ 15 w 219"/>
                <a:gd name="T5" fmla="*/ 69 h 113"/>
                <a:gd name="T6" fmla="*/ 39 w 219"/>
                <a:gd name="T7" fmla="*/ 113 h 113"/>
                <a:gd name="T8" fmla="*/ 123 w 219"/>
                <a:gd name="T9" fmla="*/ 89 h 113"/>
                <a:gd name="T10" fmla="*/ 147 w 219"/>
                <a:gd name="T11" fmla="*/ 73 h 113"/>
                <a:gd name="T12" fmla="*/ 171 w 219"/>
                <a:gd name="T13" fmla="*/ 65 h 113"/>
                <a:gd name="T14" fmla="*/ 219 w 219"/>
                <a:gd name="T15" fmla="*/ 19 h 113"/>
                <a:gd name="T16" fmla="*/ 210 w 219"/>
                <a:gd name="T17" fmla="*/ 0 h 113"/>
                <a:gd name="T18" fmla="*/ 179 w 219"/>
                <a:gd name="T19" fmla="*/ 17 h 113"/>
                <a:gd name="T20" fmla="*/ 107 w 219"/>
                <a:gd name="T21" fmla="*/ 41 h 113"/>
                <a:gd name="T22" fmla="*/ 83 w 219"/>
                <a:gd name="T23" fmla="*/ 45 h 113"/>
                <a:gd name="T24" fmla="*/ 59 w 219"/>
                <a:gd name="T25" fmla="*/ 53 h 113"/>
                <a:gd name="T26" fmla="*/ 47 w 219"/>
                <a:gd name="T27" fmla="*/ 7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5" name="Freeform 41"/>
            <p:cNvSpPr/>
            <p:nvPr/>
          </p:nvSpPr>
          <p:spPr bwMode="ltGray">
            <a:xfrm>
              <a:off x="5207" y="2984"/>
              <a:ext cx="119" cy="86"/>
            </a:xfrm>
            <a:custGeom>
              <a:avLst/>
              <a:gdLst>
                <a:gd name="T0" fmla="*/ 12 w 139"/>
                <a:gd name="T1" fmla="*/ 60 h 122"/>
                <a:gd name="T2" fmla="*/ 8 w 139"/>
                <a:gd name="T3" fmla="*/ 84 h 122"/>
                <a:gd name="T4" fmla="*/ 0 w 139"/>
                <a:gd name="T5" fmla="*/ 108 h 122"/>
                <a:gd name="T6" fmla="*/ 36 w 139"/>
                <a:gd name="T7" fmla="*/ 116 h 122"/>
                <a:gd name="T8" fmla="*/ 52 w 139"/>
                <a:gd name="T9" fmla="*/ 96 h 122"/>
                <a:gd name="T10" fmla="*/ 124 w 139"/>
                <a:gd name="T11" fmla="*/ 68 h 122"/>
                <a:gd name="T12" fmla="*/ 136 w 139"/>
                <a:gd name="T13" fmla="*/ 44 h 122"/>
                <a:gd name="T14" fmla="*/ 112 w 139"/>
                <a:gd name="T15" fmla="*/ 28 h 122"/>
                <a:gd name="T16" fmla="*/ 100 w 139"/>
                <a:gd name="T17" fmla="*/ 20 h 122"/>
                <a:gd name="T18" fmla="*/ 64 w 139"/>
                <a:gd name="T19" fmla="*/ 12 h 122"/>
                <a:gd name="T20" fmla="*/ 52 w 139"/>
                <a:gd name="T21" fmla="*/ 36 h 122"/>
                <a:gd name="T22" fmla="*/ 12 w 139"/>
                <a:gd name="T23" fmla="*/ 6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6" name="Freeform 42"/>
            <p:cNvSpPr/>
            <p:nvPr/>
          </p:nvSpPr>
          <p:spPr bwMode="ltGray">
            <a:xfrm>
              <a:off x="5270" y="2946"/>
              <a:ext cx="43" cy="24"/>
            </a:xfrm>
            <a:custGeom>
              <a:avLst/>
              <a:gdLst>
                <a:gd name="T0" fmla="*/ 29 w 49"/>
                <a:gd name="T1" fmla="*/ 0 h 35"/>
                <a:gd name="T2" fmla="*/ 8 w 49"/>
                <a:gd name="T3" fmla="*/ 11 h 35"/>
                <a:gd name="T4" fmla="*/ 24 w 49"/>
                <a:gd name="T5" fmla="*/ 35 h 35"/>
                <a:gd name="T6" fmla="*/ 39 w 49"/>
                <a:gd name="T7" fmla="*/ 26 h 35"/>
                <a:gd name="T8" fmla="*/ 29 w 49"/>
                <a:gd name="T9" fmla="*/ 0 h 35"/>
              </a:gdLst>
              <a:ahLst/>
              <a:cxnLst>
                <a:cxn ang="0">
                  <a:pos x="T0" y="T1"/>
                </a:cxn>
                <a:cxn ang="0">
                  <a:pos x="T2" y="T3"/>
                </a:cxn>
                <a:cxn ang="0">
                  <a:pos x="T4" y="T5"/>
                </a:cxn>
                <a:cxn ang="0">
                  <a:pos x="T6" y="T7"/>
                </a:cxn>
                <a:cxn ang="0">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7" name="Freeform 43"/>
            <p:cNvSpPr/>
            <p:nvPr/>
          </p:nvSpPr>
          <p:spPr bwMode="ltGray">
            <a:xfrm>
              <a:off x="3288" y="2491"/>
              <a:ext cx="142" cy="188"/>
            </a:xfrm>
            <a:custGeom>
              <a:avLst/>
              <a:gdLst>
                <a:gd name="T0" fmla="*/ 128 w 164"/>
                <a:gd name="T1" fmla="*/ 0 h 268"/>
                <a:gd name="T2" fmla="*/ 104 w 164"/>
                <a:gd name="T3" fmla="*/ 28 h 268"/>
                <a:gd name="T4" fmla="*/ 88 w 164"/>
                <a:gd name="T5" fmla="*/ 64 h 268"/>
                <a:gd name="T6" fmla="*/ 36 w 164"/>
                <a:gd name="T7" fmla="*/ 84 h 268"/>
                <a:gd name="T8" fmla="*/ 28 w 164"/>
                <a:gd name="T9" fmla="*/ 96 h 268"/>
                <a:gd name="T10" fmla="*/ 16 w 164"/>
                <a:gd name="T11" fmla="*/ 100 h 268"/>
                <a:gd name="T12" fmla="*/ 20 w 164"/>
                <a:gd name="T13" fmla="*/ 132 h 268"/>
                <a:gd name="T14" fmla="*/ 28 w 164"/>
                <a:gd name="T15" fmla="*/ 156 h 268"/>
                <a:gd name="T16" fmla="*/ 0 w 164"/>
                <a:gd name="T17" fmla="*/ 200 h 268"/>
                <a:gd name="T18" fmla="*/ 28 w 164"/>
                <a:gd name="T19" fmla="*/ 260 h 268"/>
                <a:gd name="T20" fmla="*/ 52 w 164"/>
                <a:gd name="T21" fmla="*/ 268 h 268"/>
                <a:gd name="T22" fmla="*/ 88 w 164"/>
                <a:gd name="T23" fmla="*/ 216 h 268"/>
                <a:gd name="T24" fmla="*/ 104 w 164"/>
                <a:gd name="T25" fmla="*/ 192 h 268"/>
                <a:gd name="T26" fmla="*/ 128 w 164"/>
                <a:gd name="T27" fmla="*/ 116 h 268"/>
                <a:gd name="T28" fmla="*/ 140 w 164"/>
                <a:gd name="T29" fmla="*/ 76 h 268"/>
                <a:gd name="T30" fmla="*/ 164 w 164"/>
                <a:gd name="T31" fmla="*/ 72 h 268"/>
                <a:gd name="T32" fmla="*/ 128 w 164"/>
                <a:gd name="T3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8" name="Freeform 44"/>
            <p:cNvSpPr/>
            <p:nvPr/>
          </p:nvSpPr>
          <p:spPr bwMode="ltGray">
            <a:xfrm>
              <a:off x="3900" y="2200"/>
              <a:ext cx="57" cy="57"/>
            </a:xfrm>
            <a:custGeom>
              <a:avLst/>
              <a:gdLst>
                <a:gd name="T0" fmla="*/ 29 w 66"/>
                <a:gd name="T1" fmla="*/ 0 h 81"/>
                <a:gd name="T2" fmla="*/ 25 w 66"/>
                <a:gd name="T3" fmla="*/ 60 h 81"/>
                <a:gd name="T4" fmla="*/ 29 w 66"/>
                <a:gd name="T5" fmla="*/ 76 h 81"/>
                <a:gd name="T6" fmla="*/ 41 w 66"/>
                <a:gd name="T7" fmla="*/ 80 h 81"/>
                <a:gd name="T8" fmla="*/ 57 w 66"/>
                <a:gd name="T9" fmla="*/ 76 h 81"/>
                <a:gd name="T10" fmla="*/ 29 w 66"/>
                <a:gd name="T11" fmla="*/ 0 h 81"/>
              </a:gdLst>
              <a:ahLst/>
              <a:cxnLst>
                <a:cxn ang="0">
                  <a:pos x="T0" y="T1"/>
                </a:cxn>
                <a:cxn ang="0">
                  <a:pos x="T2" y="T3"/>
                </a:cxn>
                <a:cxn ang="0">
                  <a:pos x="T4" y="T5"/>
                </a:cxn>
                <a:cxn ang="0">
                  <a:pos x="T6" y="T7"/>
                </a:cxn>
                <a:cxn ang="0">
                  <a:pos x="T8" y="T9"/>
                </a:cxn>
                <a:cxn ang="0">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49" name="Freeform 45"/>
            <p:cNvSpPr/>
            <p:nvPr/>
          </p:nvSpPr>
          <p:spPr bwMode="ltGray">
            <a:xfrm>
              <a:off x="4283" y="2261"/>
              <a:ext cx="128" cy="171"/>
            </a:xfrm>
            <a:custGeom>
              <a:avLst/>
              <a:gdLst>
                <a:gd name="T0" fmla="*/ 96 w 148"/>
                <a:gd name="T1" fmla="*/ 0 h 244"/>
                <a:gd name="T2" fmla="*/ 60 w 148"/>
                <a:gd name="T3" fmla="*/ 84 h 244"/>
                <a:gd name="T4" fmla="*/ 36 w 148"/>
                <a:gd name="T5" fmla="*/ 92 h 244"/>
                <a:gd name="T6" fmla="*/ 12 w 148"/>
                <a:gd name="T7" fmla="*/ 108 h 244"/>
                <a:gd name="T8" fmla="*/ 40 w 148"/>
                <a:gd name="T9" fmla="*/ 188 h 244"/>
                <a:gd name="T10" fmla="*/ 52 w 148"/>
                <a:gd name="T11" fmla="*/ 224 h 244"/>
                <a:gd name="T12" fmla="*/ 60 w 148"/>
                <a:gd name="T13" fmla="*/ 236 h 244"/>
                <a:gd name="T14" fmla="*/ 84 w 148"/>
                <a:gd name="T15" fmla="*/ 244 h 244"/>
                <a:gd name="T16" fmla="*/ 96 w 148"/>
                <a:gd name="T17" fmla="*/ 196 h 244"/>
                <a:gd name="T18" fmla="*/ 124 w 148"/>
                <a:gd name="T19" fmla="*/ 168 h 244"/>
                <a:gd name="T20" fmla="*/ 112 w 148"/>
                <a:gd name="T21" fmla="*/ 68 h 244"/>
                <a:gd name="T22" fmla="*/ 140 w 148"/>
                <a:gd name="T23" fmla="*/ 48 h 244"/>
                <a:gd name="T24" fmla="*/ 112 w 148"/>
                <a:gd name="T25" fmla="*/ 20 h 244"/>
                <a:gd name="T26" fmla="*/ 96 w 148"/>
                <a:gd name="T2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0" name="Freeform 46"/>
            <p:cNvSpPr/>
            <p:nvPr/>
          </p:nvSpPr>
          <p:spPr bwMode="ltGray">
            <a:xfrm>
              <a:off x="4175" y="2208"/>
              <a:ext cx="83" cy="128"/>
            </a:xfrm>
            <a:custGeom>
              <a:avLst/>
              <a:gdLst>
                <a:gd name="T0" fmla="*/ 48 w 96"/>
                <a:gd name="T1" fmla="*/ 2 h 183"/>
                <a:gd name="T2" fmla="*/ 51 w 96"/>
                <a:gd name="T3" fmla="*/ 35 h 183"/>
                <a:gd name="T4" fmla="*/ 60 w 96"/>
                <a:gd name="T5" fmla="*/ 62 h 183"/>
                <a:gd name="T6" fmla="*/ 62 w 96"/>
                <a:gd name="T7" fmla="*/ 92 h 183"/>
                <a:gd name="T8" fmla="*/ 68 w 96"/>
                <a:gd name="T9" fmla="*/ 105 h 183"/>
                <a:gd name="T10" fmla="*/ 71 w 96"/>
                <a:gd name="T11" fmla="*/ 126 h 183"/>
                <a:gd name="T12" fmla="*/ 57 w 96"/>
                <a:gd name="T13" fmla="*/ 93 h 183"/>
                <a:gd name="T14" fmla="*/ 35 w 96"/>
                <a:gd name="T15" fmla="*/ 78 h 183"/>
                <a:gd name="T16" fmla="*/ 5 w 96"/>
                <a:gd name="T17" fmla="*/ 83 h 183"/>
                <a:gd name="T18" fmla="*/ 8 w 96"/>
                <a:gd name="T19" fmla="*/ 102 h 183"/>
                <a:gd name="T20" fmla="*/ 41 w 96"/>
                <a:gd name="T21" fmla="*/ 114 h 183"/>
                <a:gd name="T22" fmla="*/ 57 w 96"/>
                <a:gd name="T23" fmla="*/ 135 h 183"/>
                <a:gd name="T24" fmla="*/ 71 w 96"/>
                <a:gd name="T25" fmla="*/ 135 h 183"/>
                <a:gd name="T26" fmla="*/ 78 w 96"/>
                <a:gd name="T27" fmla="*/ 150 h 183"/>
                <a:gd name="T28" fmla="*/ 96 w 96"/>
                <a:gd name="T29" fmla="*/ 179 h 183"/>
                <a:gd name="T30" fmla="*/ 81 w 96"/>
                <a:gd name="T31" fmla="*/ 126 h 183"/>
                <a:gd name="T32" fmla="*/ 80 w 96"/>
                <a:gd name="T33" fmla="*/ 93 h 183"/>
                <a:gd name="T34" fmla="*/ 71 w 96"/>
                <a:gd name="T35" fmla="*/ 63 h 183"/>
                <a:gd name="T36" fmla="*/ 63 w 96"/>
                <a:gd name="T37" fmla="*/ 41 h 183"/>
                <a:gd name="T38" fmla="*/ 57 w 96"/>
                <a:gd name="T39" fmla="*/ 20 h 183"/>
                <a:gd name="T40" fmla="*/ 48 w 96"/>
                <a:gd name="T41" fmla="*/ 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1" name="Freeform 47"/>
            <p:cNvSpPr/>
            <p:nvPr/>
          </p:nvSpPr>
          <p:spPr bwMode="ltGray">
            <a:xfrm>
              <a:off x="4231" y="2311"/>
              <a:ext cx="46" cy="122"/>
            </a:xfrm>
            <a:custGeom>
              <a:avLst/>
              <a:gdLst>
                <a:gd name="T0" fmla="*/ 6 w 54"/>
                <a:gd name="T1" fmla="*/ 0 h 175"/>
                <a:gd name="T2" fmla="*/ 0 w 54"/>
                <a:gd name="T3" fmla="*/ 25 h 175"/>
                <a:gd name="T4" fmla="*/ 9 w 54"/>
                <a:gd name="T5" fmla="*/ 54 h 175"/>
                <a:gd name="T6" fmla="*/ 18 w 54"/>
                <a:gd name="T7" fmla="*/ 94 h 175"/>
                <a:gd name="T8" fmla="*/ 34 w 54"/>
                <a:gd name="T9" fmla="*/ 129 h 175"/>
                <a:gd name="T10" fmla="*/ 54 w 54"/>
                <a:gd name="T11" fmla="*/ 175 h 175"/>
                <a:gd name="T12" fmla="*/ 40 w 54"/>
                <a:gd name="T13" fmla="*/ 115 h 175"/>
                <a:gd name="T14" fmla="*/ 34 w 54"/>
                <a:gd name="T15" fmla="*/ 93 h 175"/>
                <a:gd name="T16" fmla="*/ 28 w 54"/>
                <a:gd name="T17" fmla="*/ 61 h 175"/>
                <a:gd name="T18" fmla="*/ 25 w 54"/>
                <a:gd name="T19" fmla="*/ 46 h 175"/>
                <a:gd name="T20" fmla="*/ 16 w 54"/>
                <a:gd name="T21" fmla="*/ 37 h 175"/>
                <a:gd name="T22" fmla="*/ 6 w 54"/>
                <a:gd name="T23"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2" name="Freeform 48"/>
            <p:cNvSpPr/>
            <p:nvPr/>
          </p:nvSpPr>
          <p:spPr bwMode="ltGray">
            <a:xfrm>
              <a:off x="4283" y="2439"/>
              <a:ext cx="75" cy="50"/>
            </a:xfrm>
            <a:custGeom>
              <a:avLst/>
              <a:gdLst>
                <a:gd name="T0" fmla="*/ 2 w 86"/>
                <a:gd name="T1" fmla="*/ 0 h 73"/>
                <a:gd name="T2" fmla="*/ 8 w 86"/>
                <a:gd name="T3" fmla="*/ 34 h 73"/>
                <a:gd name="T4" fmla="*/ 23 w 86"/>
                <a:gd name="T5" fmla="*/ 43 h 73"/>
                <a:gd name="T6" fmla="*/ 48 w 86"/>
                <a:gd name="T7" fmla="*/ 49 h 73"/>
                <a:gd name="T8" fmla="*/ 62 w 86"/>
                <a:gd name="T9" fmla="*/ 57 h 73"/>
                <a:gd name="T10" fmla="*/ 74 w 86"/>
                <a:gd name="T11" fmla="*/ 66 h 73"/>
                <a:gd name="T12" fmla="*/ 86 w 86"/>
                <a:gd name="T13" fmla="*/ 69 h 73"/>
                <a:gd name="T14" fmla="*/ 72 w 86"/>
                <a:gd name="T15" fmla="*/ 39 h 73"/>
                <a:gd name="T16" fmla="*/ 63 w 86"/>
                <a:gd name="T17" fmla="*/ 22 h 73"/>
                <a:gd name="T18" fmla="*/ 36 w 86"/>
                <a:gd name="T19" fmla="*/ 24 h 73"/>
                <a:gd name="T20" fmla="*/ 24 w 86"/>
                <a:gd name="T21" fmla="*/ 19 h 73"/>
                <a:gd name="T22" fmla="*/ 6 w 86"/>
                <a:gd name="T23" fmla="*/ 0 h 73"/>
                <a:gd name="T24" fmla="*/ 2 w 86"/>
                <a:gd name="T25"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3" name="Freeform 49"/>
            <p:cNvSpPr/>
            <p:nvPr/>
          </p:nvSpPr>
          <p:spPr bwMode="ltGray">
            <a:xfrm>
              <a:off x="4403" y="2350"/>
              <a:ext cx="95" cy="109"/>
            </a:xfrm>
            <a:custGeom>
              <a:avLst/>
              <a:gdLst>
                <a:gd name="T0" fmla="*/ 98 w 111"/>
                <a:gd name="T1" fmla="*/ 0 h 156"/>
                <a:gd name="T2" fmla="*/ 75 w 111"/>
                <a:gd name="T3" fmla="*/ 10 h 156"/>
                <a:gd name="T4" fmla="*/ 23 w 111"/>
                <a:gd name="T5" fmla="*/ 15 h 156"/>
                <a:gd name="T6" fmla="*/ 14 w 111"/>
                <a:gd name="T7" fmla="*/ 33 h 156"/>
                <a:gd name="T8" fmla="*/ 11 w 111"/>
                <a:gd name="T9" fmla="*/ 61 h 156"/>
                <a:gd name="T10" fmla="*/ 14 w 111"/>
                <a:gd name="T11" fmla="*/ 75 h 156"/>
                <a:gd name="T12" fmla="*/ 3 w 111"/>
                <a:gd name="T13" fmla="*/ 88 h 156"/>
                <a:gd name="T14" fmla="*/ 14 w 111"/>
                <a:gd name="T15" fmla="*/ 109 h 156"/>
                <a:gd name="T16" fmla="*/ 23 w 111"/>
                <a:gd name="T17" fmla="*/ 124 h 156"/>
                <a:gd name="T18" fmla="*/ 15 w 111"/>
                <a:gd name="T19" fmla="*/ 144 h 156"/>
                <a:gd name="T20" fmla="*/ 24 w 111"/>
                <a:gd name="T21" fmla="*/ 156 h 156"/>
                <a:gd name="T22" fmla="*/ 42 w 111"/>
                <a:gd name="T23" fmla="*/ 144 h 156"/>
                <a:gd name="T24" fmla="*/ 50 w 111"/>
                <a:gd name="T25" fmla="*/ 93 h 156"/>
                <a:gd name="T26" fmla="*/ 56 w 111"/>
                <a:gd name="T27" fmla="*/ 126 h 156"/>
                <a:gd name="T28" fmla="*/ 65 w 111"/>
                <a:gd name="T29" fmla="*/ 145 h 156"/>
                <a:gd name="T30" fmla="*/ 62 w 111"/>
                <a:gd name="T31" fmla="*/ 112 h 156"/>
                <a:gd name="T32" fmla="*/ 72 w 111"/>
                <a:gd name="T33" fmla="*/ 73 h 156"/>
                <a:gd name="T34" fmla="*/ 69 w 111"/>
                <a:gd name="T35" fmla="*/ 51 h 156"/>
                <a:gd name="T36" fmla="*/ 54 w 111"/>
                <a:gd name="T37" fmla="*/ 60 h 156"/>
                <a:gd name="T38" fmla="*/ 35 w 111"/>
                <a:gd name="T39" fmla="*/ 54 h 156"/>
                <a:gd name="T40" fmla="*/ 41 w 111"/>
                <a:gd name="T41" fmla="*/ 36 h 156"/>
                <a:gd name="T42" fmla="*/ 62 w 111"/>
                <a:gd name="T43" fmla="*/ 34 h 156"/>
                <a:gd name="T44" fmla="*/ 78 w 111"/>
                <a:gd name="T45" fmla="*/ 39 h 156"/>
                <a:gd name="T46" fmla="*/ 98 w 111"/>
                <a:gd name="T47" fmla="*/ 30 h 156"/>
                <a:gd name="T48" fmla="*/ 111 w 111"/>
                <a:gd name="T49" fmla="*/ 13 h 156"/>
                <a:gd name="T50" fmla="*/ 98 w 111"/>
                <a:gd name="T5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4" name="Freeform 50"/>
            <p:cNvSpPr/>
            <p:nvPr/>
          </p:nvSpPr>
          <p:spPr bwMode="ltGray">
            <a:xfrm>
              <a:off x="4371" y="1959"/>
              <a:ext cx="25" cy="67"/>
            </a:xfrm>
            <a:custGeom>
              <a:avLst/>
              <a:gdLst>
                <a:gd name="T0" fmla="*/ 12 w 30"/>
                <a:gd name="T1" fmla="*/ 0 h 94"/>
                <a:gd name="T2" fmla="*/ 0 w 30"/>
                <a:gd name="T3" fmla="*/ 16 h 94"/>
                <a:gd name="T4" fmla="*/ 6 w 30"/>
                <a:gd name="T5" fmla="*/ 37 h 94"/>
                <a:gd name="T6" fmla="*/ 1 w 30"/>
                <a:gd name="T7" fmla="*/ 61 h 94"/>
                <a:gd name="T8" fmla="*/ 16 w 30"/>
                <a:gd name="T9" fmla="*/ 94 h 94"/>
                <a:gd name="T10" fmla="*/ 30 w 30"/>
                <a:gd name="T11" fmla="*/ 82 h 94"/>
                <a:gd name="T12" fmla="*/ 22 w 30"/>
                <a:gd name="T13" fmla="*/ 61 h 94"/>
                <a:gd name="T14" fmla="*/ 12 w 30"/>
                <a:gd name="T15" fmla="*/ 0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5" name="Freeform 51"/>
            <p:cNvSpPr/>
            <p:nvPr/>
          </p:nvSpPr>
          <p:spPr bwMode="ltGray">
            <a:xfrm>
              <a:off x="4387" y="2070"/>
              <a:ext cx="70" cy="111"/>
            </a:xfrm>
            <a:custGeom>
              <a:avLst/>
              <a:gdLst>
                <a:gd name="T0" fmla="*/ 12 w 81"/>
                <a:gd name="T1" fmla="*/ 2 h 158"/>
                <a:gd name="T2" fmla="*/ 0 w 81"/>
                <a:gd name="T3" fmla="*/ 20 h 158"/>
                <a:gd name="T4" fmla="*/ 8 w 81"/>
                <a:gd name="T5" fmla="*/ 49 h 158"/>
                <a:gd name="T6" fmla="*/ 6 w 81"/>
                <a:gd name="T7" fmla="*/ 107 h 158"/>
                <a:gd name="T8" fmla="*/ 17 w 81"/>
                <a:gd name="T9" fmla="*/ 103 h 158"/>
                <a:gd name="T10" fmla="*/ 20 w 81"/>
                <a:gd name="T11" fmla="*/ 115 h 158"/>
                <a:gd name="T12" fmla="*/ 29 w 81"/>
                <a:gd name="T13" fmla="*/ 122 h 158"/>
                <a:gd name="T14" fmla="*/ 38 w 81"/>
                <a:gd name="T15" fmla="*/ 140 h 158"/>
                <a:gd name="T16" fmla="*/ 48 w 81"/>
                <a:gd name="T17" fmla="*/ 128 h 158"/>
                <a:gd name="T18" fmla="*/ 65 w 81"/>
                <a:gd name="T19" fmla="*/ 134 h 158"/>
                <a:gd name="T20" fmla="*/ 63 w 81"/>
                <a:gd name="T21" fmla="*/ 109 h 158"/>
                <a:gd name="T22" fmla="*/ 48 w 81"/>
                <a:gd name="T23" fmla="*/ 104 h 158"/>
                <a:gd name="T24" fmla="*/ 39 w 81"/>
                <a:gd name="T25" fmla="*/ 91 h 158"/>
                <a:gd name="T26" fmla="*/ 33 w 81"/>
                <a:gd name="T27" fmla="*/ 73 h 158"/>
                <a:gd name="T28" fmla="*/ 41 w 81"/>
                <a:gd name="T29" fmla="*/ 53 h 158"/>
                <a:gd name="T30" fmla="*/ 35 w 81"/>
                <a:gd name="T31" fmla="*/ 35 h 158"/>
                <a:gd name="T32" fmla="*/ 42 w 81"/>
                <a:gd name="T33" fmla="*/ 20 h 158"/>
                <a:gd name="T34" fmla="*/ 29 w 81"/>
                <a:gd name="T35" fmla="*/ 4 h 158"/>
                <a:gd name="T36" fmla="*/ 18 w 81"/>
                <a:gd name="T37" fmla="*/ 7 h 158"/>
                <a:gd name="T38" fmla="*/ 12 w 81"/>
                <a:gd name="T39" fmla="*/ 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6" name="Freeform 52"/>
            <p:cNvSpPr/>
            <p:nvPr/>
          </p:nvSpPr>
          <p:spPr bwMode="ltGray">
            <a:xfrm>
              <a:off x="4436" y="2216"/>
              <a:ext cx="74" cy="74"/>
            </a:xfrm>
            <a:custGeom>
              <a:avLst/>
              <a:gdLst>
                <a:gd name="T0" fmla="*/ 52 w 85"/>
                <a:gd name="T1" fmla="*/ 0 h 105"/>
                <a:gd name="T2" fmla="*/ 44 w 85"/>
                <a:gd name="T3" fmla="*/ 18 h 105"/>
                <a:gd name="T4" fmla="*/ 32 w 85"/>
                <a:gd name="T5" fmla="*/ 30 h 105"/>
                <a:gd name="T6" fmla="*/ 16 w 85"/>
                <a:gd name="T7" fmla="*/ 35 h 105"/>
                <a:gd name="T8" fmla="*/ 8 w 85"/>
                <a:gd name="T9" fmla="*/ 48 h 105"/>
                <a:gd name="T10" fmla="*/ 4 w 85"/>
                <a:gd name="T11" fmla="*/ 74 h 105"/>
                <a:gd name="T12" fmla="*/ 13 w 85"/>
                <a:gd name="T13" fmla="*/ 71 h 105"/>
                <a:gd name="T14" fmla="*/ 25 w 85"/>
                <a:gd name="T15" fmla="*/ 62 h 105"/>
                <a:gd name="T16" fmla="*/ 34 w 85"/>
                <a:gd name="T17" fmla="*/ 69 h 105"/>
                <a:gd name="T18" fmla="*/ 58 w 85"/>
                <a:gd name="T19" fmla="*/ 99 h 105"/>
                <a:gd name="T20" fmla="*/ 71 w 85"/>
                <a:gd name="T21" fmla="*/ 72 h 105"/>
                <a:gd name="T22" fmla="*/ 85 w 85"/>
                <a:gd name="T23" fmla="*/ 68 h 105"/>
                <a:gd name="T24" fmla="*/ 74 w 85"/>
                <a:gd name="T25" fmla="*/ 39 h 105"/>
                <a:gd name="T26" fmla="*/ 52 w 85"/>
                <a:gd name="T27"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7" name="Freeform 53"/>
            <p:cNvSpPr/>
            <p:nvPr/>
          </p:nvSpPr>
          <p:spPr bwMode="ltGray">
            <a:xfrm>
              <a:off x="4524" y="2348"/>
              <a:ext cx="33" cy="46"/>
            </a:xfrm>
            <a:custGeom>
              <a:avLst/>
              <a:gdLst>
                <a:gd name="T0" fmla="*/ 6 w 38"/>
                <a:gd name="T1" fmla="*/ 27 h 66"/>
                <a:gd name="T2" fmla="*/ 26 w 38"/>
                <a:gd name="T3" fmla="*/ 66 h 66"/>
                <a:gd name="T4" fmla="*/ 30 w 38"/>
                <a:gd name="T5" fmla="*/ 52 h 66"/>
                <a:gd name="T6" fmla="*/ 38 w 38"/>
                <a:gd name="T7" fmla="*/ 40 h 66"/>
                <a:gd name="T8" fmla="*/ 30 w 38"/>
                <a:gd name="T9" fmla="*/ 25 h 66"/>
                <a:gd name="T10" fmla="*/ 20 w 38"/>
                <a:gd name="T11" fmla="*/ 13 h 66"/>
                <a:gd name="T12" fmla="*/ 11 w 38"/>
                <a:gd name="T13" fmla="*/ 1 h 66"/>
                <a:gd name="T14" fmla="*/ 2 w 38"/>
                <a:gd name="T15" fmla="*/ 12 h 66"/>
                <a:gd name="T16" fmla="*/ 6 w 38"/>
                <a:gd name="T17"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8" name="Freeform 54"/>
            <p:cNvSpPr/>
            <p:nvPr/>
          </p:nvSpPr>
          <p:spPr bwMode="ltGray">
            <a:xfrm>
              <a:off x="4505" y="2425"/>
              <a:ext cx="21" cy="16"/>
            </a:xfrm>
            <a:custGeom>
              <a:avLst/>
              <a:gdLst>
                <a:gd name="T0" fmla="*/ 0 w 24"/>
                <a:gd name="T1" fmla="*/ 0 h 23"/>
                <a:gd name="T2" fmla="*/ 6 w 24"/>
                <a:gd name="T3" fmla="*/ 23 h 23"/>
                <a:gd name="T4" fmla="*/ 24 w 24"/>
                <a:gd name="T5" fmla="*/ 11 h 23"/>
                <a:gd name="T6" fmla="*/ 0 w 24"/>
                <a:gd name="T7" fmla="*/ 0 h 23"/>
              </a:gdLst>
              <a:ahLst/>
              <a:cxnLst>
                <a:cxn ang="0">
                  <a:pos x="T0" y="T1"/>
                </a:cxn>
                <a:cxn ang="0">
                  <a:pos x="T2" y="T3"/>
                </a:cxn>
                <a:cxn ang="0">
                  <a:pos x="T4" y="T5"/>
                </a:cxn>
                <a:cxn ang="0">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59" name="Freeform 55"/>
            <p:cNvSpPr/>
            <p:nvPr/>
          </p:nvSpPr>
          <p:spPr bwMode="ltGray">
            <a:xfrm>
              <a:off x="4536" y="2415"/>
              <a:ext cx="52" cy="35"/>
            </a:xfrm>
            <a:custGeom>
              <a:avLst/>
              <a:gdLst>
                <a:gd name="T0" fmla="*/ 9 w 60"/>
                <a:gd name="T1" fmla="*/ 0 h 49"/>
                <a:gd name="T2" fmla="*/ 0 w 60"/>
                <a:gd name="T3" fmla="*/ 18 h 49"/>
                <a:gd name="T4" fmla="*/ 28 w 60"/>
                <a:gd name="T5" fmla="*/ 33 h 49"/>
                <a:gd name="T6" fmla="*/ 42 w 60"/>
                <a:gd name="T7" fmla="*/ 46 h 49"/>
                <a:gd name="T8" fmla="*/ 60 w 60"/>
                <a:gd name="T9" fmla="*/ 42 h 49"/>
                <a:gd name="T10" fmla="*/ 49 w 60"/>
                <a:gd name="T11" fmla="*/ 24 h 49"/>
                <a:gd name="T12" fmla="*/ 28 w 60"/>
                <a:gd name="T13" fmla="*/ 3 h 49"/>
                <a:gd name="T14" fmla="*/ 19 w 60"/>
                <a:gd name="T15" fmla="*/ 16 h 49"/>
                <a:gd name="T16" fmla="*/ 9 w 60"/>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0" name="Freeform 56"/>
            <p:cNvSpPr/>
            <p:nvPr/>
          </p:nvSpPr>
          <p:spPr bwMode="ltGray">
            <a:xfrm>
              <a:off x="4616" y="2481"/>
              <a:ext cx="27" cy="31"/>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1" name="Freeform 57"/>
            <p:cNvSpPr/>
            <p:nvPr/>
          </p:nvSpPr>
          <p:spPr bwMode="ltGray">
            <a:xfrm>
              <a:off x="4923" y="2442"/>
              <a:ext cx="53" cy="44"/>
            </a:xfrm>
            <a:custGeom>
              <a:avLst/>
              <a:gdLst>
                <a:gd name="T0" fmla="*/ 7 w 61"/>
                <a:gd name="T1" fmla="*/ 0 h 63"/>
                <a:gd name="T2" fmla="*/ 0 w 61"/>
                <a:gd name="T3" fmla="*/ 14 h 63"/>
                <a:gd name="T4" fmla="*/ 24 w 61"/>
                <a:gd name="T5" fmla="*/ 35 h 63"/>
                <a:gd name="T6" fmla="*/ 36 w 61"/>
                <a:gd name="T7" fmla="*/ 54 h 63"/>
                <a:gd name="T8" fmla="*/ 46 w 61"/>
                <a:gd name="T9" fmla="*/ 63 h 63"/>
                <a:gd name="T10" fmla="*/ 61 w 61"/>
                <a:gd name="T11" fmla="*/ 56 h 63"/>
                <a:gd name="T12" fmla="*/ 33 w 61"/>
                <a:gd name="T13" fmla="*/ 17 h 63"/>
                <a:gd name="T14" fmla="*/ 7 w 61"/>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2" name="Freeform 58"/>
            <p:cNvSpPr/>
            <p:nvPr/>
          </p:nvSpPr>
          <p:spPr bwMode="ltGray">
            <a:xfrm>
              <a:off x="4466" y="2497"/>
              <a:ext cx="53" cy="47"/>
            </a:xfrm>
            <a:custGeom>
              <a:avLst/>
              <a:gdLst>
                <a:gd name="T0" fmla="*/ 28 w 61"/>
                <a:gd name="T1" fmla="*/ 7 h 67"/>
                <a:gd name="T2" fmla="*/ 30 w 61"/>
                <a:gd name="T3" fmla="*/ 34 h 67"/>
                <a:gd name="T4" fmla="*/ 16 w 61"/>
                <a:gd name="T5" fmla="*/ 43 h 67"/>
                <a:gd name="T6" fmla="*/ 22 w 61"/>
                <a:gd name="T7" fmla="*/ 67 h 67"/>
                <a:gd name="T8" fmla="*/ 48 w 61"/>
                <a:gd name="T9" fmla="*/ 58 h 67"/>
                <a:gd name="T10" fmla="*/ 60 w 61"/>
                <a:gd name="T11" fmla="*/ 47 h 67"/>
                <a:gd name="T12" fmla="*/ 51 w 61"/>
                <a:gd name="T13" fmla="*/ 28 h 67"/>
                <a:gd name="T14" fmla="*/ 57 w 61"/>
                <a:gd name="T15" fmla="*/ 14 h 67"/>
                <a:gd name="T16" fmla="*/ 55 w 61"/>
                <a:gd name="T17" fmla="*/ 2 h 67"/>
                <a:gd name="T18" fmla="*/ 46 w 61"/>
                <a:gd name="T19" fmla="*/ 4 h 67"/>
                <a:gd name="T20" fmla="*/ 51 w 61"/>
                <a:gd name="T21" fmla="*/ 5 h 67"/>
                <a:gd name="T22" fmla="*/ 49 w 61"/>
                <a:gd name="T23" fmla="*/ 16 h 67"/>
                <a:gd name="T24" fmla="*/ 43 w 61"/>
                <a:gd name="T25" fmla="*/ 23 h 67"/>
                <a:gd name="T26" fmla="*/ 28 w 61"/>
                <a:gd name="T27" fmla="*/ 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3" name="Freeform 59"/>
            <p:cNvSpPr/>
            <p:nvPr/>
          </p:nvSpPr>
          <p:spPr bwMode="ltGray">
            <a:xfrm>
              <a:off x="4410" y="2515"/>
              <a:ext cx="37" cy="25"/>
            </a:xfrm>
            <a:custGeom>
              <a:avLst/>
              <a:gdLst>
                <a:gd name="T0" fmla="*/ 21 w 43"/>
                <a:gd name="T1" fmla="*/ 3 h 36"/>
                <a:gd name="T2" fmla="*/ 6 w 43"/>
                <a:gd name="T3" fmla="*/ 6 h 36"/>
                <a:gd name="T4" fmla="*/ 33 w 43"/>
                <a:gd name="T5" fmla="*/ 36 h 36"/>
                <a:gd name="T6" fmla="*/ 42 w 43"/>
                <a:gd name="T7" fmla="*/ 30 h 36"/>
                <a:gd name="T8" fmla="*/ 21 w 43"/>
                <a:gd name="T9" fmla="*/ 3 h 36"/>
              </a:gdLst>
              <a:ahLst/>
              <a:cxnLst>
                <a:cxn ang="0">
                  <a:pos x="T0" y="T1"/>
                </a:cxn>
                <a:cxn ang="0">
                  <a:pos x="T2" y="T3"/>
                </a:cxn>
                <a:cxn ang="0">
                  <a:pos x="T4" y="T5"/>
                </a:cxn>
                <a:cxn ang="0">
                  <a:pos x="T6" y="T7"/>
                </a:cxn>
                <a:cxn ang="0">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4" name="Freeform 60"/>
            <p:cNvSpPr/>
            <p:nvPr/>
          </p:nvSpPr>
          <p:spPr bwMode="ltGray">
            <a:xfrm>
              <a:off x="4386" y="2487"/>
              <a:ext cx="27" cy="29"/>
            </a:xfrm>
            <a:custGeom>
              <a:avLst/>
              <a:gdLst>
                <a:gd name="T0" fmla="*/ 21 w 32"/>
                <a:gd name="T1" fmla="*/ 0 h 41"/>
                <a:gd name="T2" fmla="*/ 0 w 32"/>
                <a:gd name="T3" fmla="*/ 26 h 41"/>
                <a:gd name="T4" fmla="*/ 16 w 32"/>
                <a:gd name="T5" fmla="*/ 24 h 41"/>
                <a:gd name="T6" fmla="*/ 19 w 32"/>
                <a:gd name="T7" fmla="*/ 29 h 41"/>
                <a:gd name="T8" fmla="*/ 16 w 32"/>
                <a:gd name="T9" fmla="*/ 35 h 41"/>
                <a:gd name="T10" fmla="*/ 30 w 32"/>
                <a:gd name="T11" fmla="*/ 21 h 41"/>
                <a:gd name="T12" fmla="*/ 24 w 32"/>
                <a:gd name="T13" fmla="*/ 9 h 41"/>
                <a:gd name="T14" fmla="*/ 21 w 32"/>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5" name="Freeform 61"/>
            <p:cNvSpPr/>
            <p:nvPr/>
          </p:nvSpPr>
          <p:spPr bwMode="ltGray">
            <a:xfrm>
              <a:off x="4425" y="2498"/>
              <a:ext cx="39" cy="22"/>
            </a:xfrm>
            <a:custGeom>
              <a:avLst/>
              <a:gdLst>
                <a:gd name="T0" fmla="*/ 21 w 45"/>
                <a:gd name="T1" fmla="*/ 0 h 32"/>
                <a:gd name="T2" fmla="*/ 0 w 45"/>
                <a:gd name="T3" fmla="*/ 7 h 32"/>
                <a:gd name="T4" fmla="*/ 27 w 45"/>
                <a:gd name="T5" fmla="*/ 31 h 32"/>
                <a:gd name="T6" fmla="*/ 45 w 45"/>
                <a:gd name="T7" fmla="*/ 24 h 32"/>
                <a:gd name="T8" fmla="*/ 22 w 45"/>
                <a:gd name="T9" fmla="*/ 10 h 32"/>
                <a:gd name="T10" fmla="*/ 21 w 45"/>
                <a:gd name="T11" fmla="*/ 0 h 32"/>
              </a:gdLst>
              <a:ahLst/>
              <a:cxnLst>
                <a:cxn ang="0">
                  <a:pos x="T0" y="T1"/>
                </a:cxn>
                <a:cxn ang="0">
                  <a:pos x="T2" y="T3"/>
                </a:cxn>
                <a:cxn ang="0">
                  <a:pos x="T4" y="T5"/>
                </a:cxn>
                <a:cxn ang="0">
                  <a:pos x="T6" y="T7"/>
                </a:cxn>
                <a:cxn ang="0">
                  <a:pos x="T8" y="T9"/>
                </a:cxn>
                <a:cxn ang="0">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6" name="Freeform 62"/>
            <p:cNvSpPr/>
            <p:nvPr/>
          </p:nvSpPr>
          <p:spPr bwMode="ltGray">
            <a:xfrm>
              <a:off x="4368" y="2187"/>
              <a:ext cx="31" cy="52"/>
            </a:xfrm>
            <a:custGeom>
              <a:avLst/>
              <a:gdLst>
                <a:gd name="T0" fmla="*/ 30 w 35"/>
                <a:gd name="T1" fmla="*/ 0 h 74"/>
                <a:gd name="T2" fmla="*/ 21 w 35"/>
                <a:gd name="T3" fmla="*/ 15 h 74"/>
                <a:gd name="T4" fmla="*/ 9 w 35"/>
                <a:gd name="T5" fmla="*/ 36 h 74"/>
                <a:gd name="T6" fmla="*/ 0 w 35"/>
                <a:gd name="T7" fmla="*/ 59 h 74"/>
                <a:gd name="T8" fmla="*/ 8 w 35"/>
                <a:gd name="T9" fmla="*/ 74 h 74"/>
                <a:gd name="T10" fmla="*/ 20 w 35"/>
                <a:gd name="T11" fmla="*/ 59 h 74"/>
                <a:gd name="T12" fmla="*/ 35 w 35"/>
                <a:gd name="T13" fmla="*/ 32 h 74"/>
                <a:gd name="T14" fmla="*/ 30 w 3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7" name="Freeform 63"/>
            <p:cNvSpPr/>
            <p:nvPr/>
          </p:nvSpPr>
          <p:spPr bwMode="ltGray">
            <a:xfrm>
              <a:off x="4427" y="2179"/>
              <a:ext cx="22" cy="51"/>
            </a:xfrm>
            <a:custGeom>
              <a:avLst/>
              <a:gdLst>
                <a:gd name="T0" fmla="*/ 13 w 25"/>
                <a:gd name="T1" fmla="*/ 7 h 73"/>
                <a:gd name="T2" fmla="*/ 4 w 25"/>
                <a:gd name="T3" fmla="*/ 8 h 73"/>
                <a:gd name="T4" fmla="*/ 0 w 25"/>
                <a:gd name="T5" fmla="*/ 22 h 73"/>
                <a:gd name="T6" fmla="*/ 15 w 25"/>
                <a:gd name="T7" fmla="*/ 41 h 73"/>
                <a:gd name="T8" fmla="*/ 25 w 25"/>
                <a:gd name="T9" fmla="*/ 56 h 73"/>
                <a:gd name="T10" fmla="*/ 16 w 25"/>
                <a:gd name="T11" fmla="*/ 20 h 73"/>
                <a:gd name="T12" fmla="*/ 13 w 25"/>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8" name="Freeform 64"/>
            <p:cNvSpPr/>
            <p:nvPr/>
          </p:nvSpPr>
          <p:spPr bwMode="ltGray">
            <a:xfrm>
              <a:off x="4452" y="2163"/>
              <a:ext cx="12" cy="23"/>
            </a:xfrm>
            <a:custGeom>
              <a:avLst/>
              <a:gdLst>
                <a:gd name="T0" fmla="*/ 11 w 14"/>
                <a:gd name="T1" fmla="*/ 0 h 33"/>
                <a:gd name="T2" fmla="*/ 1 w 14"/>
                <a:gd name="T3" fmla="*/ 10 h 33"/>
                <a:gd name="T4" fmla="*/ 11 w 14"/>
                <a:gd name="T5" fmla="*/ 25 h 33"/>
                <a:gd name="T6" fmla="*/ 11 w 14"/>
                <a:gd name="T7" fmla="*/ 0 h 33"/>
              </a:gdLst>
              <a:ahLst/>
              <a:cxnLst>
                <a:cxn ang="0">
                  <a:pos x="T0" y="T1"/>
                </a:cxn>
                <a:cxn ang="0">
                  <a:pos x="T2" y="T3"/>
                </a:cxn>
                <a:cxn ang="0">
                  <a:pos x="T4" y="T5"/>
                </a:cxn>
                <a:cxn ang="0">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69" name="Freeform 65"/>
            <p:cNvSpPr/>
            <p:nvPr/>
          </p:nvSpPr>
          <p:spPr bwMode="ltGray">
            <a:xfrm>
              <a:off x="4464" y="2174"/>
              <a:ext cx="24" cy="45"/>
            </a:xfrm>
            <a:custGeom>
              <a:avLst/>
              <a:gdLst>
                <a:gd name="T0" fmla="*/ 5 w 28"/>
                <a:gd name="T1" fmla="*/ 0 h 64"/>
                <a:gd name="T2" fmla="*/ 11 w 28"/>
                <a:gd name="T3" fmla="*/ 14 h 64"/>
                <a:gd name="T4" fmla="*/ 20 w 28"/>
                <a:gd name="T5" fmla="*/ 21 h 64"/>
                <a:gd name="T6" fmla="*/ 8 w 28"/>
                <a:gd name="T7" fmla="*/ 39 h 64"/>
                <a:gd name="T8" fmla="*/ 0 w 28"/>
                <a:gd name="T9" fmla="*/ 56 h 64"/>
                <a:gd name="T10" fmla="*/ 11 w 28"/>
                <a:gd name="T11" fmla="*/ 57 h 64"/>
                <a:gd name="T12" fmla="*/ 26 w 28"/>
                <a:gd name="T13" fmla="*/ 26 h 64"/>
                <a:gd name="T14" fmla="*/ 5 w 28"/>
                <a:gd name="T15" fmla="*/ 0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0" name="Freeform 66"/>
            <p:cNvSpPr/>
            <p:nvPr/>
          </p:nvSpPr>
          <p:spPr bwMode="ltGray">
            <a:xfrm>
              <a:off x="4154" y="2239"/>
              <a:ext cx="14" cy="25"/>
            </a:xfrm>
            <a:custGeom>
              <a:avLst/>
              <a:gdLst>
                <a:gd name="T0" fmla="*/ 14 w 16"/>
                <a:gd name="T1" fmla="*/ 3 h 36"/>
                <a:gd name="T2" fmla="*/ 0 w 16"/>
                <a:gd name="T3" fmla="*/ 7 h 36"/>
                <a:gd name="T4" fmla="*/ 8 w 16"/>
                <a:gd name="T5" fmla="*/ 22 h 36"/>
                <a:gd name="T6" fmla="*/ 14 w 16"/>
                <a:gd name="T7" fmla="*/ 3 h 36"/>
              </a:gdLst>
              <a:ahLst/>
              <a:cxnLst>
                <a:cxn ang="0">
                  <a:pos x="T0" y="T1"/>
                </a:cxn>
                <a:cxn ang="0">
                  <a:pos x="T2" y="T3"/>
                </a:cxn>
                <a:cxn ang="0">
                  <a:pos x="T4" y="T5"/>
                </a:cxn>
                <a:cxn ang="0">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1" name="Freeform 67"/>
            <p:cNvSpPr/>
            <p:nvPr/>
          </p:nvSpPr>
          <p:spPr bwMode="ltGray">
            <a:xfrm>
              <a:off x="4143" y="2217"/>
              <a:ext cx="11"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2" name="Freeform 68"/>
            <p:cNvSpPr/>
            <p:nvPr/>
          </p:nvSpPr>
          <p:spPr bwMode="ltGray">
            <a:xfrm>
              <a:off x="4138" y="2200"/>
              <a:ext cx="14" cy="14"/>
            </a:xfrm>
            <a:custGeom>
              <a:avLst/>
              <a:gdLst>
                <a:gd name="T0" fmla="*/ 10 w 16"/>
                <a:gd name="T1" fmla="*/ 5 h 19"/>
                <a:gd name="T2" fmla="*/ 0 w 16"/>
                <a:gd name="T3" fmla="*/ 10 h 19"/>
                <a:gd name="T4" fmla="*/ 12 w 16"/>
                <a:gd name="T5" fmla="*/ 19 h 19"/>
                <a:gd name="T6" fmla="*/ 10 w 16"/>
                <a:gd name="T7" fmla="*/ 5 h 19"/>
              </a:gdLst>
              <a:ahLst/>
              <a:cxnLst>
                <a:cxn ang="0">
                  <a:pos x="T0" y="T1"/>
                </a:cxn>
                <a:cxn ang="0">
                  <a:pos x="T2" y="T3"/>
                </a:cxn>
                <a:cxn ang="0">
                  <a:pos x="T4" y="T5"/>
                </a:cxn>
                <a:cxn ang="0">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3" name="Freeform 69"/>
            <p:cNvSpPr/>
            <p:nvPr/>
          </p:nvSpPr>
          <p:spPr bwMode="ltGray">
            <a:xfrm>
              <a:off x="4124" y="2163"/>
              <a:ext cx="13" cy="18"/>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4" name="Freeform 70"/>
            <p:cNvSpPr/>
            <p:nvPr/>
          </p:nvSpPr>
          <p:spPr bwMode="ltGray">
            <a:xfrm>
              <a:off x="4127" y="2186"/>
              <a:ext cx="18" cy="13"/>
            </a:xfrm>
            <a:custGeom>
              <a:avLst/>
              <a:gdLst>
                <a:gd name="T0" fmla="*/ 13 w 22"/>
                <a:gd name="T1" fmla="*/ 0 h 18"/>
                <a:gd name="T2" fmla="*/ 19 w 22"/>
                <a:gd name="T3" fmla="*/ 18 h 18"/>
                <a:gd name="T4" fmla="*/ 14 w 22"/>
                <a:gd name="T5" fmla="*/ 6 h 18"/>
                <a:gd name="T6" fmla="*/ 13 w 22"/>
                <a:gd name="T7" fmla="*/ 0 h 18"/>
              </a:gdLst>
              <a:ahLst/>
              <a:cxnLst>
                <a:cxn ang="0">
                  <a:pos x="T0" y="T1"/>
                </a:cxn>
                <a:cxn ang="0">
                  <a:pos x="T2" y="T3"/>
                </a:cxn>
                <a:cxn ang="0">
                  <a:pos x="T4" y="T5"/>
                </a:cxn>
                <a:cxn ang="0">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5" name="Freeform 71"/>
            <p:cNvSpPr/>
            <p:nvPr/>
          </p:nvSpPr>
          <p:spPr bwMode="ltGray">
            <a:xfrm>
              <a:off x="5088" y="2769"/>
              <a:ext cx="52" cy="56"/>
            </a:xfrm>
            <a:custGeom>
              <a:avLst/>
              <a:gdLst>
                <a:gd name="T0" fmla="*/ 10 w 60"/>
                <a:gd name="T1" fmla="*/ 7 h 81"/>
                <a:gd name="T2" fmla="*/ 3 w 60"/>
                <a:gd name="T3" fmla="*/ 18 h 81"/>
                <a:gd name="T4" fmla="*/ 15 w 60"/>
                <a:gd name="T5" fmla="*/ 39 h 81"/>
                <a:gd name="T6" fmla="*/ 27 w 60"/>
                <a:gd name="T7" fmla="*/ 54 h 81"/>
                <a:gd name="T8" fmla="*/ 40 w 60"/>
                <a:gd name="T9" fmla="*/ 63 h 81"/>
                <a:gd name="T10" fmla="*/ 51 w 60"/>
                <a:gd name="T11" fmla="*/ 81 h 81"/>
                <a:gd name="T12" fmla="*/ 52 w 60"/>
                <a:gd name="T13" fmla="*/ 57 h 81"/>
                <a:gd name="T14" fmla="*/ 43 w 60"/>
                <a:gd name="T15" fmla="*/ 37 h 81"/>
                <a:gd name="T16" fmla="*/ 25 w 60"/>
                <a:gd name="T17" fmla="*/ 18 h 81"/>
                <a:gd name="T18" fmla="*/ 10 w 60"/>
                <a:gd name="T19"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6" name="Freeform 72"/>
            <p:cNvSpPr/>
            <p:nvPr/>
          </p:nvSpPr>
          <p:spPr bwMode="ltGray">
            <a:xfrm>
              <a:off x="5354" y="2723"/>
              <a:ext cx="61" cy="43"/>
            </a:xfrm>
            <a:custGeom>
              <a:avLst/>
              <a:gdLst>
                <a:gd name="T0" fmla="*/ 28 w 71"/>
                <a:gd name="T1" fmla="*/ 23 h 61"/>
                <a:gd name="T2" fmla="*/ 13 w 71"/>
                <a:gd name="T3" fmla="*/ 32 h 61"/>
                <a:gd name="T4" fmla="*/ 1 w 71"/>
                <a:gd name="T5" fmla="*/ 44 h 61"/>
                <a:gd name="T6" fmla="*/ 13 w 71"/>
                <a:gd name="T7" fmla="*/ 59 h 61"/>
                <a:gd name="T8" fmla="*/ 28 w 71"/>
                <a:gd name="T9" fmla="*/ 44 h 61"/>
                <a:gd name="T10" fmla="*/ 40 w 71"/>
                <a:gd name="T11" fmla="*/ 23 h 61"/>
                <a:gd name="T12" fmla="*/ 55 w 71"/>
                <a:gd name="T13" fmla="*/ 0 h 61"/>
                <a:gd name="T14" fmla="*/ 71 w 71"/>
                <a:gd name="T15" fmla="*/ 11 h 61"/>
                <a:gd name="T16" fmla="*/ 35 w 71"/>
                <a:gd name="T17" fmla="*/ 23 h 61"/>
                <a:gd name="T18" fmla="*/ 28 w 71"/>
                <a:gd name="T19" fmla="*/ 2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7" name="Freeform 73"/>
            <p:cNvSpPr/>
            <p:nvPr/>
          </p:nvSpPr>
          <p:spPr bwMode="ltGray">
            <a:xfrm>
              <a:off x="5170" y="2700"/>
              <a:ext cx="20" cy="21"/>
            </a:xfrm>
            <a:custGeom>
              <a:avLst/>
              <a:gdLst>
                <a:gd name="T0" fmla="*/ 9 w 23"/>
                <a:gd name="T1" fmla="*/ 0 h 30"/>
                <a:gd name="T2" fmla="*/ 0 w 23"/>
                <a:gd name="T3" fmla="*/ 14 h 30"/>
                <a:gd name="T4" fmla="*/ 12 w 23"/>
                <a:gd name="T5" fmla="*/ 30 h 30"/>
                <a:gd name="T6" fmla="*/ 9 w 23"/>
                <a:gd name="T7" fmla="*/ 0 h 30"/>
              </a:gdLst>
              <a:ahLst/>
              <a:cxnLst>
                <a:cxn ang="0">
                  <a:pos x="T0" y="T1"/>
                </a:cxn>
                <a:cxn ang="0">
                  <a:pos x="T2" y="T3"/>
                </a:cxn>
                <a:cxn ang="0">
                  <a:pos x="T4" y="T5"/>
                </a:cxn>
                <a:cxn ang="0">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8" name="Freeform 74"/>
            <p:cNvSpPr/>
            <p:nvPr/>
          </p:nvSpPr>
          <p:spPr bwMode="ltGray">
            <a:xfrm>
              <a:off x="5161" y="2679"/>
              <a:ext cx="23" cy="16"/>
            </a:xfrm>
            <a:custGeom>
              <a:avLst/>
              <a:gdLst>
                <a:gd name="T0" fmla="*/ 19 w 26"/>
                <a:gd name="T1" fmla="*/ 0 h 23"/>
                <a:gd name="T2" fmla="*/ 0 w 26"/>
                <a:gd name="T3" fmla="*/ 14 h 23"/>
                <a:gd name="T4" fmla="*/ 21 w 26"/>
                <a:gd name="T5" fmla="*/ 20 h 23"/>
                <a:gd name="T6" fmla="*/ 19 w 26"/>
                <a:gd name="T7" fmla="*/ 0 h 23"/>
              </a:gdLst>
              <a:ahLst/>
              <a:cxnLst>
                <a:cxn ang="0">
                  <a:pos x="T0" y="T1"/>
                </a:cxn>
                <a:cxn ang="0">
                  <a:pos x="T2" y="T3"/>
                </a:cxn>
                <a:cxn ang="0">
                  <a:pos x="T4" y="T5"/>
                </a:cxn>
                <a:cxn ang="0">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79" name="Freeform 75"/>
            <p:cNvSpPr/>
            <p:nvPr/>
          </p:nvSpPr>
          <p:spPr bwMode="ltGray">
            <a:xfrm>
              <a:off x="4985" y="2498"/>
              <a:ext cx="27" cy="31"/>
            </a:xfrm>
            <a:custGeom>
              <a:avLst/>
              <a:gdLst>
                <a:gd name="T0" fmla="*/ 28 w 32"/>
                <a:gd name="T1" fmla="*/ 0 h 44"/>
                <a:gd name="T2" fmla="*/ 10 w 32"/>
                <a:gd name="T3" fmla="*/ 11 h 44"/>
                <a:gd name="T4" fmla="*/ 12 w 32"/>
                <a:gd name="T5" fmla="*/ 32 h 44"/>
                <a:gd name="T6" fmla="*/ 24 w 32"/>
                <a:gd name="T7" fmla="*/ 36 h 44"/>
                <a:gd name="T8" fmla="*/ 28 w 32"/>
                <a:gd name="T9" fmla="*/ 0 h 44"/>
              </a:gdLst>
              <a:ahLst/>
              <a:cxnLst>
                <a:cxn ang="0">
                  <a:pos x="T0" y="T1"/>
                </a:cxn>
                <a:cxn ang="0">
                  <a:pos x="T2" y="T3"/>
                </a:cxn>
                <a:cxn ang="0">
                  <a:pos x="T4" y="T5"/>
                </a:cxn>
                <a:cxn ang="0">
                  <a:pos x="T6" y="T7"/>
                </a:cxn>
                <a:cxn ang="0">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0" name="Freeform 76"/>
            <p:cNvSpPr/>
            <p:nvPr/>
          </p:nvSpPr>
          <p:spPr bwMode="ltGray">
            <a:xfrm>
              <a:off x="5024" y="2538"/>
              <a:ext cx="30" cy="31"/>
            </a:xfrm>
            <a:custGeom>
              <a:avLst/>
              <a:gdLst>
                <a:gd name="T0" fmla="*/ 30 w 34"/>
                <a:gd name="T1" fmla="*/ 0 h 44"/>
                <a:gd name="T2" fmla="*/ 10 w 34"/>
                <a:gd name="T3" fmla="*/ 9 h 44"/>
                <a:gd name="T4" fmla="*/ 14 w 34"/>
                <a:gd name="T5" fmla="*/ 32 h 44"/>
                <a:gd name="T6" fmla="*/ 26 w 34"/>
                <a:gd name="T7" fmla="*/ 36 h 44"/>
                <a:gd name="T8" fmla="*/ 30 w 34"/>
                <a:gd name="T9" fmla="*/ 0 h 44"/>
              </a:gdLst>
              <a:ahLst/>
              <a:cxnLst>
                <a:cxn ang="0">
                  <a:pos x="T0" y="T1"/>
                </a:cxn>
                <a:cxn ang="0">
                  <a:pos x="T2" y="T3"/>
                </a:cxn>
                <a:cxn ang="0">
                  <a:pos x="T4" y="T5"/>
                </a:cxn>
                <a:cxn ang="0">
                  <a:pos x="T6" y="T7"/>
                </a:cxn>
                <a:cxn ang="0">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1" name="Freeform 77"/>
            <p:cNvSpPr/>
            <p:nvPr/>
          </p:nvSpPr>
          <p:spPr bwMode="ltGray">
            <a:xfrm>
              <a:off x="5055" y="2597"/>
              <a:ext cx="32" cy="26"/>
            </a:xfrm>
            <a:custGeom>
              <a:avLst/>
              <a:gdLst>
                <a:gd name="T0" fmla="*/ 34 w 38"/>
                <a:gd name="T1" fmla="*/ 2 h 37"/>
                <a:gd name="T2" fmla="*/ 10 w 38"/>
                <a:gd name="T3" fmla="*/ 2 h 37"/>
                <a:gd name="T4" fmla="*/ 14 w 38"/>
                <a:gd name="T5" fmla="*/ 25 h 37"/>
                <a:gd name="T6" fmla="*/ 26 w 38"/>
                <a:gd name="T7" fmla="*/ 29 h 37"/>
                <a:gd name="T8" fmla="*/ 34 w 38"/>
                <a:gd name="T9" fmla="*/ 2 h 37"/>
              </a:gdLst>
              <a:ahLst/>
              <a:cxnLst>
                <a:cxn ang="0">
                  <a:pos x="T0" y="T1"/>
                </a:cxn>
                <a:cxn ang="0">
                  <a:pos x="T2" y="T3"/>
                </a:cxn>
                <a:cxn ang="0">
                  <a:pos x="T4" y="T5"/>
                </a:cxn>
                <a:cxn ang="0">
                  <a:pos x="T6" y="T7"/>
                </a:cxn>
                <a:cxn ang="0">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2" name="Freeform 78"/>
            <p:cNvSpPr/>
            <p:nvPr/>
          </p:nvSpPr>
          <p:spPr bwMode="ltGray">
            <a:xfrm>
              <a:off x="5094" y="2587"/>
              <a:ext cx="32" cy="25"/>
            </a:xfrm>
            <a:custGeom>
              <a:avLst/>
              <a:gdLst>
                <a:gd name="T0" fmla="*/ 34 w 38"/>
                <a:gd name="T1" fmla="*/ 2 h 34"/>
                <a:gd name="T2" fmla="*/ 10 w 38"/>
                <a:gd name="T3" fmla="*/ 2 h 34"/>
                <a:gd name="T4" fmla="*/ 16 w 38"/>
                <a:gd name="T5" fmla="*/ 22 h 34"/>
                <a:gd name="T6" fmla="*/ 27 w 38"/>
                <a:gd name="T7" fmla="*/ 22 h 34"/>
                <a:gd name="T8" fmla="*/ 34 w 38"/>
                <a:gd name="T9" fmla="*/ 2 h 34"/>
              </a:gdLst>
              <a:ahLst/>
              <a:cxnLst>
                <a:cxn ang="0">
                  <a:pos x="T0" y="T1"/>
                </a:cxn>
                <a:cxn ang="0">
                  <a:pos x="T2" y="T3"/>
                </a:cxn>
                <a:cxn ang="0">
                  <a:pos x="T4" y="T5"/>
                </a:cxn>
                <a:cxn ang="0">
                  <a:pos x="T6" y="T7"/>
                </a:cxn>
                <a:cxn ang="0">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3" name="Freeform 79"/>
            <p:cNvSpPr/>
            <p:nvPr/>
          </p:nvSpPr>
          <p:spPr bwMode="ltGray">
            <a:xfrm>
              <a:off x="5083" y="2554"/>
              <a:ext cx="30" cy="19"/>
            </a:xfrm>
            <a:custGeom>
              <a:avLst/>
              <a:gdLst>
                <a:gd name="T0" fmla="*/ 31 w 35"/>
                <a:gd name="T1" fmla="*/ 1 h 27"/>
                <a:gd name="T2" fmla="*/ 10 w 35"/>
                <a:gd name="T3" fmla="*/ 2 h 27"/>
                <a:gd name="T4" fmla="*/ 13 w 35"/>
                <a:gd name="T5" fmla="*/ 15 h 27"/>
                <a:gd name="T6" fmla="*/ 25 w 35"/>
                <a:gd name="T7" fmla="*/ 19 h 27"/>
                <a:gd name="T8" fmla="*/ 31 w 35"/>
                <a:gd name="T9" fmla="*/ 1 h 27"/>
              </a:gdLst>
              <a:ahLst/>
              <a:cxnLst>
                <a:cxn ang="0">
                  <a:pos x="T0" y="T1"/>
                </a:cxn>
                <a:cxn ang="0">
                  <a:pos x="T2" y="T3"/>
                </a:cxn>
                <a:cxn ang="0">
                  <a:pos x="T4" y="T5"/>
                </a:cxn>
                <a:cxn ang="0">
                  <a:pos x="T6" y="T7"/>
                </a:cxn>
                <a:cxn ang="0">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4" name="Freeform 80"/>
            <p:cNvSpPr/>
            <p:nvPr/>
          </p:nvSpPr>
          <p:spPr bwMode="ltGray">
            <a:xfrm>
              <a:off x="5053" y="2530"/>
              <a:ext cx="30" cy="33"/>
            </a:xfrm>
            <a:custGeom>
              <a:avLst/>
              <a:gdLst>
                <a:gd name="T0" fmla="*/ 28 w 35"/>
                <a:gd name="T1" fmla="*/ 16 h 47"/>
                <a:gd name="T2" fmla="*/ 19 w 35"/>
                <a:gd name="T3" fmla="*/ 2 h 47"/>
                <a:gd name="T4" fmla="*/ 10 w 35"/>
                <a:gd name="T5" fmla="*/ 25 h 47"/>
                <a:gd name="T6" fmla="*/ 19 w 35"/>
                <a:gd name="T7" fmla="*/ 35 h 47"/>
                <a:gd name="T8" fmla="*/ 27 w 35"/>
                <a:gd name="T9" fmla="*/ 29 h 47"/>
                <a:gd name="T10" fmla="*/ 28 w 35"/>
                <a:gd name="T11" fmla="*/ 16 h 47"/>
              </a:gdLst>
              <a:ahLst/>
              <a:cxnLst>
                <a:cxn ang="0">
                  <a:pos x="T0" y="T1"/>
                </a:cxn>
                <a:cxn ang="0">
                  <a:pos x="T2" y="T3"/>
                </a:cxn>
                <a:cxn ang="0">
                  <a:pos x="T4" y="T5"/>
                </a:cxn>
                <a:cxn ang="0">
                  <a:pos x="T6" y="T7"/>
                </a:cxn>
                <a:cxn ang="0">
                  <a:pos x="T8" y="T9"/>
                </a:cxn>
                <a:cxn ang="0">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5" name="Freeform 81"/>
            <p:cNvSpPr/>
            <p:nvPr/>
          </p:nvSpPr>
          <p:spPr bwMode="ltGray">
            <a:xfrm>
              <a:off x="5016" y="2516"/>
              <a:ext cx="27" cy="24"/>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6" name="Freeform 82"/>
            <p:cNvSpPr/>
            <p:nvPr/>
          </p:nvSpPr>
          <p:spPr bwMode="ltGray">
            <a:xfrm>
              <a:off x="5062" y="2565"/>
              <a:ext cx="27" cy="24"/>
            </a:xfrm>
            <a:custGeom>
              <a:avLst/>
              <a:gdLst>
                <a:gd name="T0" fmla="*/ 22 w 32"/>
                <a:gd name="T1" fmla="*/ 10 h 35"/>
                <a:gd name="T2" fmla="*/ 10 w 32"/>
                <a:gd name="T3" fmla="*/ 2 h 35"/>
                <a:gd name="T4" fmla="*/ 12 w 32"/>
                <a:gd name="T5" fmla="*/ 23 h 35"/>
                <a:gd name="T6" fmla="*/ 24 w 32"/>
                <a:gd name="T7" fmla="*/ 27 h 35"/>
                <a:gd name="T8" fmla="*/ 22 w 32"/>
                <a:gd name="T9" fmla="*/ 10 h 35"/>
              </a:gdLst>
              <a:ahLst/>
              <a:cxnLst>
                <a:cxn ang="0">
                  <a:pos x="T0" y="T1"/>
                </a:cxn>
                <a:cxn ang="0">
                  <a:pos x="T2" y="T3"/>
                </a:cxn>
                <a:cxn ang="0">
                  <a:pos x="T4" y="T5"/>
                </a:cxn>
                <a:cxn ang="0">
                  <a:pos x="T6" y="T7"/>
                </a:cxn>
                <a:cxn ang="0">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7" name="Freeform 83"/>
            <p:cNvSpPr/>
            <p:nvPr/>
          </p:nvSpPr>
          <p:spPr bwMode="ltGray">
            <a:xfrm>
              <a:off x="3210" y="1280"/>
              <a:ext cx="162" cy="101"/>
            </a:xfrm>
            <a:custGeom>
              <a:avLst/>
              <a:gdLst>
                <a:gd name="T0" fmla="*/ 171 w 189"/>
                <a:gd name="T1" fmla="*/ 4 h 144"/>
                <a:gd name="T2" fmla="*/ 185 w 189"/>
                <a:gd name="T3" fmla="*/ 4 h 144"/>
                <a:gd name="T4" fmla="*/ 189 w 189"/>
                <a:gd name="T5" fmla="*/ 16 h 144"/>
                <a:gd name="T6" fmla="*/ 187 w 189"/>
                <a:gd name="T7" fmla="*/ 24 h 144"/>
                <a:gd name="T8" fmla="*/ 131 w 189"/>
                <a:gd name="T9" fmla="*/ 44 h 144"/>
                <a:gd name="T10" fmla="*/ 109 w 189"/>
                <a:gd name="T11" fmla="*/ 58 h 144"/>
                <a:gd name="T12" fmla="*/ 97 w 189"/>
                <a:gd name="T13" fmla="*/ 62 h 144"/>
                <a:gd name="T14" fmla="*/ 71 w 189"/>
                <a:gd name="T15" fmla="*/ 82 h 144"/>
                <a:gd name="T16" fmla="*/ 75 w 189"/>
                <a:gd name="T17" fmla="*/ 92 h 144"/>
                <a:gd name="T18" fmla="*/ 83 w 189"/>
                <a:gd name="T19" fmla="*/ 116 h 144"/>
                <a:gd name="T20" fmla="*/ 107 w 189"/>
                <a:gd name="T21" fmla="*/ 126 h 144"/>
                <a:gd name="T22" fmla="*/ 93 w 189"/>
                <a:gd name="T23" fmla="*/ 140 h 144"/>
                <a:gd name="T24" fmla="*/ 83 w 189"/>
                <a:gd name="T25" fmla="*/ 130 h 144"/>
                <a:gd name="T26" fmla="*/ 71 w 189"/>
                <a:gd name="T27" fmla="*/ 134 h 144"/>
                <a:gd name="T28" fmla="*/ 21 w 189"/>
                <a:gd name="T29" fmla="*/ 122 h 144"/>
                <a:gd name="T30" fmla="*/ 19 w 189"/>
                <a:gd name="T31" fmla="*/ 106 h 144"/>
                <a:gd name="T32" fmla="*/ 47 w 189"/>
                <a:gd name="T33" fmla="*/ 90 h 144"/>
                <a:gd name="T34" fmla="*/ 51 w 189"/>
                <a:gd name="T35" fmla="*/ 76 h 144"/>
                <a:gd name="T36" fmla="*/ 47 w 189"/>
                <a:gd name="T37" fmla="*/ 64 h 144"/>
                <a:gd name="T38" fmla="*/ 73 w 189"/>
                <a:gd name="T39" fmla="*/ 46 h 144"/>
                <a:gd name="T40" fmla="*/ 97 w 189"/>
                <a:gd name="T41" fmla="*/ 36 h 144"/>
                <a:gd name="T42" fmla="*/ 113 w 189"/>
                <a:gd name="T43" fmla="*/ 24 h 144"/>
                <a:gd name="T44" fmla="*/ 171 w 189"/>
                <a:gd name="T45" fmla="*/ 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8" name="Freeform 84"/>
            <p:cNvSpPr/>
            <p:nvPr/>
          </p:nvSpPr>
          <p:spPr bwMode="ltGray">
            <a:xfrm>
              <a:off x="3307" y="1378"/>
              <a:ext cx="46" cy="11"/>
            </a:xfrm>
            <a:custGeom>
              <a:avLst/>
              <a:gdLst>
                <a:gd name="T0" fmla="*/ 24 w 53"/>
                <a:gd name="T1" fmla="*/ 0 h 17"/>
                <a:gd name="T2" fmla="*/ 12 w 53"/>
                <a:gd name="T3" fmla="*/ 2 h 17"/>
                <a:gd name="T4" fmla="*/ 32 w 53"/>
                <a:gd name="T5" fmla="*/ 16 h 17"/>
                <a:gd name="T6" fmla="*/ 44 w 53"/>
                <a:gd name="T7" fmla="*/ 14 h 17"/>
                <a:gd name="T8" fmla="*/ 24 w 53"/>
                <a:gd name="T9" fmla="*/ 0 h 17"/>
              </a:gdLst>
              <a:ahLst/>
              <a:cxnLst>
                <a:cxn ang="0">
                  <a:pos x="T0" y="T1"/>
                </a:cxn>
                <a:cxn ang="0">
                  <a:pos x="T2" y="T3"/>
                </a:cxn>
                <a:cxn ang="0">
                  <a:pos x="T4" y="T5"/>
                </a:cxn>
                <a:cxn ang="0">
                  <a:pos x="T6" y="T7"/>
                </a:cxn>
                <a:cxn ang="0">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89" name="Freeform 85"/>
            <p:cNvSpPr/>
            <p:nvPr/>
          </p:nvSpPr>
          <p:spPr bwMode="ltGray">
            <a:xfrm>
              <a:off x="3542" y="1232"/>
              <a:ext cx="49" cy="26"/>
            </a:xfrm>
            <a:custGeom>
              <a:avLst/>
              <a:gdLst>
                <a:gd name="T0" fmla="*/ 57 w 57"/>
                <a:gd name="T1" fmla="*/ 4 h 37"/>
                <a:gd name="T2" fmla="*/ 25 w 57"/>
                <a:gd name="T3" fmla="*/ 24 h 37"/>
                <a:gd name="T4" fmla="*/ 11 w 57"/>
                <a:gd name="T5" fmla="*/ 34 h 37"/>
                <a:gd name="T6" fmla="*/ 9 w 57"/>
                <a:gd name="T7" fmla="*/ 4 h 37"/>
                <a:gd name="T8" fmla="*/ 21 w 57"/>
                <a:gd name="T9" fmla="*/ 0 h 37"/>
                <a:gd name="T10" fmla="*/ 57 w 57"/>
                <a:gd name="T11" fmla="*/ 4 h 37"/>
              </a:gdLst>
              <a:ahLst/>
              <a:cxnLst>
                <a:cxn ang="0">
                  <a:pos x="T0" y="T1"/>
                </a:cxn>
                <a:cxn ang="0">
                  <a:pos x="T2" y="T3"/>
                </a:cxn>
                <a:cxn ang="0">
                  <a:pos x="T4" y="T5"/>
                </a:cxn>
                <a:cxn ang="0">
                  <a:pos x="T6" y="T7"/>
                </a:cxn>
                <a:cxn ang="0">
                  <a:pos x="T8" y="T9"/>
                </a:cxn>
                <a:cxn ang="0">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0" name="Freeform 86"/>
            <p:cNvSpPr/>
            <p:nvPr/>
          </p:nvSpPr>
          <p:spPr bwMode="ltGray">
            <a:xfrm>
              <a:off x="3577" y="1244"/>
              <a:ext cx="58" cy="19"/>
            </a:xfrm>
            <a:custGeom>
              <a:avLst/>
              <a:gdLst>
                <a:gd name="T0" fmla="*/ 29 w 68"/>
                <a:gd name="T1" fmla="*/ 0 h 26"/>
                <a:gd name="T2" fmla="*/ 11 w 68"/>
                <a:gd name="T3" fmla="*/ 6 h 26"/>
                <a:gd name="T4" fmla="*/ 57 w 68"/>
                <a:gd name="T5" fmla="*/ 26 h 26"/>
                <a:gd name="T6" fmla="*/ 63 w 68"/>
                <a:gd name="T7" fmla="*/ 24 h 26"/>
                <a:gd name="T8" fmla="*/ 29 w 68"/>
                <a:gd name="T9" fmla="*/ 0 h 26"/>
              </a:gdLst>
              <a:ahLst/>
              <a:cxnLst>
                <a:cxn ang="0">
                  <a:pos x="T0" y="T1"/>
                </a:cxn>
                <a:cxn ang="0">
                  <a:pos x="T2" y="T3"/>
                </a:cxn>
                <a:cxn ang="0">
                  <a:pos x="T4" y="T5"/>
                </a:cxn>
                <a:cxn ang="0">
                  <a:pos x="T6" y="T7"/>
                </a:cxn>
                <a:cxn ang="0">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1" name="Freeform 87"/>
            <p:cNvSpPr/>
            <p:nvPr/>
          </p:nvSpPr>
          <p:spPr bwMode="ltGray">
            <a:xfrm>
              <a:off x="3639" y="1247"/>
              <a:ext cx="58" cy="30"/>
            </a:xfrm>
            <a:custGeom>
              <a:avLst/>
              <a:gdLst>
                <a:gd name="T0" fmla="*/ 50 w 66"/>
                <a:gd name="T1" fmla="*/ 9 h 43"/>
                <a:gd name="T2" fmla="*/ 26 w 66"/>
                <a:gd name="T3" fmla="*/ 9 h 43"/>
                <a:gd name="T4" fmla="*/ 10 w 66"/>
                <a:gd name="T5" fmla="*/ 9 h 43"/>
                <a:gd name="T6" fmla="*/ 8 w 66"/>
                <a:gd name="T7" fmla="*/ 35 h 43"/>
                <a:gd name="T8" fmla="*/ 32 w 66"/>
                <a:gd name="T9" fmla="*/ 43 h 43"/>
                <a:gd name="T10" fmla="*/ 62 w 66"/>
                <a:gd name="T11" fmla="*/ 27 h 43"/>
                <a:gd name="T12" fmla="*/ 50 w 66"/>
                <a:gd name="T13" fmla="*/ 9 h 43"/>
              </a:gdLst>
              <a:ahLst/>
              <a:cxnLst>
                <a:cxn ang="0">
                  <a:pos x="T0" y="T1"/>
                </a:cxn>
                <a:cxn ang="0">
                  <a:pos x="T2" y="T3"/>
                </a:cxn>
                <a:cxn ang="0">
                  <a:pos x="T4" y="T5"/>
                </a:cxn>
                <a:cxn ang="0">
                  <a:pos x="T6" y="T7"/>
                </a:cxn>
                <a:cxn ang="0">
                  <a:pos x="T8" y="T9"/>
                </a:cxn>
                <a:cxn ang="0">
                  <a:pos x="T10" y="T11"/>
                </a:cxn>
                <a:cxn ang="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2" name="Freeform 88"/>
            <p:cNvSpPr/>
            <p:nvPr/>
          </p:nvSpPr>
          <p:spPr bwMode="ltGray">
            <a:xfrm>
              <a:off x="4041" y="1272"/>
              <a:ext cx="101" cy="29"/>
            </a:xfrm>
            <a:custGeom>
              <a:avLst/>
              <a:gdLst>
                <a:gd name="T0" fmla="*/ 14 w 117"/>
                <a:gd name="T1" fmla="*/ 0 h 41"/>
                <a:gd name="T2" fmla="*/ 8 w 117"/>
                <a:gd name="T3" fmla="*/ 16 h 41"/>
                <a:gd name="T4" fmla="*/ 50 w 117"/>
                <a:gd name="T5" fmla="*/ 30 h 41"/>
                <a:gd name="T6" fmla="*/ 76 w 117"/>
                <a:gd name="T7" fmla="*/ 36 h 41"/>
                <a:gd name="T8" fmla="*/ 112 w 117"/>
                <a:gd name="T9" fmla="*/ 22 h 41"/>
                <a:gd name="T10" fmla="*/ 78 w 117"/>
                <a:gd name="T11" fmla="*/ 4 h 41"/>
                <a:gd name="T12" fmla="*/ 14 w 117"/>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3" name="Freeform 89"/>
            <p:cNvSpPr/>
            <p:nvPr/>
          </p:nvSpPr>
          <p:spPr bwMode="ltGray">
            <a:xfrm>
              <a:off x="4144" y="1271"/>
              <a:ext cx="53" cy="23"/>
            </a:xfrm>
            <a:custGeom>
              <a:avLst/>
              <a:gdLst>
                <a:gd name="T0" fmla="*/ 32 w 62"/>
                <a:gd name="T1" fmla="*/ 4 h 32"/>
                <a:gd name="T2" fmla="*/ 62 w 62"/>
                <a:gd name="T3" fmla="*/ 10 h 32"/>
                <a:gd name="T4" fmla="*/ 30 w 62"/>
                <a:gd name="T5" fmla="*/ 32 h 32"/>
                <a:gd name="T6" fmla="*/ 6 w 62"/>
                <a:gd name="T7" fmla="*/ 22 h 32"/>
                <a:gd name="T8" fmla="*/ 32 w 62"/>
                <a:gd name="T9" fmla="*/ 4 h 32"/>
              </a:gdLst>
              <a:ahLst/>
              <a:cxnLst>
                <a:cxn ang="0">
                  <a:pos x="T0" y="T1"/>
                </a:cxn>
                <a:cxn ang="0">
                  <a:pos x="T2" y="T3"/>
                </a:cxn>
                <a:cxn ang="0">
                  <a:pos x="T4" y="T5"/>
                </a:cxn>
                <a:cxn ang="0">
                  <a:pos x="T6" y="T7"/>
                </a:cxn>
                <a:cxn ang="0">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4" name="Freeform 90"/>
            <p:cNvSpPr/>
            <p:nvPr/>
          </p:nvSpPr>
          <p:spPr bwMode="ltGray">
            <a:xfrm>
              <a:off x="4120" y="1298"/>
              <a:ext cx="42" cy="16"/>
            </a:xfrm>
            <a:custGeom>
              <a:avLst/>
              <a:gdLst>
                <a:gd name="T0" fmla="*/ 20 w 49"/>
                <a:gd name="T1" fmla="*/ 1 h 23"/>
                <a:gd name="T2" fmla="*/ 6 w 49"/>
                <a:gd name="T3" fmla="*/ 5 h 23"/>
                <a:gd name="T4" fmla="*/ 38 w 49"/>
                <a:gd name="T5" fmla="*/ 23 h 23"/>
                <a:gd name="T6" fmla="*/ 20 w 49"/>
                <a:gd name="T7" fmla="*/ 1 h 23"/>
              </a:gdLst>
              <a:ahLst/>
              <a:cxnLst>
                <a:cxn ang="0">
                  <a:pos x="T0" y="T1"/>
                </a:cxn>
                <a:cxn ang="0">
                  <a:pos x="T2" y="T3"/>
                </a:cxn>
                <a:cxn ang="0">
                  <a:pos x="T4" y="T5"/>
                </a:cxn>
                <a:cxn ang="0">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5" name="Freeform 91"/>
            <p:cNvSpPr/>
            <p:nvPr/>
          </p:nvSpPr>
          <p:spPr bwMode="ltGray">
            <a:xfrm>
              <a:off x="4410" y="1508"/>
              <a:ext cx="87" cy="106"/>
            </a:xfrm>
            <a:custGeom>
              <a:avLst/>
              <a:gdLst>
                <a:gd name="T0" fmla="*/ 6 w 102"/>
                <a:gd name="T1" fmla="*/ 0 h 152"/>
                <a:gd name="T2" fmla="*/ 0 w 102"/>
                <a:gd name="T3" fmla="*/ 18 h 152"/>
                <a:gd name="T4" fmla="*/ 14 w 102"/>
                <a:gd name="T5" fmla="*/ 42 h 152"/>
                <a:gd name="T6" fmla="*/ 32 w 102"/>
                <a:gd name="T7" fmla="*/ 72 h 152"/>
                <a:gd name="T8" fmla="*/ 36 w 102"/>
                <a:gd name="T9" fmla="*/ 104 h 152"/>
                <a:gd name="T10" fmla="*/ 80 w 102"/>
                <a:gd name="T11" fmla="*/ 152 h 152"/>
                <a:gd name="T12" fmla="*/ 86 w 102"/>
                <a:gd name="T13" fmla="*/ 124 h 152"/>
                <a:gd name="T14" fmla="*/ 74 w 102"/>
                <a:gd name="T15" fmla="*/ 102 h 152"/>
                <a:gd name="T16" fmla="*/ 62 w 102"/>
                <a:gd name="T17" fmla="*/ 92 h 152"/>
                <a:gd name="T18" fmla="*/ 52 w 102"/>
                <a:gd name="T19" fmla="*/ 74 h 152"/>
                <a:gd name="T20" fmla="*/ 42 w 102"/>
                <a:gd name="T21" fmla="*/ 44 h 152"/>
                <a:gd name="T22" fmla="*/ 4 w 102"/>
                <a:gd name="T23" fmla="*/ 12 h 152"/>
                <a:gd name="T24" fmla="*/ 6 w 102"/>
                <a:gd name="T25"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grpFill/>
            <a:ln>
              <a:noFill/>
            </a:ln>
            <a:effectLst/>
          </p:spPr>
          <p:txBody>
            <a:bodyPr/>
            <a:lstStyle/>
            <a:p>
              <a:pPr>
                <a:defRPr/>
              </a:pPr>
              <a:endParaRPr lang="zh-CN" altLang="en-US">
                <a:solidFill>
                  <a:schemeClr val="bg1">
                    <a:lumMod val="95000"/>
                  </a:schemeClr>
                </a:solidFill>
              </a:endParaRPr>
            </a:p>
          </p:txBody>
        </p:sp>
        <p:sp>
          <p:nvSpPr>
            <p:cNvPr id="96" name="Freeform 92"/>
            <p:cNvSpPr/>
            <p:nvPr/>
          </p:nvSpPr>
          <p:spPr bwMode="ltGray">
            <a:xfrm>
              <a:off x="4480" y="1618"/>
              <a:ext cx="63" cy="73"/>
            </a:xfrm>
            <a:custGeom>
              <a:avLst/>
              <a:gdLst>
                <a:gd name="T0" fmla="*/ 64 w 74"/>
                <a:gd name="T1" fmla="*/ 22 h 103"/>
                <a:gd name="T2" fmla="*/ 74 w 74"/>
                <a:gd name="T3" fmla="*/ 40 h 103"/>
                <a:gd name="T4" fmla="*/ 30 w 74"/>
                <a:gd name="T5" fmla="*/ 84 h 103"/>
                <a:gd name="T6" fmla="*/ 32 w 74"/>
                <a:gd name="T7" fmla="*/ 100 h 103"/>
                <a:gd name="T8" fmla="*/ 20 w 74"/>
                <a:gd name="T9" fmla="*/ 94 h 103"/>
                <a:gd name="T10" fmla="*/ 6 w 74"/>
                <a:gd name="T11" fmla="*/ 84 h 103"/>
                <a:gd name="T12" fmla="*/ 0 w 74"/>
                <a:gd name="T13" fmla="*/ 82 h 103"/>
                <a:gd name="T14" fmla="*/ 10 w 74"/>
                <a:gd name="T15" fmla="*/ 58 h 103"/>
                <a:gd name="T16" fmla="*/ 12 w 74"/>
                <a:gd name="T17" fmla="*/ 52 h 103"/>
                <a:gd name="T18" fmla="*/ 2 w 74"/>
                <a:gd name="T19" fmla="*/ 24 h 103"/>
                <a:gd name="T20" fmla="*/ 4 w 74"/>
                <a:gd name="T21" fmla="*/ 14 h 103"/>
                <a:gd name="T22" fmla="*/ 26 w 74"/>
                <a:gd name="T23" fmla="*/ 22 h 103"/>
                <a:gd name="T24" fmla="*/ 36 w 74"/>
                <a:gd name="T25" fmla="*/ 36 h 103"/>
                <a:gd name="T26" fmla="*/ 64 w 74"/>
                <a:gd name="T27" fmla="*/ 2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7" name="Freeform 93"/>
            <p:cNvSpPr/>
            <p:nvPr/>
          </p:nvSpPr>
          <p:spPr bwMode="ltGray">
            <a:xfrm>
              <a:off x="4438" y="1693"/>
              <a:ext cx="126" cy="176"/>
            </a:xfrm>
            <a:custGeom>
              <a:avLst/>
              <a:gdLst>
                <a:gd name="T0" fmla="*/ 82 w 146"/>
                <a:gd name="T1" fmla="*/ 100 h 252"/>
                <a:gd name="T2" fmla="*/ 66 w 146"/>
                <a:gd name="T3" fmla="*/ 106 h 252"/>
                <a:gd name="T4" fmla="*/ 64 w 146"/>
                <a:gd name="T5" fmla="*/ 132 h 252"/>
                <a:gd name="T6" fmla="*/ 22 w 146"/>
                <a:gd name="T7" fmla="*/ 146 h 252"/>
                <a:gd name="T8" fmla="*/ 8 w 146"/>
                <a:gd name="T9" fmla="*/ 168 h 252"/>
                <a:gd name="T10" fmla="*/ 20 w 146"/>
                <a:gd name="T11" fmla="*/ 182 h 252"/>
                <a:gd name="T12" fmla="*/ 8 w 146"/>
                <a:gd name="T13" fmla="*/ 198 h 252"/>
                <a:gd name="T14" fmla="*/ 24 w 146"/>
                <a:gd name="T15" fmla="*/ 252 h 252"/>
                <a:gd name="T16" fmla="*/ 28 w 146"/>
                <a:gd name="T17" fmla="*/ 214 h 252"/>
                <a:gd name="T18" fmla="*/ 22 w 146"/>
                <a:gd name="T19" fmla="*/ 192 h 252"/>
                <a:gd name="T20" fmla="*/ 42 w 146"/>
                <a:gd name="T21" fmla="*/ 176 h 252"/>
                <a:gd name="T22" fmla="*/ 52 w 146"/>
                <a:gd name="T23" fmla="*/ 158 h 252"/>
                <a:gd name="T24" fmla="*/ 66 w 146"/>
                <a:gd name="T25" fmla="*/ 174 h 252"/>
                <a:gd name="T26" fmla="*/ 44 w 146"/>
                <a:gd name="T27" fmla="*/ 190 h 252"/>
                <a:gd name="T28" fmla="*/ 56 w 146"/>
                <a:gd name="T29" fmla="*/ 200 h 252"/>
                <a:gd name="T30" fmla="*/ 68 w 146"/>
                <a:gd name="T31" fmla="*/ 178 h 252"/>
                <a:gd name="T32" fmla="*/ 84 w 146"/>
                <a:gd name="T33" fmla="*/ 184 h 252"/>
                <a:gd name="T34" fmla="*/ 104 w 146"/>
                <a:gd name="T35" fmla="*/ 148 h 252"/>
                <a:gd name="T36" fmla="*/ 114 w 146"/>
                <a:gd name="T37" fmla="*/ 156 h 252"/>
                <a:gd name="T38" fmla="*/ 136 w 146"/>
                <a:gd name="T39" fmla="*/ 148 h 252"/>
                <a:gd name="T40" fmla="*/ 146 w 146"/>
                <a:gd name="T41" fmla="*/ 130 h 252"/>
                <a:gd name="T42" fmla="*/ 142 w 146"/>
                <a:gd name="T43" fmla="*/ 110 h 252"/>
                <a:gd name="T44" fmla="*/ 134 w 146"/>
                <a:gd name="T45" fmla="*/ 98 h 252"/>
                <a:gd name="T46" fmla="*/ 122 w 146"/>
                <a:gd name="T47" fmla="*/ 40 h 252"/>
                <a:gd name="T48" fmla="*/ 94 w 146"/>
                <a:gd name="T49" fmla="*/ 0 h 252"/>
                <a:gd name="T50" fmla="*/ 78 w 146"/>
                <a:gd name="T51" fmla="*/ 12 h 252"/>
                <a:gd name="T52" fmla="*/ 96 w 146"/>
                <a:gd name="T53" fmla="*/ 34 h 252"/>
                <a:gd name="T54" fmla="*/ 96 w 146"/>
                <a:gd name="T55" fmla="*/ 64 h 252"/>
                <a:gd name="T56" fmla="*/ 82 w 146"/>
                <a:gd name="T57" fmla="*/ 10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8" name="Freeform 94"/>
            <p:cNvSpPr/>
            <p:nvPr/>
          </p:nvSpPr>
          <p:spPr bwMode="ltGray">
            <a:xfrm>
              <a:off x="3218" y="1222"/>
              <a:ext cx="60" cy="28"/>
            </a:xfrm>
            <a:custGeom>
              <a:avLst/>
              <a:gdLst>
                <a:gd name="T0" fmla="*/ 59 w 70"/>
                <a:gd name="T1" fmla="*/ 0 h 40"/>
                <a:gd name="T2" fmla="*/ 65 w 70"/>
                <a:gd name="T3" fmla="*/ 20 h 40"/>
                <a:gd name="T4" fmla="*/ 41 w 70"/>
                <a:gd name="T5" fmla="*/ 24 h 40"/>
                <a:gd name="T6" fmla="*/ 31 w 70"/>
                <a:gd name="T7" fmla="*/ 40 h 40"/>
                <a:gd name="T8" fmla="*/ 7 w 70"/>
                <a:gd name="T9" fmla="*/ 38 h 40"/>
                <a:gd name="T10" fmla="*/ 1 w 70"/>
                <a:gd name="T11" fmla="*/ 36 h 40"/>
                <a:gd name="T12" fmla="*/ 33 w 70"/>
                <a:gd name="T13" fmla="*/ 20 h 40"/>
                <a:gd name="T14" fmla="*/ 59 w 70"/>
                <a:gd name="T15" fmla="*/ 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99" name="Freeform 95"/>
            <p:cNvSpPr/>
            <p:nvPr/>
          </p:nvSpPr>
          <p:spPr bwMode="ltGray">
            <a:xfrm>
              <a:off x="3095" y="1230"/>
              <a:ext cx="22" cy="21"/>
            </a:xfrm>
            <a:custGeom>
              <a:avLst/>
              <a:gdLst>
                <a:gd name="T0" fmla="*/ 18 w 26"/>
                <a:gd name="T1" fmla="*/ 0 h 29"/>
                <a:gd name="T2" fmla="*/ 0 w 26"/>
                <a:gd name="T3" fmla="*/ 18 h 29"/>
                <a:gd name="T4" fmla="*/ 18 w 26"/>
                <a:gd name="T5" fmla="*/ 26 h 29"/>
                <a:gd name="T6" fmla="*/ 18 w 26"/>
                <a:gd name="T7" fmla="*/ 0 h 29"/>
              </a:gdLst>
              <a:ahLst/>
              <a:cxnLst>
                <a:cxn ang="0">
                  <a:pos x="T0" y="T1"/>
                </a:cxn>
                <a:cxn ang="0">
                  <a:pos x="T2" y="T3"/>
                </a:cxn>
                <a:cxn ang="0">
                  <a:pos x="T4" y="T5"/>
                </a:cxn>
                <a:cxn ang="0">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0" name="Freeform 96"/>
            <p:cNvSpPr/>
            <p:nvPr/>
          </p:nvSpPr>
          <p:spPr bwMode="ltGray">
            <a:xfrm>
              <a:off x="3123" y="1229"/>
              <a:ext cx="42" cy="25"/>
            </a:xfrm>
            <a:custGeom>
              <a:avLst/>
              <a:gdLst>
                <a:gd name="T0" fmla="*/ 14 w 49"/>
                <a:gd name="T1" fmla="*/ 6 h 36"/>
                <a:gd name="T2" fmla="*/ 0 w 49"/>
                <a:gd name="T3" fmla="*/ 18 h 36"/>
                <a:gd name="T4" fmla="*/ 6 w 49"/>
                <a:gd name="T5" fmla="*/ 32 h 36"/>
                <a:gd name="T6" fmla="*/ 18 w 49"/>
                <a:gd name="T7" fmla="*/ 36 h 36"/>
                <a:gd name="T8" fmla="*/ 40 w 49"/>
                <a:gd name="T9" fmla="*/ 26 h 36"/>
                <a:gd name="T10" fmla="*/ 14 w 49"/>
                <a:gd name="T11" fmla="*/ 6 h 36"/>
              </a:gdLst>
              <a:ahLst/>
              <a:cxnLst>
                <a:cxn ang="0">
                  <a:pos x="T0" y="T1"/>
                </a:cxn>
                <a:cxn ang="0">
                  <a:pos x="T2" y="T3"/>
                </a:cxn>
                <a:cxn ang="0">
                  <a:pos x="T4" y="T5"/>
                </a:cxn>
                <a:cxn ang="0">
                  <a:pos x="T6" y="T7"/>
                </a:cxn>
                <a:cxn ang="0">
                  <a:pos x="T8" y="T9"/>
                </a:cxn>
                <a:cxn ang="0">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1" name="Freeform 97"/>
            <p:cNvSpPr/>
            <p:nvPr/>
          </p:nvSpPr>
          <p:spPr bwMode="ltGray">
            <a:xfrm>
              <a:off x="3193" y="1221"/>
              <a:ext cx="23" cy="15"/>
            </a:xfrm>
            <a:custGeom>
              <a:avLst/>
              <a:gdLst>
                <a:gd name="T0" fmla="*/ 11 w 27"/>
                <a:gd name="T1" fmla="*/ 0 h 22"/>
                <a:gd name="T2" fmla="*/ 3 w 27"/>
                <a:gd name="T3" fmla="*/ 12 h 22"/>
                <a:gd name="T4" fmla="*/ 19 w 27"/>
                <a:gd name="T5" fmla="*/ 22 h 22"/>
                <a:gd name="T6" fmla="*/ 11 w 27"/>
                <a:gd name="T7" fmla="*/ 0 h 22"/>
              </a:gdLst>
              <a:ahLst/>
              <a:cxnLst>
                <a:cxn ang="0">
                  <a:pos x="T0" y="T1"/>
                </a:cxn>
                <a:cxn ang="0">
                  <a:pos x="T2" y="T3"/>
                </a:cxn>
                <a:cxn ang="0">
                  <a:pos x="T4" y="T5"/>
                </a:cxn>
                <a:cxn ang="0">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2" name="Freeform 98"/>
            <p:cNvSpPr/>
            <p:nvPr/>
          </p:nvSpPr>
          <p:spPr bwMode="ltGray">
            <a:xfrm>
              <a:off x="3172" y="1237"/>
              <a:ext cx="17" cy="13"/>
            </a:xfrm>
            <a:custGeom>
              <a:avLst/>
              <a:gdLst>
                <a:gd name="T0" fmla="*/ 11 w 20"/>
                <a:gd name="T1" fmla="*/ 0 h 18"/>
                <a:gd name="T2" fmla="*/ 9 w 20"/>
                <a:gd name="T3" fmla="*/ 18 h 18"/>
                <a:gd name="T4" fmla="*/ 11 w 20"/>
                <a:gd name="T5" fmla="*/ 0 h 18"/>
              </a:gdLst>
              <a:ahLst/>
              <a:cxnLst>
                <a:cxn ang="0">
                  <a:pos x="T0" y="T1"/>
                </a:cxn>
                <a:cxn ang="0">
                  <a:pos x="T2" y="T3"/>
                </a:cxn>
                <a:cxn ang="0">
                  <a:pos x="T4" y="T5"/>
                </a:cxn>
              </a:cxnLst>
              <a:rect l="0" t="0" r="r" b="b"/>
              <a:pathLst>
                <a:path w="20" h="18">
                  <a:moveTo>
                    <a:pt x="11" y="0"/>
                  </a:moveTo>
                  <a:cubicBezTo>
                    <a:pt x="1" y="14"/>
                    <a:pt x="0" y="9"/>
                    <a:pt x="9" y="18"/>
                  </a:cubicBezTo>
                  <a:cubicBezTo>
                    <a:pt x="20" y="14"/>
                    <a:pt x="16" y="18"/>
                    <a:pt x="11"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3" name="Freeform 99"/>
            <p:cNvSpPr/>
            <p:nvPr/>
          </p:nvSpPr>
          <p:spPr bwMode="ltGray">
            <a:xfrm>
              <a:off x="4483" y="1252"/>
              <a:ext cx="21" cy="31"/>
            </a:xfrm>
            <a:custGeom>
              <a:avLst/>
              <a:gdLst>
                <a:gd name="T0" fmla="*/ 24 w 24"/>
                <a:gd name="T1" fmla="*/ 0 h 44"/>
                <a:gd name="T2" fmla="*/ 8 w 24"/>
                <a:gd name="T3" fmla="*/ 16 h 44"/>
                <a:gd name="T4" fmla="*/ 0 w 24"/>
                <a:gd name="T5" fmla="*/ 34 h 44"/>
                <a:gd name="T6" fmla="*/ 16 w 24"/>
                <a:gd name="T7" fmla="*/ 40 h 44"/>
                <a:gd name="T8" fmla="*/ 24 w 24"/>
                <a:gd name="T9" fmla="*/ 0 h 44"/>
              </a:gdLst>
              <a:ahLst/>
              <a:cxnLst>
                <a:cxn ang="0">
                  <a:pos x="T0" y="T1"/>
                </a:cxn>
                <a:cxn ang="0">
                  <a:pos x="T2" y="T3"/>
                </a:cxn>
                <a:cxn ang="0">
                  <a:pos x="T4" y="T5"/>
                </a:cxn>
                <a:cxn ang="0">
                  <a:pos x="T6" y="T7"/>
                </a:cxn>
                <a:cxn ang="0">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4" name="Freeform 100"/>
            <p:cNvSpPr/>
            <p:nvPr/>
          </p:nvSpPr>
          <p:spPr bwMode="ltGray">
            <a:xfrm>
              <a:off x="3467" y="2610"/>
              <a:ext cx="35" cy="17"/>
            </a:xfrm>
            <a:custGeom>
              <a:avLst/>
              <a:gdLst>
                <a:gd name="T0" fmla="*/ 30 w 41"/>
                <a:gd name="T1" fmla="*/ 0 h 24"/>
                <a:gd name="T2" fmla="*/ 26 w 41"/>
                <a:gd name="T3" fmla="*/ 24 h 24"/>
                <a:gd name="T4" fmla="*/ 30 w 41"/>
                <a:gd name="T5" fmla="*/ 0 h 24"/>
              </a:gdLst>
              <a:ahLst/>
              <a:cxnLst>
                <a:cxn ang="0">
                  <a:pos x="T0" y="T1"/>
                </a:cxn>
                <a:cxn ang="0">
                  <a:pos x="T2" y="T3"/>
                </a:cxn>
                <a:cxn ang="0">
                  <a:pos x="T4" y="T5"/>
                </a:cxn>
              </a:cxnLst>
              <a:rect l="0" t="0" r="r" b="b"/>
              <a:pathLst>
                <a:path w="41" h="24">
                  <a:moveTo>
                    <a:pt x="30" y="0"/>
                  </a:moveTo>
                  <a:cubicBezTo>
                    <a:pt x="4" y="4"/>
                    <a:pt x="0" y="17"/>
                    <a:pt x="26" y="24"/>
                  </a:cubicBezTo>
                  <a:cubicBezTo>
                    <a:pt x="41" y="19"/>
                    <a:pt x="38" y="10"/>
                    <a:pt x="30"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5" name="Freeform 101"/>
            <p:cNvSpPr/>
            <p:nvPr/>
          </p:nvSpPr>
          <p:spPr bwMode="ltGray">
            <a:xfrm>
              <a:off x="3513" y="2603"/>
              <a:ext cx="11"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6" name="Freeform 102"/>
            <p:cNvSpPr/>
            <p:nvPr/>
          </p:nvSpPr>
          <p:spPr bwMode="ltGray">
            <a:xfrm>
              <a:off x="3436" y="2459"/>
              <a:ext cx="10"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7" name="Freeform 103"/>
            <p:cNvSpPr/>
            <p:nvPr/>
          </p:nvSpPr>
          <p:spPr bwMode="ltGray">
            <a:xfrm>
              <a:off x="3505" y="2391"/>
              <a:ext cx="12" cy="18"/>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8" name="Freeform 104"/>
            <p:cNvSpPr/>
            <p:nvPr/>
          </p:nvSpPr>
          <p:spPr bwMode="ltGray">
            <a:xfrm>
              <a:off x="3477" y="2390"/>
              <a:ext cx="13" cy="18"/>
            </a:xfrm>
            <a:custGeom>
              <a:avLst/>
              <a:gdLst>
                <a:gd name="T0" fmla="*/ 6 w 14"/>
                <a:gd name="T1" fmla="*/ 0 h 25"/>
                <a:gd name="T2" fmla="*/ 0 w 14"/>
                <a:gd name="T3" fmla="*/ 13 h 25"/>
                <a:gd name="T4" fmla="*/ 12 w 14"/>
                <a:gd name="T5" fmla="*/ 24 h 25"/>
                <a:gd name="T6" fmla="*/ 6 w 14"/>
                <a:gd name="T7" fmla="*/ 0 h 25"/>
              </a:gdLst>
              <a:ahLst/>
              <a:cxnLst>
                <a:cxn ang="0">
                  <a:pos x="T0" y="T1"/>
                </a:cxn>
                <a:cxn ang="0">
                  <a:pos x="T2" y="T3"/>
                </a:cxn>
                <a:cxn ang="0">
                  <a:pos x="T4" y="T5"/>
                </a:cxn>
                <a:cxn ang="0">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09" name="Freeform 105"/>
            <p:cNvSpPr/>
            <p:nvPr/>
          </p:nvSpPr>
          <p:spPr bwMode="ltGray">
            <a:xfrm>
              <a:off x="3464" y="2411"/>
              <a:ext cx="12"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0" name="Freeform 106"/>
            <p:cNvSpPr/>
            <p:nvPr/>
          </p:nvSpPr>
          <p:spPr bwMode="ltGray">
            <a:xfrm>
              <a:off x="3436" y="2443"/>
              <a:ext cx="10"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1" name="Freeform 107"/>
            <p:cNvSpPr/>
            <p:nvPr/>
          </p:nvSpPr>
          <p:spPr bwMode="ltGray">
            <a:xfrm>
              <a:off x="3457" y="2430"/>
              <a:ext cx="12"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2" name="Freeform 108"/>
            <p:cNvSpPr/>
            <p:nvPr/>
          </p:nvSpPr>
          <p:spPr bwMode="ltGray">
            <a:xfrm>
              <a:off x="2614" y="1507"/>
              <a:ext cx="12"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3" name="Freeform 109"/>
            <p:cNvSpPr/>
            <p:nvPr/>
          </p:nvSpPr>
          <p:spPr bwMode="ltGray">
            <a:xfrm>
              <a:off x="2544" y="1475"/>
              <a:ext cx="12" cy="14"/>
            </a:xfrm>
            <a:custGeom>
              <a:avLst/>
              <a:gdLst>
                <a:gd name="T0" fmla="*/ 10 w 13"/>
                <a:gd name="T1" fmla="*/ 5 h 20"/>
                <a:gd name="T2" fmla="*/ 1 w 13"/>
                <a:gd name="T3" fmla="*/ 11 h 20"/>
                <a:gd name="T4" fmla="*/ 9 w 13"/>
                <a:gd name="T5" fmla="*/ 20 h 20"/>
                <a:gd name="T6" fmla="*/ 10 w 13"/>
                <a:gd name="T7" fmla="*/ 5 h 20"/>
              </a:gdLst>
              <a:ahLst/>
              <a:cxnLst>
                <a:cxn ang="0">
                  <a:pos x="T0" y="T1"/>
                </a:cxn>
                <a:cxn ang="0">
                  <a:pos x="T2" y="T3"/>
                </a:cxn>
                <a:cxn ang="0">
                  <a:pos x="T4" y="T5"/>
                </a:cxn>
                <a:cxn ang="0">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ffectLst/>
          </p:spPr>
          <p:txBody>
            <a:bodyPr/>
            <a:lstStyle/>
            <a:p>
              <a:pPr>
                <a:defRPr/>
              </a:pPr>
              <a:endParaRPr lang="zh-CN" altLang="en-US">
                <a:solidFill>
                  <a:schemeClr val="bg1">
                    <a:lumMod val="95000"/>
                  </a:schemeClr>
                </a:solidFill>
              </a:endParaRPr>
            </a:p>
          </p:txBody>
        </p:sp>
        <p:sp>
          <p:nvSpPr>
            <p:cNvPr id="114" name="Freeform 110"/>
            <p:cNvSpPr/>
            <p:nvPr userDrawn="1"/>
          </p:nvSpPr>
          <p:spPr bwMode="ltGray">
            <a:xfrm>
              <a:off x="2270" y="1272"/>
              <a:ext cx="2370" cy="1537"/>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grpFill/>
            <a:ln>
              <a:noFill/>
            </a:ln>
            <a:effectLst/>
          </p:spPr>
          <p:txBody>
            <a:bodyPr/>
            <a:lstStyle/>
            <a:p>
              <a:pPr>
                <a:defRPr/>
              </a:pPr>
              <a:endParaRPr lang="zh-CN" altLang="en-US">
                <a:solidFill>
                  <a:schemeClr val="bg1">
                    <a:lumMod val="95000"/>
                  </a:schemeClr>
                </a:solidFill>
              </a:endParaRPr>
            </a:p>
          </p:txBody>
        </p:sp>
      </p:grpSp>
      <p:sp>
        <p:nvSpPr>
          <p:cNvPr id="3" name="文本占位符 2"/>
          <p:cNvSpPr>
            <a:spLocks noGrp="1"/>
          </p:cNvSpPr>
          <p:nvPr>
            <p:ph type="body" idx="1"/>
          </p:nvPr>
        </p:nvSpPr>
        <p:spPr>
          <a:xfrm>
            <a:off x="838200" y="1676312"/>
            <a:ext cx="10515600" cy="4432919"/>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占位符 1"/>
          <p:cNvSpPr>
            <a:spLocks noGrp="1"/>
          </p:cNvSpPr>
          <p:nvPr>
            <p:ph type="title"/>
          </p:nvPr>
        </p:nvSpPr>
        <p:spPr>
          <a:xfrm>
            <a:off x="499538" y="730338"/>
            <a:ext cx="11192068" cy="74355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87D2A0-41FC-4CAD-9011-ADD636B57C2E}" type="datetimeFigureOut">
              <a:rPr lang="zh-CN" altLang="en-US" smtClean="0"/>
              <a:t>2022/9/21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r>
              <a:rPr lang="en-US" altLang="zh-CN" dirty="0" err="1"/>
              <a:t>Innosilicon</a:t>
            </a:r>
            <a:r>
              <a:rPr lang="en-US" altLang="zh-CN" dirty="0"/>
              <a:t> Confidential</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41863-9EF4-46C2-9395-7A848270419A}" type="slidenum">
              <a:rPr lang="zh-CN" altLang="en-US" smtClean="0"/>
              <a:t>‹#›</a:t>
            </a:fld>
            <a:endParaRPr lang="zh-CN" altLang="en-US"/>
          </a:p>
        </p:txBody>
      </p:sp>
      <p:grpSp>
        <p:nvGrpSpPr>
          <p:cNvPr id="115" name="组合 114"/>
          <p:cNvGrpSpPr/>
          <p:nvPr userDrawn="1"/>
        </p:nvGrpSpPr>
        <p:grpSpPr bwMode="auto">
          <a:xfrm>
            <a:off x="1588" y="404489"/>
            <a:ext cx="3363683" cy="81854"/>
            <a:chOff x="4728610" y="1133410"/>
            <a:chExt cx="1872629" cy="108060"/>
          </a:xfrm>
        </p:grpSpPr>
        <p:sp>
          <p:nvSpPr>
            <p:cNvPr id="116" name="矩形 115"/>
            <p:cNvSpPr/>
            <p:nvPr/>
          </p:nvSpPr>
          <p:spPr>
            <a:xfrm>
              <a:off x="4728610" y="1133410"/>
              <a:ext cx="966555" cy="1080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7" name="矩形 116"/>
            <p:cNvSpPr/>
            <p:nvPr/>
          </p:nvSpPr>
          <p:spPr>
            <a:xfrm>
              <a:off x="5652130" y="1133410"/>
              <a:ext cx="949109" cy="108060"/>
            </a:xfrm>
            <a:prstGeom prst="rect">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18" name="图片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9416333" y="225606"/>
            <a:ext cx="2275273" cy="298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left)">
                                      <p:cBhvr>
                                        <p:cTn id="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defTabSz="914400" rtl="0" eaLnBrk="1" fontAlgn="base" latinLnBrk="0" hangingPunct="1">
        <a:lnSpc>
          <a:spcPct val="90000"/>
        </a:lnSpc>
        <a:spcBef>
          <a:spcPct val="0"/>
        </a:spcBef>
        <a:spcAft>
          <a:spcPct val="0"/>
        </a:spcAft>
        <a:buNone/>
        <a:defRPr lang="zh-CN" altLang="en-US" sz="3200" b="1" kern="1200" dirty="0">
          <a:solidFill>
            <a:srgbClr val="003860"/>
          </a:solidFill>
          <a:effectLst>
            <a:innerShdw blurRad="63500" dist="50800" dir="13500000">
              <a:prstClr val="black">
                <a:alpha val="50000"/>
              </a:prstClr>
            </a:innerShdw>
          </a:effectLst>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1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8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8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sz="8000" dirty="0"/>
              <a:t>ECC</a:t>
            </a:r>
            <a:r>
              <a:rPr lang="zh-CN" altLang="en-US" sz="8000" dirty="0"/>
              <a:t>校验原理</a:t>
            </a:r>
          </a:p>
        </p:txBody>
      </p:sp>
      <p:sp>
        <p:nvSpPr>
          <p:cNvPr id="4" name="副标题 3"/>
          <p:cNvSpPr>
            <a:spLocks noGrp="1"/>
          </p:cNvSpPr>
          <p:nvPr>
            <p:ph type="subTitle" idx="1"/>
          </p:nvPr>
        </p:nvSpPr>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1085068"/>
            <a:ext cx="10515600" cy="4432919"/>
          </a:xfrm>
        </p:spPr>
        <p:txBody>
          <a:bodyPr>
            <a:noAutofit/>
          </a:bodyPr>
          <a:lstStyle/>
          <a:p>
            <a:pPr marL="0" indent="0">
              <a:buNone/>
            </a:pPr>
            <a:r>
              <a:rPr lang="zh-CN" altLang="en-US" dirty="0">
                <a:latin typeface="宋体" panose="02010600030101010101" pitchFamily="2" charset="-122"/>
                <a:ea typeface="宋体" panose="02010600030101010101" pitchFamily="2" charset="-122"/>
              </a:rPr>
              <a:t>在通信中，进行点对点数据传输或数据存储时可能发生错误。</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由于信道噪声的影响，当数据通过</a:t>
            </a:r>
            <a:r>
              <a:rPr lang="zh-CN" altLang="en-US" dirty="0">
                <a:solidFill>
                  <a:srgbClr val="FF0000"/>
                </a:solidFill>
                <a:latin typeface="宋体" panose="02010600030101010101" pitchFamily="2" charset="-122"/>
                <a:ea typeface="宋体" panose="02010600030101010101" pitchFamily="2" charset="-122"/>
              </a:rPr>
              <a:t>无线或有线通信媒介传输</a:t>
            </a:r>
            <a:r>
              <a:rPr lang="zh-CN" altLang="en-US" dirty="0">
                <a:latin typeface="宋体" panose="02010600030101010101" pitchFamily="2" charset="-122"/>
                <a:ea typeface="宋体" panose="02010600030101010101" pitchFamily="2" charset="-122"/>
              </a:rPr>
              <a:t>时，数据中会出现比特错误。接收到数据时，接收设备应检查数据是否在传输过程中发生了错误。</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另外，当数据</a:t>
            </a:r>
            <a:r>
              <a:rPr lang="zh-CN" altLang="en-US" dirty="0">
                <a:solidFill>
                  <a:srgbClr val="FF0000"/>
                </a:solidFill>
                <a:latin typeface="宋体" panose="02010600030101010101" pitchFamily="2" charset="-122"/>
                <a:ea typeface="宋体" panose="02010600030101010101" pitchFamily="2" charset="-122"/>
              </a:rPr>
              <a:t>存储在</a:t>
            </a:r>
            <a:r>
              <a:rPr lang="en-US" altLang="zh-CN" dirty="0">
                <a:solidFill>
                  <a:srgbClr val="FF0000"/>
                </a:solidFill>
                <a:latin typeface="宋体" panose="02010600030101010101" pitchFamily="2" charset="-122"/>
                <a:ea typeface="宋体" panose="02010600030101010101" pitchFamily="2" charset="-122"/>
              </a:rPr>
              <a:t>CD</a:t>
            </a:r>
            <a:r>
              <a:rPr lang="zh-CN" altLang="en-US" dirty="0">
                <a:solidFill>
                  <a:srgbClr val="FF0000"/>
                </a:solidFill>
                <a:latin typeface="宋体" panose="02010600030101010101" pitchFamily="2" charset="-122"/>
                <a:ea typeface="宋体" panose="02010600030101010101" pitchFamily="2" charset="-122"/>
              </a:rPr>
              <a:t>硬盘、</a:t>
            </a:r>
            <a:r>
              <a:rPr lang="en-US" altLang="zh-CN" dirty="0">
                <a:solidFill>
                  <a:srgbClr val="FF0000"/>
                </a:solidFill>
                <a:latin typeface="宋体" panose="02010600030101010101" pitchFamily="2" charset="-122"/>
                <a:ea typeface="宋体" panose="02010600030101010101" pitchFamily="2" charset="-122"/>
              </a:rPr>
              <a:t>DRAM</a:t>
            </a:r>
            <a:r>
              <a:rPr lang="zh-CN" altLang="en-US" dirty="0">
                <a:solidFill>
                  <a:srgbClr val="FF0000"/>
                </a:solidFill>
                <a:latin typeface="宋体" panose="02010600030101010101" pitchFamily="2" charset="-122"/>
                <a:ea typeface="宋体" panose="02010600030101010101" pitchFamily="2" charset="-122"/>
              </a:rPr>
              <a:t>存储器或闪存</a:t>
            </a:r>
            <a:r>
              <a:rPr lang="zh-CN" altLang="en-US" dirty="0">
                <a:latin typeface="宋体" panose="02010600030101010101" pitchFamily="2" charset="-122"/>
                <a:ea typeface="宋体" panose="02010600030101010101" pitchFamily="2" charset="-122"/>
              </a:rPr>
              <a:t>中时，部分比特会由于不同原因而发生跳变，当我们读出这些数据时，应检测数据是否存在错误。</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数据错误可能不会造成什么影响，也可能会导致严重的后果。如果我们听</a:t>
            </a:r>
            <a:r>
              <a:rPr lang="en-US" altLang="zh-CN" dirty="0">
                <a:latin typeface="宋体" panose="02010600030101010101" pitchFamily="2" charset="-122"/>
                <a:ea typeface="宋体" panose="02010600030101010101" pitchFamily="2" charset="-122"/>
              </a:rPr>
              <a:t>CD</a:t>
            </a:r>
            <a:r>
              <a:rPr lang="zh-CN" altLang="en-US" dirty="0">
                <a:latin typeface="宋体" panose="02010600030101010101" pitchFamily="2" charset="-122"/>
                <a:ea typeface="宋体" panose="02010600030101010101" pitchFamily="2" charset="-122"/>
              </a:rPr>
              <a:t>上的音乐，当出现比特错误时，会影响音乐质量。然而，如果列车的信号数据出错，后果将会是致命的。</a:t>
            </a:r>
            <a:endParaRPr lang="en-US" altLang="zh-CN" dirty="0">
              <a:latin typeface="宋体" panose="02010600030101010101" pitchFamily="2" charset="-122"/>
              <a:ea typeface="宋体" panose="02010600030101010101" pitchFamily="2" charset="-122"/>
            </a:endParaRPr>
          </a:p>
          <a:p>
            <a:pPr marL="0" indent="0">
              <a:buNone/>
            </a:pPr>
            <a:r>
              <a:rPr lang="zh-CN" altLang="en-US" dirty="0">
                <a:latin typeface="宋体" panose="02010600030101010101" pitchFamily="2" charset="-122"/>
                <a:ea typeface="宋体" panose="02010600030101010101" pitchFamily="2" charset="-122"/>
              </a:rPr>
              <a:t>考虑到严谨性与重要性，需要采用不同的</a:t>
            </a:r>
            <a:r>
              <a:rPr lang="zh-CN" altLang="en-US" dirty="0">
                <a:solidFill>
                  <a:srgbClr val="FF0000"/>
                </a:solidFill>
                <a:latin typeface="宋体" panose="02010600030101010101" pitchFamily="2" charset="-122"/>
                <a:ea typeface="宋体" panose="02010600030101010101" pitchFamily="2" charset="-122"/>
              </a:rPr>
              <a:t>检错</a:t>
            </a:r>
            <a:r>
              <a:rPr lang="zh-CN" altLang="en-US" dirty="0">
                <a:latin typeface="宋体" panose="02010600030101010101" pitchFamily="2" charset="-122"/>
                <a:ea typeface="宋体" panose="02010600030101010101" pitchFamily="2" charset="-122"/>
              </a:rPr>
              <a:t>及</a:t>
            </a:r>
            <a:r>
              <a:rPr lang="zh-CN" altLang="en-US" dirty="0">
                <a:solidFill>
                  <a:srgbClr val="FF0000"/>
                </a:solidFill>
                <a:latin typeface="宋体" panose="02010600030101010101" pitchFamily="2" charset="-122"/>
                <a:ea typeface="宋体" panose="02010600030101010101" pitchFamily="2" charset="-122"/>
              </a:rPr>
              <a:t>纠错</a:t>
            </a:r>
            <a:r>
              <a:rPr lang="zh-CN" altLang="en-US" dirty="0">
                <a:latin typeface="宋体" panose="02010600030101010101" pitchFamily="2" charset="-122"/>
                <a:ea typeface="宋体" panose="02010600030101010101" pitchFamily="2" charset="-122"/>
              </a:rPr>
              <a:t>方法。</a:t>
            </a:r>
          </a:p>
        </p:txBody>
      </p:sp>
      <p:sp>
        <p:nvSpPr>
          <p:cNvPr id="4" name="文本框 3">
            <a:extLst>
              <a:ext uri="{FF2B5EF4-FFF2-40B4-BE49-F238E27FC236}">
                <a16:creationId xmlns:a16="http://schemas.microsoft.com/office/drawing/2014/main" id="{52EF4F25-2203-CA19-9621-74491271C3FC}"/>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介绍</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2000" dirty="0"/>
              <a:t>数据以</a:t>
            </a:r>
            <a:r>
              <a:rPr lang="en-US" altLang="zh-CN" sz="2000" dirty="0"/>
              <a:t>0</a:t>
            </a:r>
            <a:r>
              <a:rPr lang="zh-CN" altLang="en-US" sz="2000" dirty="0"/>
              <a:t>、</a:t>
            </a:r>
            <a:r>
              <a:rPr lang="en-US" altLang="zh-CN" sz="2000" dirty="0"/>
              <a:t>1</a:t>
            </a:r>
            <a:r>
              <a:rPr lang="zh-CN" altLang="en-US" sz="2000" dirty="0"/>
              <a:t>比特序列的方式进行传输，为了能够发现错误比特，我们需要额外添加一些数据与原始数据一起传输，这些额外比特通常称为冗余比特。我们可以通过这些冗余比特及其与数据比特的数学相关性判断出是否发生了错误。</a:t>
            </a:r>
            <a:endParaRPr lang="en-US" altLang="zh-CN" sz="2000" dirty="0"/>
          </a:p>
          <a:p>
            <a:r>
              <a:rPr lang="zh-CN" altLang="en-US" sz="2000" dirty="0">
                <a:solidFill>
                  <a:srgbClr val="FF0000"/>
                </a:solidFill>
              </a:rPr>
              <a:t>奇偶校验</a:t>
            </a:r>
            <a:r>
              <a:rPr lang="zh-CN" altLang="en-US" sz="2000" dirty="0"/>
              <a:t>是我们通常使用的一种检错方式，它是通过添加</a:t>
            </a:r>
            <a:r>
              <a:rPr lang="en-US" altLang="zh-CN" sz="2000" dirty="0"/>
              <a:t>1</a:t>
            </a:r>
            <a:r>
              <a:rPr lang="zh-CN" altLang="en-US" sz="2000" dirty="0"/>
              <a:t>个奇偶校验位来实现的。这种编码方式可以发现奇数个比特错误，不能发现偶数个比特错误，也不能找出发生错误的具体位置，因此不能实现纠错功能。</a:t>
            </a:r>
            <a:endParaRPr lang="en-US" altLang="zh-CN" sz="2000" dirty="0"/>
          </a:p>
          <a:p>
            <a:r>
              <a:rPr lang="en-US" altLang="zh-CN" sz="2000" dirty="0">
                <a:solidFill>
                  <a:srgbClr val="FF0000"/>
                </a:solidFill>
              </a:rPr>
              <a:t>CRC</a:t>
            </a:r>
            <a:r>
              <a:rPr lang="zh-CN" altLang="en-US" sz="2000" dirty="0">
                <a:solidFill>
                  <a:srgbClr val="FF0000"/>
                </a:solidFill>
              </a:rPr>
              <a:t>校验</a:t>
            </a:r>
            <a:r>
              <a:rPr lang="zh-CN" altLang="en-US" sz="2000" dirty="0"/>
              <a:t>是数据包传输中常用的检错机制。在</a:t>
            </a:r>
            <a:r>
              <a:rPr lang="en-US" altLang="zh-CN" sz="2000" dirty="0"/>
              <a:t>PCIe</a:t>
            </a:r>
            <a:r>
              <a:rPr lang="zh-CN" altLang="en-US" sz="2000" dirty="0"/>
              <a:t>、以太网或者</a:t>
            </a:r>
            <a:r>
              <a:rPr lang="en-US" altLang="zh-CN" sz="2000" dirty="0"/>
              <a:t>SATA</a:t>
            </a:r>
            <a:r>
              <a:rPr lang="zh-CN" altLang="en-US" sz="2000" dirty="0"/>
              <a:t>中的数据帧被传输之前，</a:t>
            </a:r>
            <a:r>
              <a:rPr lang="en-US" altLang="zh-CN" sz="2000" dirty="0"/>
              <a:t>CRC</a:t>
            </a:r>
            <a:r>
              <a:rPr lang="zh-CN" altLang="en-US" sz="2000" dirty="0"/>
              <a:t>校验模块针对数据帧中的原始数据计算一个校验结果并与数据帧一同传输。接收电路重新计算</a:t>
            </a:r>
            <a:r>
              <a:rPr lang="en-US" altLang="zh-CN" sz="2000" dirty="0"/>
              <a:t>CRC</a:t>
            </a:r>
            <a:r>
              <a:rPr lang="zh-CN" altLang="en-US" sz="2000" dirty="0"/>
              <a:t>值，并且将其与接收到的</a:t>
            </a:r>
            <a:r>
              <a:rPr lang="en-US" altLang="zh-CN" sz="2000" dirty="0"/>
              <a:t>CRC</a:t>
            </a:r>
            <a:r>
              <a:rPr lang="zh-CN" altLang="en-US" sz="2000" dirty="0"/>
              <a:t>值进行比较。如果二者不匹配，就认为数据包中出现了错误，否则认为数据帧正确。在这些协议中，</a:t>
            </a:r>
            <a:r>
              <a:rPr lang="en-US" altLang="zh-CN" sz="2000" dirty="0"/>
              <a:t>CRC</a:t>
            </a:r>
            <a:r>
              <a:rPr lang="zh-CN" altLang="en-US" sz="2000" dirty="0"/>
              <a:t>校验用于发现错误。对于大多数应用来说，发现错误即可，不必对错误进行纠正。当接收电路发现</a:t>
            </a:r>
            <a:r>
              <a:rPr lang="en-US" altLang="zh-CN" sz="2000" dirty="0"/>
              <a:t>CRC</a:t>
            </a:r>
            <a:r>
              <a:rPr lang="zh-CN" altLang="en-US" sz="2000" dirty="0"/>
              <a:t>错误时，可以通过上层协议进行数据帧的重传。</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检错</a:t>
            </a:r>
          </a:p>
        </p:txBody>
      </p:sp>
    </p:spTree>
    <p:extLst>
      <p:ext uri="{BB962C8B-B14F-4D97-AF65-F5344CB8AC3E}">
        <p14:creationId xmlns:p14="http://schemas.microsoft.com/office/powerpoint/2010/main" val="388050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8863" y="1224877"/>
            <a:ext cx="10515600" cy="4252813"/>
          </a:xfrm>
        </p:spPr>
        <p:txBody>
          <a:bodyPr>
            <a:noAutofit/>
          </a:bodyPr>
          <a:lstStyle/>
          <a:p>
            <a:r>
              <a:rPr lang="zh-CN" altLang="en-US" sz="2000" dirty="0"/>
              <a:t>根本思想就是</a:t>
            </a:r>
            <a:endParaRPr lang="en-US" altLang="zh-CN" sz="2000" dirty="0"/>
          </a:p>
          <a:p>
            <a:endParaRPr lang="en-US" altLang="zh-CN" sz="2000" dirty="0"/>
          </a:p>
          <a:p>
            <a:r>
              <a:rPr lang="zh-CN" altLang="en-US" sz="2000" dirty="0"/>
              <a:t>先在要发送的帧后面附加一个数（这个就是用来校验的校验码，但要注意，这里的数也是二进制序列的，下同），生成一个新帧发送给接收端。当然，这个附加的数不是随意的，它要使所生成的新帧能与发送端和接收端共同选定的某个特定数整除（注意，这里不是直接采用二进制除法，而是采用一种称之为“模</a:t>
            </a:r>
            <a:r>
              <a:rPr lang="en-US" altLang="zh-CN" sz="2000" dirty="0"/>
              <a:t>2</a:t>
            </a:r>
            <a:r>
              <a:rPr lang="zh-CN" altLang="en-US" sz="2000" dirty="0"/>
              <a:t>除法”）。</a:t>
            </a:r>
            <a:endParaRPr lang="en-US" altLang="zh-CN" sz="2000" dirty="0"/>
          </a:p>
          <a:p>
            <a:endParaRPr lang="en-US" altLang="zh-CN" sz="2000" dirty="0"/>
          </a:p>
          <a:p>
            <a:r>
              <a:rPr lang="zh-CN" altLang="en-US" sz="2000" dirty="0"/>
              <a:t>到达接收端后，再把接收到的新帧除以（同样采用“模</a:t>
            </a:r>
            <a:r>
              <a:rPr lang="en-US" altLang="zh-CN" sz="2000" dirty="0"/>
              <a:t>2</a:t>
            </a:r>
            <a:r>
              <a:rPr lang="zh-CN" altLang="en-US" sz="2000" dirty="0"/>
              <a:t>除法”）这个选定的除数。因为在发送端发送数据帧之前就已通过附加一个数，做了“去余”处理（也就已经能整除了），所以结果应该是没有余数。如果有余数，则表明该帧在传输过程中出现了差错。</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3386498" cy="523220"/>
          </a:xfrm>
          <a:prstGeom prst="rect">
            <a:avLst/>
          </a:prstGeom>
          <a:noFill/>
        </p:spPr>
        <p:txBody>
          <a:bodyPr wrap="square" rtlCol="0">
            <a:spAutoFit/>
          </a:bodyPr>
          <a:lstStyle/>
          <a:p>
            <a:r>
              <a:rPr lang="zh-CN" altLang="en-US" sz="2800" b="1" dirty="0">
                <a:solidFill>
                  <a:srgbClr val="0070C0"/>
                </a:solidFill>
              </a:rPr>
              <a:t>检错</a:t>
            </a:r>
            <a:r>
              <a:rPr lang="en-US" altLang="zh-CN" sz="2800" b="1" dirty="0">
                <a:solidFill>
                  <a:srgbClr val="0070C0"/>
                </a:solidFill>
              </a:rPr>
              <a:t>——CRC</a:t>
            </a:r>
            <a:r>
              <a:rPr lang="zh-CN" altLang="en-US" sz="2800" b="1" dirty="0">
                <a:solidFill>
                  <a:srgbClr val="0070C0"/>
                </a:solidFill>
              </a:rPr>
              <a:t>校验</a:t>
            </a:r>
          </a:p>
        </p:txBody>
      </p:sp>
    </p:spTree>
    <p:extLst>
      <p:ext uri="{BB962C8B-B14F-4D97-AF65-F5344CB8AC3E}">
        <p14:creationId xmlns:p14="http://schemas.microsoft.com/office/powerpoint/2010/main" val="214941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gn="l"/>
            <a:r>
              <a:rPr lang="zh-CN" altLang="en-US" sz="2000" b="0" i="0" dirty="0">
                <a:solidFill>
                  <a:srgbClr val="4B4B4B"/>
                </a:solidFill>
                <a:effectLst/>
                <a:latin typeface="PingFang SC"/>
              </a:rPr>
              <a:t> 具体来说，</a:t>
            </a:r>
            <a:r>
              <a:rPr lang="en-US" altLang="zh-CN" sz="2000" b="0" i="0" dirty="0">
                <a:solidFill>
                  <a:srgbClr val="4B4B4B"/>
                </a:solidFill>
                <a:effectLst/>
                <a:latin typeface="PingFang SC"/>
              </a:rPr>
              <a:t>CRC</a:t>
            </a:r>
            <a:r>
              <a:rPr lang="zh-CN" altLang="en-US" sz="2000" b="0" i="0" dirty="0">
                <a:solidFill>
                  <a:srgbClr val="4B4B4B"/>
                </a:solidFill>
                <a:effectLst/>
                <a:latin typeface="PingFang SC"/>
              </a:rPr>
              <a:t>校验原理就是以下几个步骤：</a:t>
            </a:r>
          </a:p>
          <a:p>
            <a:pPr algn="l"/>
            <a:r>
              <a:rPr lang="zh-CN" altLang="en-US" sz="2000" b="0" i="0" dirty="0">
                <a:solidFill>
                  <a:srgbClr val="4B4B4B"/>
                </a:solidFill>
                <a:effectLst/>
                <a:latin typeface="PingFang SC"/>
              </a:rPr>
              <a:t>   （</a:t>
            </a:r>
            <a:r>
              <a:rPr lang="en-US" altLang="zh-CN" sz="2000" b="0" i="0" dirty="0">
                <a:solidFill>
                  <a:srgbClr val="4B4B4B"/>
                </a:solidFill>
                <a:effectLst/>
                <a:latin typeface="PingFang SC"/>
              </a:rPr>
              <a:t>1</a:t>
            </a:r>
            <a:r>
              <a:rPr lang="zh-CN" altLang="en-US" sz="2000" b="0" i="0" dirty="0">
                <a:solidFill>
                  <a:srgbClr val="4B4B4B"/>
                </a:solidFill>
                <a:effectLst/>
                <a:latin typeface="PingFang SC"/>
              </a:rPr>
              <a:t>）先选择除数。即一个用于在接收端进行校验时，对接收的帧进行除法运算的除数（是二进制比较特串，通常是以多项方式表示，这个多项式也称之为“生成多项式”，所以</a:t>
            </a:r>
            <a:r>
              <a:rPr lang="en-US" altLang="zh-CN" sz="2000" b="0" i="0" dirty="0">
                <a:solidFill>
                  <a:srgbClr val="4B4B4B"/>
                </a:solidFill>
                <a:effectLst/>
                <a:latin typeface="PingFang SC"/>
              </a:rPr>
              <a:t>CRC</a:t>
            </a:r>
            <a:r>
              <a:rPr lang="zh-CN" altLang="en-US" sz="2000" b="0" i="0" dirty="0">
                <a:solidFill>
                  <a:srgbClr val="4B4B4B"/>
                </a:solidFill>
                <a:effectLst/>
                <a:latin typeface="PingFang SC"/>
              </a:rPr>
              <a:t>又称多项式编码方法）。</a:t>
            </a:r>
          </a:p>
          <a:p>
            <a:pPr algn="l"/>
            <a:r>
              <a:rPr lang="zh-CN" altLang="en-US" sz="2000" b="0" i="0" dirty="0">
                <a:solidFill>
                  <a:srgbClr val="4B4B4B"/>
                </a:solidFill>
                <a:effectLst/>
                <a:latin typeface="PingFang SC"/>
              </a:rPr>
              <a:t>   （</a:t>
            </a:r>
            <a:r>
              <a:rPr lang="en-US" altLang="zh-CN" sz="2000" b="0" i="0" dirty="0">
                <a:solidFill>
                  <a:srgbClr val="4B4B4B"/>
                </a:solidFill>
                <a:effectLst/>
                <a:latin typeface="PingFang SC"/>
              </a:rPr>
              <a:t>2</a:t>
            </a:r>
            <a:r>
              <a:rPr lang="zh-CN" altLang="en-US" sz="2000" b="0" i="0" dirty="0">
                <a:solidFill>
                  <a:srgbClr val="4B4B4B"/>
                </a:solidFill>
                <a:effectLst/>
                <a:latin typeface="PingFang SC"/>
              </a:rPr>
              <a:t>）看所选定的除数二进制位数（假设为</a:t>
            </a:r>
            <a:r>
              <a:rPr lang="en-US" altLang="zh-CN" sz="2000" b="0" i="0" dirty="0">
                <a:solidFill>
                  <a:srgbClr val="4B4B4B"/>
                </a:solidFill>
                <a:effectLst/>
                <a:latin typeface="PingFang SC"/>
              </a:rPr>
              <a:t>k</a:t>
            </a:r>
            <a:r>
              <a:rPr lang="zh-CN" altLang="en-US" sz="2000" b="0" i="0" dirty="0">
                <a:solidFill>
                  <a:srgbClr val="4B4B4B"/>
                </a:solidFill>
                <a:effectLst/>
                <a:latin typeface="PingFang SC"/>
              </a:rPr>
              <a:t>位），然后在要发送的数据帧（假设为</a:t>
            </a:r>
            <a:r>
              <a:rPr lang="en-US" altLang="zh-CN" sz="2000" b="0" i="0" dirty="0">
                <a:solidFill>
                  <a:srgbClr val="4B4B4B"/>
                </a:solidFill>
                <a:effectLst/>
                <a:latin typeface="PingFang SC"/>
              </a:rPr>
              <a:t>m</a:t>
            </a:r>
            <a:r>
              <a:rPr lang="zh-CN" altLang="en-US" sz="2000" b="0" i="0" dirty="0">
                <a:solidFill>
                  <a:srgbClr val="4B4B4B"/>
                </a:solidFill>
                <a:effectLst/>
                <a:latin typeface="PingFang SC"/>
              </a:rPr>
              <a:t>位）后面加上</a:t>
            </a:r>
            <a:r>
              <a:rPr lang="en-US" altLang="zh-CN" sz="2000" b="0" i="0" dirty="0">
                <a:solidFill>
                  <a:srgbClr val="4B4B4B"/>
                </a:solidFill>
                <a:effectLst/>
                <a:latin typeface="PingFang SC"/>
              </a:rPr>
              <a:t>k-1</a:t>
            </a:r>
            <a:r>
              <a:rPr lang="zh-CN" altLang="en-US" sz="2000" b="0" i="0" dirty="0">
                <a:solidFill>
                  <a:srgbClr val="4B4B4B"/>
                </a:solidFill>
                <a:effectLst/>
                <a:latin typeface="PingFang SC"/>
              </a:rPr>
              <a:t>位“</a:t>
            </a:r>
            <a:r>
              <a:rPr lang="en-US" altLang="zh-CN" sz="2000" b="0" i="0" dirty="0">
                <a:solidFill>
                  <a:srgbClr val="4B4B4B"/>
                </a:solidFill>
                <a:effectLst/>
                <a:latin typeface="PingFang SC"/>
              </a:rPr>
              <a:t>0”</a:t>
            </a:r>
            <a:r>
              <a:rPr lang="zh-CN" altLang="en-US" sz="2000" b="0" i="0" dirty="0">
                <a:solidFill>
                  <a:srgbClr val="4B4B4B"/>
                </a:solidFill>
                <a:effectLst/>
                <a:latin typeface="PingFang SC"/>
              </a:rPr>
              <a:t>，然后以这个加了</a:t>
            </a:r>
            <a:r>
              <a:rPr lang="en-US" altLang="zh-CN" sz="2000" b="0" i="0" dirty="0">
                <a:solidFill>
                  <a:srgbClr val="4B4B4B"/>
                </a:solidFill>
                <a:effectLst/>
                <a:latin typeface="PingFang SC"/>
              </a:rPr>
              <a:t>k-1</a:t>
            </a:r>
            <a:r>
              <a:rPr lang="zh-CN" altLang="en-US" sz="2000" b="0" i="0" dirty="0">
                <a:solidFill>
                  <a:srgbClr val="4B4B4B"/>
                </a:solidFill>
                <a:effectLst/>
                <a:latin typeface="PingFang SC"/>
              </a:rPr>
              <a:t>个“</a:t>
            </a:r>
            <a:r>
              <a:rPr lang="en-US" altLang="zh-CN" sz="2000" b="0" i="0" dirty="0">
                <a:solidFill>
                  <a:srgbClr val="4B4B4B"/>
                </a:solidFill>
                <a:effectLst/>
                <a:latin typeface="PingFang SC"/>
              </a:rPr>
              <a:t>0“</a:t>
            </a:r>
            <a:r>
              <a:rPr lang="zh-CN" altLang="en-US" sz="2000" b="0" i="0" dirty="0">
                <a:solidFill>
                  <a:srgbClr val="4B4B4B"/>
                </a:solidFill>
                <a:effectLst/>
                <a:latin typeface="PingFang SC"/>
              </a:rPr>
              <a:t>的新帧（一共是</a:t>
            </a:r>
            <a:r>
              <a:rPr lang="en-US" altLang="zh-CN" sz="2000" b="0" i="0" dirty="0">
                <a:solidFill>
                  <a:srgbClr val="4B4B4B"/>
                </a:solidFill>
                <a:effectLst/>
                <a:latin typeface="PingFang SC"/>
              </a:rPr>
              <a:t>m+k-1</a:t>
            </a:r>
            <a:r>
              <a:rPr lang="zh-CN" altLang="en-US" sz="2000" b="0" i="0" dirty="0">
                <a:solidFill>
                  <a:srgbClr val="4B4B4B"/>
                </a:solidFill>
                <a:effectLst/>
                <a:latin typeface="PingFang SC"/>
              </a:rPr>
              <a:t>位）以“模</a:t>
            </a:r>
            <a:r>
              <a:rPr lang="en-US" altLang="zh-CN" sz="2000" b="0" i="0" dirty="0">
                <a:solidFill>
                  <a:srgbClr val="4B4B4B"/>
                </a:solidFill>
                <a:effectLst/>
                <a:latin typeface="PingFang SC"/>
              </a:rPr>
              <a:t>2</a:t>
            </a:r>
            <a:r>
              <a:rPr lang="zh-CN" altLang="en-US" sz="2000" b="0" i="0" dirty="0">
                <a:solidFill>
                  <a:srgbClr val="4B4B4B"/>
                </a:solidFill>
                <a:effectLst/>
                <a:latin typeface="PingFang SC"/>
              </a:rPr>
              <a:t>除法”方式除以上面这个除数，</a:t>
            </a:r>
            <a:r>
              <a:rPr lang="zh-CN" altLang="en-US" sz="2000" b="0" i="0" dirty="0">
                <a:solidFill>
                  <a:srgbClr val="FF0000"/>
                </a:solidFill>
                <a:effectLst/>
                <a:latin typeface="PingFang SC"/>
              </a:rPr>
              <a:t>所得到的余数（也是二进制的比特串）就是该帧的</a:t>
            </a:r>
            <a:r>
              <a:rPr lang="en-US" altLang="zh-CN" sz="2000" b="0" i="0" dirty="0">
                <a:solidFill>
                  <a:srgbClr val="FF0000"/>
                </a:solidFill>
                <a:effectLst/>
                <a:latin typeface="PingFang SC"/>
              </a:rPr>
              <a:t>CRC</a:t>
            </a:r>
            <a:r>
              <a:rPr lang="zh-CN" altLang="en-US" sz="2000" b="0" i="0" dirty="0">
                <a:solidFill>
                  <a:srgbClr val="FF0000"/>
                </a:solidFill>
                <a:effectLst/>
                <a:latin typeface="PingFang SC"/>
              </a:rPr>
              <a:t>校验码</a:t>
            </a:r>
            <a:r>
              <a:rPr lang="zh-CN" altLang="en-US" sz="2000" b="0" i="0" dirty="0">
                <a:solidFill>
                  <a:srgbClr val="4B4B4B"/>
                </a:solidFill>
                <a:effectLst/>
                <a:latin typeface="PingFang SC"/>
              </a:rPr>
              <a:t>，也称之为</a:t>
            </a:r>
            <a:r>
              <a:rPr lang="en-US" altLang="zh-CN" sz="2000" b="0" i="0" dirty="0">
                <a:solidFill>
                  <a:srgbClr val="4B4B4B"/>
                </a:solidFill>
                <a:effectLst/>
                <a:latin typeface="PingFang SC"/>
              </a:rPr>
              <a:t>FCS</a:t>
            </a:r>
            <a:r>
              <a:rPr lang="zh-CN" altLang="en-US" sz="2000" b="0" i="0" dirty="0">
                <a:solidFill>
                  <a:srgbClr val="4B4B4B"/>
                </a:solidFill>
                <a:effectLst/>
                <a:latin typeface="PingFang SC"/>
              </a:rPr>
              <a:t>（帧校验序列）。但要注意的是，</a:t>
            </a:r>
            <a:r>
              <a:rPr lang="zh-CN" altLang="en-US" sz="2000" b="1" i="0" dirty="0">
                <a:solidFill>
                  <a:srgbClr val="FF0000"/>
                </a:solidFill>
                <a:effectLst/>
                <a:latin typeface="PingFang SC"/>
              </a:rPr>
              <a:t>余数的位数一定要是比除数位数只能少一位，哪怕前面位是</a:t>
            </a:r>
            <a:r>
              <a:rPr lang="en-US" altLang="zh-CN" sz="2000" b="1" i="0" dirty="0">
                <a:solidFill>
                  <a:srgbClr val="FF0000"/>
                </a:solidFill>
                <a:effectLst/>
                <a:latin typeface="PingFang SC"/>
              </a:rPr>
              <a:t>0</a:t>
            </a:r>
            <a:r>
              <a:rPr lang="zh-CN" altLang="en-US" sz="2000" b="1" i="0" dirty="0">
                <a:solidFill>
                  <a:srgbClr val="FF0000"/>
                </a:solidFill>
                <a:effectLst/>
                <a:latin typeface="PingFang SC"/>
              </a:rPr>
              <a:t>，甚至是全为</a:t>
            </a:r>
            <a:r>
              <a:rPr lang="en-US" altLang="zh-CN" sz="2000" b="1" i="0" dirty="0">
                <a:solidFill>
                  <a:srgbClr val="FF0000"/>
                </a:solidFill>
                <a:effectLst/>
                <a:latin typeface="PingFang SC"/>
              </a:rPr>
              <a:t>0</a:t>
            </a:r>
            <a:r>
              <a:rPr lang="zh-CN" altLang="en-US" sz="2000" b="1" i="0" dirty="0">
                <a:solidFill>
                  <a:srgbClr val="FF0000"/>
                </a:solidFill>
                <a:effectLst/>
                <a:latin typeface="PingFang SC"/>
              </a:rPr>
              <a:t>（附带好整除时）也都不能省略</a:t>
            </a:r>
            <a:r>
              <a:rPr lang="zh-CN" altLang="en-US" sz="2000" b="0" i="0" dirty="0">
                <a:solidFill>
                  <a:srgbClr val="4B4B4B"/>
                </a:solidFill>
                <a:effectLst/>
                <a:latin typeface="PingFang SC"/>
              </a:rPr>
              <a:t>。</a:t>
            </a:r>
          </a:p>
          <a:p>
            <a:pPr algn="l"/>
            <a:r>
              <a:rPr lang="zh-CN" altLang="en-US" sz="2000" b="0" i="0" dirty="0">
                <a:solidFill>
                  <a:srgbClr val="4B4B4B"/>
                </a:solidFill>
                <a:effectLst/>
                <a:latin typeface="PingFang SC"/>
              </a:rPr>
              <a:t>   （</a:t>
            </a:r>
            <a:r>
              <a:rPr lang="en-US" altLang="zh-CN" sz="2000" b="0" i="0" dirty="0">
                <a:solidFill>
                  <a:srgbClr val="4B4B4B"/>
                </a:solidFill>
                <a:effectLst/>
                <a:latin typeface="PingFang SC"/>
              </a:rPr>
              <a:t>3</a:t>
            </a:r>
            <a:r>
              <a:rPr lang="zh-CN" altLang="en-US" sz="2000" b="0" i="0" dirty="0">
                <a:solidFill>
                  <a:srgbClr val="4B4B4B"/>
                </a:solidFill>
                <a:effectLst/>
                <a:latin typeface="PingFang SC"/>
              </a:rPr>
              <a:t>）再把这个校验码附加在原数据帧（就是</a:t>
            </a:r>
            <a:r>
              <a:rPr lang="en-US" altLang="zh-CN" sz="2000" b="0" i="0" dirty="0">
                <a:solidFill>
                  <a:srgbClr val="4B4B4B"/>
                </a:solidFill>
                <a:effectLst/>
                <a:latin typeface="PingFang SC"/>
              </a:rPr>
              <a:t>m</a:t>
            </a:r>
            <a:r>
              <a:rPr lang="zh-CN" altLang="en-US" sz="2000" b="0" i="0" dirty="0">
                <a:solidFill>
                  <a:srgbClr val="4B4B4B"/>
                </a:solidFill>
                <a:effectLst/>
                <a:latin typeface="PingFang SC"/>
              </a:rPr>
              <a:t>位的帧，注意不是在后面形成的</a:t>
            </a:r>
            <a:r>
              <a:rPr lang="en-US" altLang="zh-CN" sz="2000" b="0" i="0" dirty="0">
                <a:solidFill>
                  <a:srgbClr val="4B4B4B"/>
                </a:solidFill>
                <a:effectLst/>
                <a:latin typeface="PingFang SC"/>
              </a:rPr>
              <a:t>m+k-1</a:t>
            </a:r>
            <a:r>
              <a:rPr lang="zh-CN" altLang="en-US" sz="2000" b="0" i="0" dirty="0">
                <a:solidFill>
                  <a:srgbClr val="4B4B4B"/>
                </a:solidFill>
                <a:effectLst/>
                <a:latin typeface="PingFang SC"/>
              </a:rPr>
              <a:t>位的帧）后面，构建一个新帧发送到接收端，最后在接收端再把这个新帧以“模</a:t>
            </a:r>
            <a:r>
              <a:rPr lang="en-US" altLang="zh-CN" sz="2000" b="0" i="0" dirty="0">
                <a:solidFill>
                  <a:srgbClr val="4B4B4B"/>
                </a:solidFill>
                <a:effectLst/>
                <a:latin typeface="PingFang SC"/>
              </a:rPr>
              <a:t>2</a:t>
            </a:r>
            <a:r>
              <a:rPr lang="zh-CN" altLang="en-US" sz="2000" b="0" i="0" dirty="0">
                <a:solidFill>
                  <a:srgbClr val="4B4B4B"/>
                </a:solidFill>
                <a:effectLst/>
                <a:latin typeface="PingFang SC"/>
              </a:rPr>
              <a:t>除法”方式除以前面选择的除数，如果没有余数，则表明该帧在传输过程中没出错，否则出现了差错。</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3386498" cy="523220"/>
          </a:xfrm>
          <a:prstGeom prst="rect">
            <a:avLst/>
          </a:prstGeom>
          <a:noFill/>
        </p:spPr>
        <p:txBody>
          <a:bodyPr wrap="square" rtlCol="0">
            <a:spAutoFit/>
          </a:bodyPr>
          <a:lstStyle/>
          <a:p>
            <a:r>
              <a:rPr lang="zh-CN" altLang="en-US" sz="2800" b="1" dirty="0">
                <a:solidFill>
                  <a:srgbClr val="0070C0"/>
                </a:solidFill>
              </a:rPr>
              <a:t>检错</a:t>
            </a:r>
            <a:r>
              <a:rPr lang="en-US" altLang="zh-CN" sz="2800" b="1" dirty="0">
                <a:solidFill>
                  <a:srgbClr val="0070C0"/>
                </a:solidFill>
              </a:rPr>
              <a:t>——CRC</a:t>
            </a:r>
            <a:r>
              <a:rPr lang="zh-CN" altLang="en-US" sz="2800" b="1" dirty="0">
                <a:solidFill>
                  <a:srgbClr val="0070C0"/>
                </a:solidFill>
              </a:rPr>
              <a:t>校验</a:t>
            </a:r>
          </a:p>
        </p:txBody>
      </p:sp>
    </p:spTree>
    <p:extLst>
      <p:ext uri="{BB962C8B-B14F-4D97-AF65-F5344CB8AC3E}">
        <p14:creationId xmlns:p14="http://schemas.microsoft.com/office/powerpoint/2010/main" val="3051563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gn="l"/>
            <a:r>
              <a:rPr lang="zh-CN" altLang="en-US" sz="1800" b="0" i="0" dirty="0">
                <a:solidFill>
                  <a:srgbClr val="4B4B4B"/>
                </a:solidFill>
                <a:effectLst/>
                <a:latin typeface="PingFang SC"/>
              </a:rPr>
              <a:t>下面以一个例子来具体说明整个过程。现假设选择的</a:t>
            </a:r>
            <a:r>
              <a:rPr lang="en-US" altLang="zh-CN" sz="1800" b="0" i="0" dirty="0">
                <a:solidFill>
                  <a:srgbClr val="4B4B4B"/>
                </a:solidFill>
                <a:effectLst/>
                <a:latin typeface="PingFang SC"/>
              </a:rPr>
              <a:t>CRC</a:t>
            </a:r>
            <a:r>
              <a:rPr lang="zh-CN" altLang="en-US" sz="1800" b="0" i="0" dirty="0">
                <a:solidFill>
                  <a:srgbClr val="4B4B4B"/>
                </a:solidFill>
                <a:effectLst/>
                <a:latin typeface="PingFang SC"/>
              </a:rPr>
              <a:t>生成多项式为</a:t>
            </a:r>
            <a:r>
              <a:rPr lang="en-US" altLang="zh-CN" sz="1800" b="0" i="0" dirty="0">
                <a:solidFill>
                  <a:srgbClr val="4B4B4B"/>
                </a:solidFill>
                <a:effectLst/>
                <a:latin typeface="PingFang SC"/>
              </a:rPr>
              <a:t>G</a:t>
            </a:r>
            <a:r>
              <a:rPr lang="zh-CN" altLang="en-US" sz="1800" b="0" i="0" dirty="0">
                <a:solidFill>
                  <a:srgbClr val="4B4B4B"/>
                </a:solidFill>
                <a:effectLst/>
                <a:latin typeface="PingFang SC"/>
              </a:rPr>
              <a:t>（</a:t>
            </a:r>
            <a:r>
              <a:rPr lang="en-US" altLang="zh-CN" sz="1800" b="0" i="0" dirty="0">
                <a:solidFill>
                  <a:srgbClr val="4B4B4B"/>
                </a:solidFill>
                <a:effectLst/>
                <a:latin typeface="PingFang SC"/>
              </a:rPr>
              <a:t>X</a:t>
            </a:r>
            <a:r>
              <a:rPr lang="zh-CN" altLang="en-US" sz="1800" b="0" i="0" dirty="0">
                <a:solidFill>
                  <a:srgbClr val="4B4B4B"/>
                </a:solidFill>
                <a:effectLst/>
                <a:latin typeface="PingFang SC"/>
              </a:rPr>
              <a:t>） </a:t>
            </a:r>
            <a:r>
              <a:rPr lang="en-US" altLang="zh-CN" sz="1800" b="0" i="0" dirty="0">
                <a:solidFill>
                  <a:srgbClr val="4B4B4B"/>
                </a:solidFill>
                <a:effectLst/>
                <a:latin typeface="PingFang SC"/>
              </a:rPr>
              <a:t>= X^4 + X^3 + 1</a:t>
            </a:r>
            <a:r>
              <a:rPr lang="zh-CN" altLang="en-US" sz="1800" b="0" i="0" dirty="0">
                <a:solidFill>
                  <a:srgbClr val="4B4B4B"/>
                </a:solidFill>
                <a:effectLst/>
                <a:latin typeface="PingFang SC"/>
              </a:rPr>
              <a:t>，要求出二进制序列</a:t>
            </a:r>
            <a:r>
              <a:rPr lang="en-US" altLang="zh-CN" sz="1800" b="0" i="0" dirty="0">
                <a:solidFill>
                  <a:srgbClr val="4B4B4B"/>
                </a:solidFill>
                <a:effectLst/>
                <a:latin typeface="PingFang SC"/>
              </a:rPr>
              <a:t>10110011</a:t>
            </a:r>
            <a:r>
              <a:rPr lang="zh-CN" altLang="en-US" sz="1800" b="0" i="0" dirty="0">
                <a:solidFill>
                  <a:srgbClr val="4B4B4B"/>
                </a:solidFill>
                <a:effectLst/>
                <a:latin typeface="PingFang SC"/>
              </a:rPr>
              <a:t>的</a:t>
            </a:r>
            <a:r>
              <a:rPr lang="en-US" altLang="zh-CN" sz="1800" b="0" i="0" dirty="0">
                <a:solidFill>
                  <a:srgbClr val="4B4B4B"/>
                </a:solidFill>
                <a:effectLst/>
                <a:latin typeface="PingFang SC"/>
              </a:rPr>
              <a:t>CRC</a:t>
            </a:r>
            <a:r>
              <a:rPr lang="zh-CN" altLang="en-US" sz="1800" b="0" i="0" dirty="0">
                <a:solidFill>
                  <a:srgbClr val="4B4B4B"/>
                </a:solidFill>
                <a:effectLst/>
                <a:latin typeface="PingFang SC"/>
              </a:rPr>
              <a:t>校验码。下面是具体的计算过程</a:t>
            </a:r>
            <a:r>
              <a:rPr lang="zh-CN" altLang="en-US" sz="1200" b="0" i="0" dirty="0">
                <a:solidFill>
                  <a:srgbClr val="4B4B4B"/>
                </a:solidFill>
                <a:effectLst/>
                <a:latin typeface="PingFang SC"/>
              </a:rPr>
              <a:t>：</a:t>
            </a:r>
            <a:endParaRPr lang="en-US" altLang="zh-CN" sz="1200" b="0" i="0" dirty="0">
              <a:solidFill>
                <a:srgbClr val="4B4B4B"/>
              </a:solidFill>
              <a:effectLst/>
              <a:latin typeface="PingFang SC"/>
            </a:endParaRPr>
          </a:p>
          <a:p>
            <a:pPr marL="0" indent="0" algn="l">
              <a:buNone/>
            </a:pPr>
            <a:r>
              <a:rPr lang="zh-CN" altLang="en-US" sz="1400" b="0" i="0" dirty="0">
                <a:solidFill>
                  <a:srgbClr val="4B4B4B"/>
                </a:solidFill>
                <a:effectLst/>
                <a:latin typeface="PingFang SC"/>
              </a:rPr>
              <a:t>   （</a:t>
            </a:r>
            <a:r>
              <a:rPr lang="en-US" altLang="zh-CN" sz="1400" b="0" i="0" dirty="0">
                <a:solidFill>
                  <a:srgbClr val="4B4B4B"/>
                </a:solidFill>
                <a:effectLst/>
                <a:latin typeface="PingFang SC"/>
              </a:rPr>
              <a:t>1</a:t>
            </a:r>
            <a:r>
              <a:rPr lang="zh-CN" altLang="en-US" sz="1400" b="0" i="0" dirty="0">
                <a:solidFill>
                  <a:srgbClr val="4B4B4B"/>
                </a:solidFill>
                <a:effectLst/>
                <a:latin typeface="PingFang SC"/>
              </a:rPr>
              <a:t>）首先把生成多项式转换成二进制数，由</a:t>
            </a:r>
            <a:r>
              <a:rPr lang="en-US" altLang="zh-CN" sz="1400" b="0" i="0" dirty="0">
                <a:solidFill>
                  <a:srgbClr val="4B4B4B"/>
                </a:solidFill>
                <a:effectLst/>
                <a:latin typeface="PingFang SC"/>
              </a:rPr>
              <a:t>G</a:t>
            </a:r>
            <a:r>
              <a:rPr lang="zh-CN" altLang="en-US" sz="1400" b="0" i="0" dirty="0">
                <a:solidFill>
                  <a:srgbClr val="4B4B4B"/>
                </a:solidFill>
                <a:effectLst/>
                <a:latin typeface="PingFang SC"/>
              </a:rPr>
              <a:t>（</a:t>
            </a:r>
            <a:r>
              <a:rPr lang="en-US" altLang="zh-CN" sz="1400" b="0" i="0" dirty="0">
                <a:solidFill>
                  <a:srgbClr val="4B4B4B"/>
                </a:solidFill>
                <a:effectLst/>
                <a:latin typeface="PingFang SC"/>
              </a:rPr>
              <a:t>X</a:t>
            </a:r>
            <a:r>
              <a:rPr lang="zh-CN" altLang="en-US" sz="1400" b="0" i="0" dirty="0">
                <a:solidFill>
                  <a:srgbClr val="4B4B4B"/>
                </a:solidFill>
                <a:effectLst/>
                <a:latin typeface="PingFang SC"/>
              </a:rPr>
              <a:t>） </a:t>
            </a:r>
            <a:r>
              <a:rPr lang="en-US" altLang="zh-CN" sz="1400" b="0" i="0" dirty="0">
                <a:solidFill>
                  <a:srgbClr val="4B4B4B"/>
                </a:solidFill>
                <a:effectLst/>
                <a:latin typeface="PingFang SC"/>
              </a:rPr>
              <a:t>= X^4 + X^3 + 1</a:t>
            </a:r>
            <a:r>
              <a:rPr lang="zh-CN" altLang="en-US" sz="1400" b="0" i="0" dirty="0">
                <a:solidFill>
                  <a:srgbClr val="4B4B4B"/>
                </a:solidFill>
                <a:effectLst/>
                <a:latin typeface="PingFang SC"/>
              </a:rPr>
              <a:t>可以知道（，它一共是</a:t>
            </a:r>
            <a:r>
              <a:rPr lang="en-US" altLang="zh-CN" sz="1400" b="0" i="0" dirty="0">
                <a:solidFill>
                  <a:srgbClr val="4B4B4B"/>
                </a:solidFill>
                <a:effectLst/>
                <a:latin typeface="PingFang SC"/>
              </a:rPr>
              <a:t>5</a:t>
            </a:r>
            <a:r>
              <a:rPr lang="zh-CN" altLang="en-US" sz="1400" b="0" i="0" dirty="0">
                <a:solidFill>
                  <a:srgbClr val="4B4B4B"/>
                </a:solidFill>
                <a:effectLst/>
                <a:latin typeface="PingFang SC"/>
              </a:rPr>
              <a:t>位（总位数等于最高位的幂次加</a:t>
            </a:r>
            <a:r>
              <a:rPr lang="en-US" altLang="zh-CN" sz="1400" b="0" i="0" dirty="0">
                <a:solidFill>
                  <a:srgbClr val="4B4B4B"/>
                </a:solidFill>
                <a:effectLst/>
                <a:latin typeface="PingFang SC"/>
              </a:rPr>
              <a:t>1</a:t>
            </a:r>
            <a:r>
              <a:rPr lang="zh-CN" altLang="en-US" sz="1400" b="0" i="0" dirty="0">
                <a:solidFill>
                  <a:srgbClr val="4B4B4B"/>
                </a:solidFill>
                <a:effectLst/>
                <a:latin typeface="PingFang SC"/>
              </a:rPr>
              <a:t>，即</a:t>
            </a:r>
            <a:r>
              <a:rPr lang="en-US" altLang="zh-CN" sz="1400" b="0" i="0" dirty="0">
                <a:solidFill>
                  <a:srgbClr val="4B4B4B"/>
                </a:solidFill>
                <a:effectLst/>
                <a:latin typeface="PingFang SC"/>
              </a:rPr>
              <a:t>4+1=5</a:t>
            </a:r>
            <a:r>
              <a:rPr lang="zh-CN" altLang="en-US" sz="1400" b="0" i="0" dirty="0">
                <a:solidFill>
                  <a:srgbClr val="4B4B4B"/>
                </a:solidFill>
                <a:effectLst/>
                <a:latin typeface="PingFang SC"/>
              </a:rPr>
              <a:t>），然后根据多项式各项的含义（多项式只列出二进制值为</a:t>
            </a:r>
            <a:r>
              <a:rPr lang="en-US" altLang="zh-CN" sz="1400" b="0" i="0" dirty="0">
                <a:solidFill>
                  <a:srgbClr val="4B4B4B"/>
                </a:solidFill>
                <a:effectLst/>
                <a:latin typeface="PingFang SC"/>
              </a:rPr>
              <a:t>1</a:t>
            </a:r>
            <a:r>
              <a:rPr lang="zh-CN" altLang="en-US" sz="1400" b="0" i="0" dirty="0">
                <a:solidFill>
                  <a:srgbClr val="4B4B4B"/>
                </a:solidFill>
                <a:effectLst/>
                <a:latin typeface="PingFang SC"/>
              </a:rPr>
              <a:t>的位，也就是这个二进制的第</a:t>
            </a:r>
            <a:r>
              <a:rPr lang="en-US" altLang="zh-CN" sz="1400" b="0" i="0" dirty="0">
                <a:solidFill>
                  <a:srgbClr val="4B4B4B"/>
                </a:solidFill>
                <a:effectLst/>
                <a:latin typeface="PingFang SC"/>
              </a:rPr>
              <a:t>4</a:t>
            </a:r>
            <a:r>
              <a:rPr lang="zh-CN" altLang="en-US" sz="1400" b="0" i="0" dirty="0">
                <a:solidFill>
                  <a:srgbClr val="4B4B4B"/>
                </a:solidFill>
                <a:effectLst/>
                <a:latin typeface="PingFang SC"/>
              </a:rPr>
              <a:t>位、第</a:t>
            </a:r>
            <a:r>
              <a:rPr lang="en-US" altLang="zh-CN" sz="1400" b="0" i="0" dirty="0">
                <a:solidFill>
                  <a:srgbClr val="4B4B4B"/>
                </a:solidFill>
                <a:effectLst/>
                <a:latin typeface="PingFang SC"/>
              </a:rPr>
              <a:t>3</a:t>
            </a:r>
            <a:r>
              <a:rPr lang="zh-CN" altLang="en-US" sz="1400" b="0" i="0" dirty="0">
                <a:solidFill>
                  <a:srgbClr val="4B4B4B"/>
                </a:solidFill>
                <a:effectLst/>
                <a:latin typeface="PingFang SC"/>
              </a:rPr>
              <a:t>位、第</a:t>
            </a:r>
            <a:r>
              <a:rPr lang="en-US" altLang="zh-CN" sz="1400" b="0" i="0" dirty="0">
                <a:solidFill>
                  <a:srgbClr val="4B4B4B"/>
                </a:solidFill>
                <a:effectLst/>
                <a:latin typeface="PingFang SC"/>
              </a:rPr>
              <a:t>0</a:t>
            </a:r>
            <a:r>
              <a:rPr lang="zh-CN" altLang="en-US" sz="1400" b="0" i="0" dirty="0">
                <a:solidFill>
                  <a:srgbClr val="4B4B4B"/>
                </a:solidFill>
                <a:effectLst/>
                <a:latin typeface="PingFang SC"/>
              </a:rPr>
              <a:t>位的二进制均为</a:t>
            </a:r>
            <a:r>
              <a:rPr lang="en-US" altLang="zh-CN" sz="1400" b="0" i="0" dirty="0">
                <a:solidFill>
                  <a:srgbClr val="4B4B4B"/>
                </a:solidFill>
                <a:effectLst/>
                <a:latin typeface="PingFang SC"/>
              </a:rPr>
              <a:t>1</a:t>
            </a:r>
            <a:r>
              <a:rPr lang="zh-CN" altLang="en-US" sz="1400" b="0" i="0" dirty="0">
                <a:solidFill>
                  <a:srgbClr val="4B4B4B"/>
                </a:solidFill>
                <a:effectLst/>
                <a:latin typeface="PingFang SC"/>
              </a:rPr>
              <a:t>，其它位均为</a:t>
            </a:r>
            <a:r>
              <a:rPr lang="en-US" altLang="zh-CN" sz="1400" b="0" i="0" dirty="0">
                <a:solidFill>
                  <a:srgbClr val="4B4B4B"/>
                </a:solidFill>
                <a:effectLst/>
                <a:latin typeface="PingFang SC"/>
              </a:rPr>
              <a:t>0</a:t>
            </a:r>
            <a:r>
              <a:rPr lang="zh-CN" altLang="en-US" sz="1400" b="0" i="0" dirty="0">
                <a:solidFill>
                  <a:srgbClr val="4B4B4B"/>
                </a:solidFill>
                <a:effectLst/>
                <a:latin typeface="PingFang SC"/>
              </a:rPr>
              <a:t>）很快就可得到它的二进制比特串为</a:t>
            </a:r>
            <a:r>
              <a:rPr lang="en-US" altLang="zh-CN" sz="1400" b="0" i="0" dirty="0">
                <a:solidFill>
                  <a:srgbClr val="4B4B4B"/>
                </a:solidFill>
                <a:effectLst/>
                <a:latin typeface="PingFang SC"/>
              </a:rPr>
              <a:t>11001</a:t>
            </a:r>
            <a:r>
              <a:rPr lang="zh-CN" altLang="en-US" sz="1400" b="0" i="0" dirty="0">
                <a:solidFill>
                  <a:srgbClr val="4B4B4B"/>
                </a:solidFill>
                <a:effectLst/>
                <a:latin typeface="PingFang SC"/>
              </a:rPr>
              <a:t>。</a:t>
            </a:r>
          </a:p>
          <a:p>
            <a:pPr marL="0" indent="0" algn="l">
              <a:buNone/>
            </a:pPr>
            <a:r>
              <a:rPr lang="zh-CN" altLang="en-US" sz="1400" b="0" i="0" dirty="0">
                <a:solidFill>
                  <a:srgbClr val="4B4B4B"/>
                </a:solidFill>
                <a:effectLst/>
                <a:latin typeface="PingFang SC"/>
              </a:rPr>
              <a:t>   （</a:t>
            </a:r>
            <a:r>
              <a:rPr lang="en-US" altLang="zh-CN" sz="1400" b="0" i="0" dirty="0">
                <a:solidFill>
                  <a:srgbClr val="4B4B4B"/>
                </a:solidFill>
                <a:effectLst/>
                <a:latin typeface="PingFang SC"/>
              </a:rPr>
              <a:t>2</a:t>
            </a:r>
            <a:r>
              <a:rPr lang="zh-CN" altLang="en-US" sz="1400" b="0" i="0" dirty="0">
                <a:solidFill>
                  <a:srgbClr val="4B4B4B"/>
                </a:solidFill>
                <a:effectLst/>
                <a:latin typeface="PingFang SC"/>
              </a:rPr>
              <a:t>）因为生成多项式的位数为</a:t>
            </a:r>
            <a:r>
              <a:rPr lang="en-US" altLang="zh-CN" sz="1400" b="0" i="0" dirty="0">
                <a:solidFill>
                  <a:srgbClr val="4B4B4B"/>
                </a:solidFill>
                <a:effectLst/>
                <a:latin typeface="PingFang SC"/>
              </a:rPr>
              <a:t>5</a:t>
            </a:r>
            <a:r>
              <a:rPr lang="zh-CN" altLang="en-US" sz="1400" b="0" i="0" dirty="0">
                <a:solidFill>
                  <a:srgbClr val="4B4B4B"/>
                </a:solidFill>
                <a:effectLst/>
                <a:latin typeface="PingFang SC"/>
              </a:rPr>
              <a:t>，根据前面的介绍，得知</a:t>
            </a:r>
            <a:r>
              <a:rPr lang="en-US" altLang="zh-CN" sz="1400" b="0" i="0" dirty="0">
                <a:solidFill>
                  <a:srgbClr val="4B4B4B"/>
                </a:solidFill>
                <a:effectLst/>
                <a:latin typeface="PingFang SC"/>
              </a:rPr>
              <a:t>CRC</a:t>
            </a:r>
            <a:r>
              <a:rPr lang="zh-CN" altLang="en-US" sz="1400" b="0" i="0" dirty="0">
                <a:solidFill>
                  <a:srgbClr val="4B4B4B"/>
                </a:solidFill>
                <a:effectLst/>
                <a:latin typeface="PingFang SC"/>
              </a:rPr>
              <a:t>校验码的位数为</a:t>
            </a:r>
            <a:r>
              <a:rPr lang="en-US" altLang="zh-CN" sz="1400" b="0" i="0" dirty="0">
                <a:solidFill>
                  <a:srgbClr val="4B4B4B"/>
                </a:solidFill>
                <a:effectLst/>
                <a:latin typeface="PingFang SC"/>
              </a:rPr>
              <a:t>4</a:t>
            </a:r>
            <a:r>
              <a:rPr lang="zh-CN" altLang="en-US" sz="1400" b="0" i="0" dirty="0">
                <a:solidFill>
                  <a:srgbClr val="4B4B4B"/>
                </a:solidFill>
                <a:effectLst/>
                <a:latin typeface="PingFang SC"/>
              </a:rPr>
              <a:t>（校验码的位数比生成多项式的位数少</a:t>
            </a:r>
            <a:r>
              <a:rPr lang="en-US" altLang="zh-CN" sz="1400" b="0" i="0" dirty="0">
                <a:solidFill>
                  <a:srgbClr val="4B4B4B"/>
                </a:solidFill>
                <a:effectLst/>
                <a:latin typeface="PingFang SC"/>
              </a:rPr>
              <a:t>1</a:t>
            </a:r>
            <a:r>
              <a:rPr lang="zh-CN" altLang="en-US" sz="1400" b="0" i="0" dirty="0">
                <a:solidFill>
                  <a:srgbClr val="4B4B4B"/>
                </a:solidFill>
                <a:effectLst/>
                <a:latin typeface="PingFang SC"/>
              </a:rPr>
              <a:t>）。因为原数据帧</a:t>
            </a:r>
            <a:r>
              <a:rPr lang="en-US" altLang="zh-CN" sz="1400" b="0" i="0" dirty="0">
                <a:solidFill>
                  <a:srgbClr val="4B4B4B"/>
                </a:solidFill>
                <a:effectLst/>
                <a:latin typeface="PingFang SC"/>
              </a:rPr>
              <a:t>10110011</a:t>
            </a:r>
            <a:r>
              <a:rPr lang="zh-CN" altLang="en-US" sz="1400" b="0" i="0" dirty="0">
                <a:solidFill>
                  <a:srgbClr val="4B4B4B"/>
                </a:solidFill>
                <a:effectLst/>
                <a:latin typeface="PingFang SC"/>
              </a:rPr>
              <a:t>，在它后面再加</a:t>
            </a:r>
            <a:r>
              <a:rPr lang="en-US" altLang="zh-CN" sz="1400" b="0" i="0" dirty="0">
                <a:solidFill>
                  <a:srgbClr val="4B4B4B"/>
                </a:solidFill>
                <a:effectLst/>
                <a:latin typeface="PingFang SC"/>
              </a:rPr>
              <a:t>4</a:t>
            </a:r>
            <a:r>
              <a:rPr lang="zh-CN" altLang="en-US" sz="1400" b="0" i="0" dirty="0">
                <a:solidFill>
                  <a:srgbClr val="4B4B4B"/>
                </a:solidFill>
                <a:effectLst/>
                <a:latin typeface="PingFang SC"/>
              </a:rPr>
              <a:t>个</a:t>
            </a:r>
            <a:r>
              <a:rPr lang="en-US" altLang="zh-CN" sz="1400" b="0" i="0" dirty="0">
                <a:solidFill>
                  <a:srgbClr val="4B4B4B"/>
                </a:solidFill>
                <a:effectLst/>
                <a:latin typeface="PingFang SC"/>
              </a:rPr>
              <a:t>0</a:t>
            </a:r>
            <a:r>
              <a:rPr lang="zh-CN" altLang="en-US" sz="1400" b="0" i="0" dirty="0">
                <a:solidFill>
                  <a:srgbClr val="4B4B4B"/>
                </a:solidFill>
                <a:effectLst/>
                <a:latin typeface="PingFang SC"/>
              </a:rPr>
              <a:t>，得到</a:t>
            </a:r>
            <a:r>
              <a:rPr lang="en-US" altLang="zh-CN" sz="1400" b="0" i="0" dirty="0">
                <a:solidFill>
                  <a:srgbClr val="4B4B4B"/>
                </a:solidFill>
                <a:effectLst/>
                <a:latin typeface="PingFang SC"/>
              </a:rPr>
              <a:t>101100110000</a:t>
            </a:r>
            <a:r>
              <a:rPr lang="zh-CN" altLang="en-US" sz="1400" b="0" i="0" dirty="0">
                <a:solidFill>
                  <a:srgbClr val="4B4B4B"/>
                </a:solidFill>
                <a:effectLst/>
                <a:latin typeface="PingFang SC"/>
              </a:rPr>
              <a:t>，然后把这个数以“模</a:t>
            </a:r>
            <a:r>
              <a:rPr lang="en-US" altLang="zh-CN" sz="1400" b="0" i="0" dirty="0">
                <a:solidFill>
                  <a:srgbClr val="4B4B4B"/>
                </a:solidFill>
                <a:effectLst/>
                <a:latin typeface="PingFang SC"/>
              </a:rPr>
              <a:t>2</a:t>
            </a:r>
            <a:r>
              <a:rPr lang="zh-CN" altLang="en-US" sz="1400" b="0" i="0" dirty="0">
                <a:solidFill>
                  <a:srgbClr val="4B4B4B"/>
                </a:solidFill>
                <a:effectLst/>
                <a:latin typeface="PingFang SC"/>
              </a:rPr>
              <a:t>除法”方式除以生成多项式，得到的余数，即</a:t>
            </a:r>
            <a:r>
              <a:rPr lang="en-US" altLang="zh-CN" sz="1400" b="0" i="0" dirty="0">
                <a:solidFill>
                  <a:srgbClr val="4B4B4B"/>
                </a:solidFill>
                <a:effectLst/>
                <a:latin typeface="PingFang SC"/>
              </a:rPr>
              <a:t>CRC</a:t>
            </a:r>
            <a:r>
              <a:rPr lang="zh-CN" altLang="en-US" sz="1400" b="0" i="0" dirty="0">
                <a:solidFill>
                  <a:srgbClr val="4B4B4B"/>
                </a:solidFill>
                <a:effectLst/>
                <a:latin typeface="PingFang SC"/>
              </a:rPr>
              <a:t>校验码为</a:t>
            </a:r>
            <a:r>
              <a:rPr lang="en-US" altLang="zh-CN" sz="1400" b="0" i="0" dirty="0">
                <a:solidFill>
                  <a:srgbClr val="4B4B4B"/>
                </a:solidFill>
                <a:effectLst/>
                <a:latin typeface="PingFang SC"/>
              </a:rPr>
              <a:t>0100</a:t>
            </a:r>
            <a:r>
              <a:rPr lang="zh-CN" altLang="en-US" sz="1400" b="0" i="0" dirty="0">
                <a:solidFill>
                  <a:srgbClr val="4B4B4B"/>
                </a:solidFill>
                <a:effectLst/>
                <a:latin typeface="PingFang SC"/>
              </a:rPr>
              <a:t>，如图</a:t>
            </a:r>
            <a:r>
              <a:rPr lang="en-US" altLang="zh-CN" sz="1400" b="0" i="0" dirty="0">
                <a:solidFill>
                  <a:srgbClr val="4B4B4B"/>
                </a:solidFill>
                <a:effectLst/>
                <a:latin typeface="PingFang SC"/>
              </a:rPr>
              <a:t>5-10</a:t>
            </a:r>
            <a:r>
              <a:rPr lang="zh-CN" altLang="en-US" sz="1400" b="0" i="0" dirty="0">
                <a:solidFill>
                  <a:srgbClr val="4B4B4B"/>
                </a:solidFill>
                <a:effectLst/>
                <a:latin typeface="PingFang SC"/>
              </a:rPr>
              <a:t>所示。</a:t>
            </a:r>
            <a:endParaRPr lang="en-US" altLang="zh-CN" sz="1400" b="0" i="0" dirty="0">
              <a:solidFill>
                <a:srgbClr val="4B4B4B"/>
              </a:solidFill>
              <a:effectLst/>
              <a:latin typeface="PingFang SC"/>
            </a:endParaRPr>
          </a:p>
          <a:p>
            <a:pPr marL="0" indent="0" algn="l">
              <a:buNone/>
            </a:pPr>
            <a:r>
              <a:rPr lang="zh-CN" altLang="en-US" sz="1400" dirty="0">
                <a:solidFill>
                  <a:srgbClr val="4B4B4B"/>
                </a:solidFill>
                <a:latin typeface="PingFang SC"/>
              </a:rPr>
              <a:t>   （</a:t>
            </a:r>
            <a:r>
              <a:rPr lang="en-US" altLang="zh-CN" sz="1400" dirty="0">
                <a:solidFill>
                  <a:srgbClr val="4B4B4B"/>
                </a:solidFill>
                <a:latin typeface="PingFang SC"/>
              </a:rPr>
              <a:t>3</a:t>
            </a:r>
            <a:r>
              <a:rPr lang="zh-CN" altLang="en-US" sz="1400" dirty="0">
                <a:solidFill>
                  <a:srgbClr val="4B4B4B"/>
                </a:solidFill>
                <a:latin typeface="PingFang SC"/>
              </a:rPr>
              <a:t>）把上步计算得到的</a:t>
            </a:r>
            <a:r>
              <a:rPr lang="en-US" altLang="zh-CN" sz="1400" dirty="0">
                <a:solidFill>
                  <a:srgbClr val="4B4B4B"/>
                </a:solidFill>
                <a:latin typeface="PingFang SC"/>
              </a:rPr>
              <a:t>CRC</a:t>
            </a:r>
            <a:r>
              <a:rPr lang="zh-CN" altLang="en-US" sz="1400" dirty="0">
                <a:solidFill>
                  <a:srgbClr val="4B4B4B"/>
                </a:solidFill>
                <a:latin typeface="PingFang SC"/>
              </a:rPr>
              <a:t>校验</a:t>
            </a:r>
            <a:r>
              <a:rPr lang="en-US" altLang="zh-CN" sz="1400" dirty="0">
                <a:solidFill>
                  <a:srgbClr val="4B4B4B"/>
                </a:solidFill>
                <a:latin typeface="PingFang SC"/>
              </a:rPr>
              <a:t>0100</a:t>
            </a:r>
            <a:r>
              <a:rPr lang="zh-CN" altLang="en-US" sz="1400" dirty="0">
                <a:solidFill>
                  <a:srgbClr val="4B4B4B"/>
                </a:solidFill>
                <a:latin typeface="PingFang SC"/>
              </a:rPr>
              <a:t>替换原始帧</a:t>
            </a:r>
            <a:r>
              <a:rPr lang="en-US" altLang="zh-CN" sz="1400" dirty="0">
                <a:solidFill>
                  <a:srgbClr val="4B4B4B"/>
                </a:solidFill>
                <a:latin typeface="PingFang SC"/>
              </a:rPr>
              <a:t>101100110000</a:t>
            </a:r>
            <a:r>
              <a:rPr lang="zh-CN" altLang="en-US" sz="1400" dirty="0">
                <a:solidFill>
                  <a:srgbClr val="4B4B4B"/>
                </a:solidFill>
                <a:latin typeface="PingFang SC"/>
              </a:rPr>
              <a:t>后面的四个“</a:t>
            </a:r>
            <a:r>
              <a:rPr lang="en-US" altLang="zh-CN" sz="1400" dirty="0">
                <a:solidFill>
                  <a:srgbClr val="4B4B4B"/>
                </a:solidFill>
                <a:latin typeface="PingFang SC"/>
              </a:rPr>
              <a:t>0”</a:t>
            </a:r>
            <a:r>
              <a:rPr lang="zh-CN" altLang="en-US" sz="1400" dirty="0">
                <a:solidFill>
                  <a:srgbClr val="4B4B4B"/>
                </a:solidFill>
                <a:latin typeface="PingFang SC"/>
              </a:rPr>
              <a:t>，得到新帧</a:t>
            </a:r>
            <a:r>
              <a:rPr lang="en-US" altLang="zh-CN" sz="1400" dirty="0">
                <a:solidFill>
                  <a:srgbClr val="4B4B4B"/>
                </a:solidFill>
                <a:latin typeface="PingFang SC"/>
              </a:rPr>
              <a:t>10110011</a:t>
            </a:r>
            <a:r>
              <a:rPr lang="en-US" altLang="zh-CN" sz="1400" dirty="0">
                <a:solidFill>
                  <a:srgbClr val="FF0000"/>
                </a:solidFill>
                <a:latin typeface="PingFang SC"/>
              </a:rPr>
              <a:t>0100</a:t>
            </a:r>
            <a:r>
              <a:rPr lang="en-US" altLang="zh-CN" sz="1400" dirty="0">
                <a:solidFill>
                  <a:srgbClr val="4B4B4B"/>
                </a:solidFill>
                <a:latin typeface="PingFang SC"/>
              </a:rPr>
              <a:t>.</a:t>
            </a:r>
            <a:endParaRPr lang="zh-CN" altLang="en-US" sz="1400" dirty="0">
              <a:solidFill>
                <a:srgbClr val="4B4B4B"/>
              </a:solidFill>
              <a:latin typeface="PingFang SC"/>
            </a:endParaRP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3386498" cy="523220"/>
          </a:xfrm>
          <a:prstGeom prst="rect">
            <a:avLst/>
          </a:prstGeom>
          <a:noFill/>
        </p:spPr>
        <p:txBody>
          <a:bodyPr wrap="square" rtlCol="0">
            <a:spAutoFit/>
          </a:bodyPr>
          <a:lstStyle/>
          <a:p>
            <a:r>
              <a:rPr lang="zh-CN" altLang="en-US" sz="2800" b="1" dirty="0">
                <a:solidFill>
                  <a:srgbClr val="0070C0"/>
                </a:solidFill>
              </a:rPr>
              <a:t>检错</a:t>
            </a:r>
            <a:r>
              <a:rPr lang="en-US" altLang="zh-CN" sz="2800" b="1" dirty="0">
                <a:solidFill>
                  <a:srgbClr val="0070C0"/>
                </a:solidFill>
              </a:rPr>
              <a:t>——CRC</a:t>
            </a:r>
            <a:r>
              <a:rPr lang="zh-CN" altLang="en-US" sz="2800" b="1" dirty="0">
                <a:solidFill>
                  <a:srgbClr val="0070C0"/>
                </a:solidFill>
              </a:rPr>
              <a:t>校验</a:t>
            </a:r>
          </a:p>
        </p:txBody>
      </p:sp>
      <p:pic>
        <p:nvPicPr>
          <p:cNvPr id="5" name="图片 4">
            <a:extLst>
              <a:ext uri="{FF2B5EF4-FFF2-40B4-BE49-F238E27FC236}">
                <a16:creationId xmlns:a16="http://schemas.microsoft.com/office/drawing/2014/main" id="{6D0382F6-47FE-4534-4EB5-08820D9A20B1}"/>
              </a:ext>
            </a:extLst>
          </p:cNvPr>
          <p:cNvPicPr>
            <a:picLocks noChangeAspect="1"/>
          </p:cNvPicPr>
          <p:nvPr/>
        </p:nvPicPr>
        <p:blipFill>
          <a:blip r:embed="rId3"/>
          <a:stretch>
            <a:fillRect/>
          </a:stretch>
        </p:blipFill>
        <p:spPr>
          <a:xfrm>
            <a:off x="3676153" y="3577045"/>
            <a:ext cx="5400131" cy="2753608"/>
          </a:xfrm>
          <a:prstGeom prst="rect">
            <a:avLst/>
          </a:prstGeom>
        </p:spPr>
      </p:pic>
    </p:spTree>
    <p:extLst>
      <p:ext uri="{BB962C8B-B14F-4D97-AF65-F5344CB8AC3E}">
        <p14:creationId xmlns:p14="http://schemas.microsoft.com/office/powerpoint/2010/main" val="162354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gn="l">
              <a:buFont typeface="Arial" panose="020B0604020202020204" pitchFamily="34" charset="0"/>
              <a:buChar char="•"/>
            </a:pPr>
            <a:r>
              <a:rPr lang="zh-CN" altLang="en-US" sz="2000" b="0" i="0" dirty="0">
                <a:solidFill>
                  <a:srgbClr val="000000"/>
                </a:solidFill>
                <a:effectLst/>
                <a:latin typeface="Optima-Regular"/>
              </a:rPr>
              <a:t>硬件实现</a:t>
            </a:r>
            <a:endParaRPr lang="en-US" altLang="zh-CN" sz="2000" b="0" i="0" dirty="0">
              <a:solidFill>
                <a:srgbClr val="000000"/>
              </a:solidFill>
              <a:effectLst/>
              <a:latin typeface="Optima-Regular"/>
            </a:endParaRPr>
          </a:p>
          <a:p>
            <a:pPr marL="0" indent="0" algn="l">
              <a:buNone/>
            </a:pPr>
            <a:r>
              <a:rPr lang="zh-CN" altLang="en-US" sz="1800" b="0" i="0" dirty="0">
                <a:solidFill>
                  <a:srgbClr val="000000"/>
                </a:solidFill>
                <a:effectLst/>
                <a:latin typeface="Optima-Regular"/>
              </a:rPr>
              <a:t>选择一个</a:t>
            </a:r>
            <a:r>
              <a:rPr lang="en-US" altLang="zh-CN" sz="1800" b="0" i="0" dirty="0">
                <a:solidFill>
                  <a:srgbClr val="000000"/>
                </a:solidFill>
                <a:effectLst/>
                <a:latin typeface="Optima-Regular"/>
              </a:rPr>
              <a:t>CRC</a:t>
            </a:r>
            <a:r>
              <a:rPr lang="zh-CN" altLang="en-US" sz="1800" b="0" i="0" dirty="0">
                <a:solidFill>
                  <a:srgbClr val="000000"/>
                </a:solidFill>
                <a:effectLst/>
                <a:latin typeface="Optima-Regular"/>
              </a:rPr>
              <a:t>算法或生成多项式，如</a:t>
            </a:r>
            <a:r>
              <a:rPr lang="en-US" altLang="zh-CN" sz="1800" b="0" i="0" dirty="0">
                <a:solidFill>
                  <a:srgbClr val="000000"/>
                </a:solidFill>
                <a:effectLst/>
                <a:latin typeface="Optima-Regular"/>
              </a:rPr>
              <a:t>CRC8-CCITT</a:t>
            </a:r>
            <a:r>
              <a:rPr lang="zh-CN" altLang="en-US" sz="1800" b="0" i="0" dirty="0">
                <a:solidFill>
                  <a:srgbClr val="000000"/>
                </a:solidFill>
                <a:effectLst/>
                <a:latin typeface="Optima-Regular"/>
              </a:rPr>
              <a:t>的生成多项式表示为（</a:t>
            </a:r>
            <a:r>
              <a:rPr lang="en-US" altLang="zh-CN" sz="1800" b="0" i="0" dirty="0">
                <a:solidFill>
                  <a:srgbClr val="000000"/>
                </a:solidFill>
                <a:effectLst/>
                <a:latin typeface="Optima-Regular"/>
              </a:rPr>
              <a:t>x^8+x^2+x+1</a:t>
            </a:r>
            <a:r>
              <a:rPr lang="zh-CN" altLang="en-US" sz="1800" b="0" i="0" dirty="0">
                <a:solidFill>
                  <a:srgbClr val="000000"/>
                </a:solidFill>
                <a:effectLst/>
                <a:latin typeface="Optima-Regular"/>
              </a:rPr>
              <a:t>）</a:t>
            </a:r>
            <a:r>
              <a:rPr lang="en-US" altLang="zh-CN" sz="1800" b="0" i="0" dirty="0">
                <a:solidFill>
                  <a:srgbClr val="000000"/>
                </a:solidFill>
                <a:effectLst/>
                <a:latin typeface="Optima-Regular"/>
              </a:rPr>
              <a:t>;</a:t>
            </a:r>
          </a:p>
          <a:p>
            <a:pPr marL="0" indent="0" algn="l">
              <a:buNone/>
            </a:pPr>
            <a:r>
              <a:rPr lang="en-US" altLang="zh-CN" sz="1800" b="0" i="0" dirty="0">
                <a:solidFill>
                  <a:srgbClr val="000000"/>
                </a:solidFill>
                <a:effectLst/>
                <a:latin typeface="Optima-Regular"/>
              </a:rPr>
              <a:t>CRC8</a:t>
            </a:r>
            <a:r>
              <a:rPr lang="zh-CN" altLang="en-US" sz="1800" b="0" i="0" dirty="0">
                <a:solidFill>
                  <a:srgbClr val="000000"/>
                </a:solidFill>
                <a:effectLst/>
                <a:latin typeface="Optima-Regular"/>
              </a:rPr>
              <a:t>硬件上由</a:t>
            </a:r>
            <a:r>
              <a:rPr lang="en-US" altLang="zh-CN" sz="1800" b="0" i="0" dirty="0">
                <a:solidFill>
                  <a:srgbClr val="000000"/>
                </a:solidFill>
                <a:effectLst/>
                <a:latin typeface="Optima-Regular"/>
              </a:rPr>
              <a:t>8</a:t>
            </a:r>
            <a:r>
              <a:rPr lang="zh-CN" altLang="en-US" sz="1800" b="0" i="0" dirty="0">
                <a:solidFill>
                  <a:srgbClr val="000000"/>
                </a:solidFill>
                <a:effectLst/>
                <a:latin typeface="Optima-Regular"/>
              </a:rPr>
              <a:t>个触发器实现，整合为一个移位寄存器，称为</a:t>
            </a:r>
            <a:r>
              <a:rPr lang="en-US" altLang="zh-CN" sz="1800" b="0" i="0" dirty="0">
                <a:solidFill>
                  <a:srgbClr val="000000"/>
                </a:solidFill>
                <a:effectLst/>
                <a:latin typeface="Optima-Regular"/>
              </a:rPr>
              <a:t>CRC</a:t>
            </a:r>
            <a:r>
              <a:rPr lang="zh-CN" altLang="en-US" sz="1800" b="0" i="0" dirty="0">
                <a:solidFill>
                  <a:srgbClr val="000000"/>
                </a:solidFill>
                <a:effectLst/>
                <a:latin typeface="Optima-Regular"/>
              </a:rPr>
              <a:t>寄存器</a:t>
            </a:r>
          </a:p>
          <a:p>
            <a:pPr algn="l"/>
            <a:endParaRPr lang="zh-CN" altLang="en-US" sz="1600" b="0" i="0" dirty="0">
              <a:solidFill>
                <a:srgbClr val="4B4B4B"/>
              </a:solidFill>
              <a:effectLst/>
              <a:latin typeface="PingFang SC"/>
            </a:endParaRP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3386498" cy="523220"/>
          </a:xfrm>
          <a:prstGeom prst="rect">
            <a:avLst/>
          </a:prstGeom>
          <a:noFill/>
        </p:spPr>
        <p:txBody>
          <a:bodyPr wrap="square" rtlCol="0">
            <a:spAutoFit/>
          </a:bodyPr>
          <a:lstStyle/>
          <a:p>
            <a:r>
              <a:rPr lang="zh-CN" altLang="en-US" sz="2800" b="1" dirty="0">
                <a:solidFill>
                  <a:srgbClr val="0070C0"/>
                </a:solidFill>
              </a:rPr>
              <a:t>检错</a:t>
            </a:r>
            <a:r>
              <a:rPr lang="en-US" altLang="zh-CN" sz="2800" b="1" dirty="0">
                <a:solidFill>
                  <a:srgbClr val="0070C0"/>
                </a:solidFill>
              </a:rPr>
              <a:t>——CRC</a:t>
            </a:r>
            <a:r>
              <a:rPr lang="zh-CN" altLang="en-US" sz="2800" b="1" dirty="0">
                <a:solidFill>
                  <a:srgbClr val="0070C0"/>
                </a:solidFill>
              </a:rPr>
              <a:t>校验</a:t>
            </a:r>
          </a:p>
        </p:txBody>
      </p:sp>
      <p:pic>
        <p:nvPicPr>
          <p:cNvPr id="6" name="图片 5">
            <a:extLst>
              <a:ext uri="{FF2B5EF4-FFF2-40B4-BE49-F238E27FC236}">
                <a16:creationId xmlns:a16="http://schemas.microsoft.com/office/drawing/2014/main" id="{60018FCB-5C33-7F81-EE2E-B92750D2532A}"/>
              </a:ext>
            </a:extLst>
          </p:cNvPr>
          <p:cNvPicPr>
            <a:picLocks noChangeAspect="1"/>
          </p:cNvPicPr>
          <p:nvPr/>
        </p:nvPicPr>
        <p:blipFill>
          <a:blip r:embed="rId3"/>
          <a:stretch>
            <a:fillRect/>
          </a:stretch>
        </p:blipFill>
        <p:spPr>
          <a:xfrm>
            <a:off x="2731805" y="2237026"/>
            <a:ext cx="5397114" cy="2730875"/>
          </a:xfrm>
          <a:prstGeom prst="rect">
            <a:avLst/>
          </a:prstGeom>
        </p:spPr>
      </p:pic>
      <p:sp>
        <p:nvSpPr>
          <p:cNvPr id="8" name="文本框 7">
            <a:extLst>
              <a:ext uri="{FF2B5EF4-FFF2-40B4-BE49-F238E27FC236}">
                <a16:creationId xmlns:a16="http://schemas.microsoft.com/office/drawing/2014/main" id="{102E0FB7-8691-E0CD-BEC3-F9CC21EC4605}"/>
              </a:ext>
            </a:extLst>
          </p:cNvPr>
          <p:cNvSpPr txBox="1"/>
          <p:nvPr/>
        </p:nvSpPr>
        <p:spPr>
          <a:xfrm>
            <a:off x="914401" y="5010286"/>
            <a:ext cx="10972800" cy="1296445"/>
          </a:xfrm>
          <a:prstGeom prst="rect">
            <a:avLst/>
          </a:prstGeom>
          <a:noFill/>
        </p:spPr>
        <p:txBody>
          <a:bodyPr wrap="square">
            <a:spAutoFit/>
          </a:bodyPr>
          <a:lstStyle/>
          <a:p>
            <a:pPr algn="l">
              <a:lnSpc>
                <a:spcPct val="150000"/>
              </a:lnSpc>
            </a:pPr>
            <a:r>
              <a:rPr lang="zh-CN" altLang="en-US" b="0" i="0" dirty="0">
                <a:solidFill>
                  <a:srgbClr val="000000"/>
                </a:solidFill>
                <a:effectLst/>
                <a:latin typeface="Optima-Regular"/>
              </a:rPr>
              <a:t>计算</a:t>
            </a:r>
            <a:r>
              <a:rPr lang="en-US" altLang="zh-CN" b="0" i="0" dirty="0">
                <a:solidFill>
                  <a:srgbClr val="000000"/>
                </a:solidFill>
                <a:effectLst/>
                <a:latin typeface="Optima-Regular"/>
              </a:rPr>
              <a:t>CRC</a:t>
            </a:r>
            <a:r>
              <a:rPr lang="zh-CN" altLang="en-US" b="0" i="0" dirty="0">
                <a:solidFill>
                  <a:srgbClr val="000000"/>
                </a:solidFill>
                <a:effectLst/>
                <a:latin typeface="Optima-Regular"/>
              </a:rPr>
              <a:t>之前，</a:t>
            </a:r>
            <a:r>
              <a:rPr lang="en-US" altLang="zh-CN" b="0" i="0" dirty="0">
                <a:solidFill>
                  <a:srgbClr val="000000"/>
                </a:solidFill>
                <a:effectLst/>
                <a:latin typeface="Optima-Regular"/>
              </a:rPr>
              <a:t>CRC</a:t>
            </a:r>
            <a:r>
              <a:rPr lang="zh-CN" altLang="en-US" b="0" i="0" dirty="0">
                <a:solidFill>
                  <a:srgbClr val="000000"/>
                </a:solidFill>
                <a:effectLst/>
                <a:latin typeface="Optima-Regular"/>
              </a:rPr>
              <a:t>寄存器初始化为一个已知的值，称为</a:t>
            </a:r>
            <a:r>
              <a:rPr lang="en-US" altLang="zh-CN" b="0" i="0" dirty="0">
                <a:solidFill>
                  <a:srgbClr val="000000"/>
                </a:solidFill>
                <a:effectLst/>
                <a:latin typeface="Optima-Regular"/>
              </a:rPr>
              <a:t>CRC</a:t>
            </a:r>
            <a:r>
              <a:rPr lang="zh-CN" altLang="en-US" b="0" i="0" dirty="0">
                <a:solidFill>
                  <a:srgbClr val="000000"/>
                </a:solidFill>
                <a:effectLst/>
                <a:latin typeface="Optima-Regular"/>
              </a:rPr>
              <a:t>初始值；这里要求确定的初始值，因为接收端的</a:t>
            </a:r>
            <a:r>
              <a:rPr lang="en-US" altLang="zh-CN" b="0" i="0" dirty="0">
                <a:solidFill>
                  <a:srgbClr val="000000"/>
                </a:solidFill>
                <a:effectLst/>
                <a:latin typeface="Optima-Regular"/>
              </a:rPr>
              <a:t>CRC</a:t>
            </a:r>
            <a:r>
              <a:rPr lang="zh-CN" altLang="en-US" b="0" i="0" dirty="0">
                <a:solidFill>
                  <a:srgbClr val="000000"/>
                </a:solidFill>
                <a:effectLst/>
                <a:latin typeface="Optima-Regular"/>
              </a:rPr>
              <a:t>校验电路需要使用和发送端相同的初始值；在每个周期，新的数据不断输入，</a:t>
            </a:r>
            <a:r>
              <a:rPr lang="en-US" altLang="zh-CN" b="0" i="0" dirty="0">
                <a:solidFill>
                  <a:srgbClr val="000000"/>
                </a:solidFill>
                <a:effectLst/>
                <a:latin typeface="Optima-Regular"/>
              </a:rPr>
              <a:t>CRC</a:t>
            </a:r>
            <a:r>
              <a:rPr lang="zh-CN" altLang="en-US" b="0" i="0" dirty="0">
                <a:solidFill>
                  <a:srgbClr val="000000"/>
                </a:solidFill>
                <a:effectLst/>
                <a:latin typeface="Optima-Regular"/>
              </a:rPr>
              <a:t>寄存器不断更新，直到最后一个输入比特到达；当最后一个数据比特到达时，</a:t>
            </a:r>
            <a:r>
              <a:rPr lang="en-US" altLang="zh-CN" b="0" i="0" dirty="0">
                <a:solidFill>
                  <a:srgbClr val="000000"/>
                </a:solidFill>
                <a:effectLst/>
                <a:latin typeface="Optima-Regular"/>
              </a:rPr>
              <a:t>CRC</a:t>
            </a:r>
            <a:r>
              <a:rPr lang="zh-CN" altLang="en-US" b="0" i="0" dirty="0">
                <a:solidFill>
                  <a:srgbClr val="000000"/>
                </a:solidFill>
                <a:effectLst/>
                <a:latin typeface="Optima-Regular"/>
              </a:rPr>
              <a:t>内部所存储的就是最后的</a:t>
            </a:r>
            <a:r>
              <a:rPr lang="en-US" altLang="zh-CN" b="0" i="0" dirty="0">
                <a:solidFill>
                  <a:srgbClr val="000000"/>
                </a:solidFill>
                <a:effectLst/>
                <a:latin typeface="Optima-Regular"/>
              </a:rPr>
              <a:t>CRC</a:t>
            </a:r>
            <a:r>
              <a:rPr lang="zh-CN" altLang="en-US" b="0" i="0" dirty="0">
                <a:solidFill>
                  <a:srgbClr val="000000"/>
                </a:solidFill>
                <a:effectLst/>
                <a:latin typeface="Optima-Regular"/>
              </a:rPr>
              <a:t>校验结果；</a:t>
            </a:r>
          </a:p>
        </p:txBody>
      </p:sp>
    </p:spTree>
    <p:extLst>
      <p:ext uri="{BB962C8B-B14F-4D97-AF65-F5344CB8AC3E}">
        <p14:creationId xmlns:p14="http://schemas.microsoft.com/office/powerpoint/2010/main" val="773235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2000" dirty="0"/>
              <a:t>如果冗余比特数量达到一定程度，我们就不仅可以发现错误，还可以纠正这些错误。</a:t>
            </a:r>
            <a:r>
              <a:rPr lang="zh-CN" altLang="en-US" sz="2000" dirty="0">
                <a:solidFill>
                  <a:srgbClr val="FF0000"/>
                </a:solidFill>
              </a:rPr>
              <a:t>纠错编码（</a:t>
            </a:r>
            <a:r>
              <a:rPr lang="en-US" altLang="zh-CN" sz="2000" dirty="0">
                <a:solidFill>
                  <a:srgbClr val="FF0000"/>
                </a:solidFill>
              </a:rPr>
              <a:t>ECC</a:t>
            </a:r>
            <a:r>
              <a:rPr lang="zh-CN" altLang="en-US" sz="2000" dirty="0">
                <a:solidFill>
                  <a:srgbClr val="FF0000"/>
                </a:solidFill>
              </a:rPr>
              <a:t>，</a:t>
            </a:r>
            <a:r>
              <a:rPr lang="en-US" altLang="zh-CN" sz="2000" dirty="0">
                <a:solidFill>
                  <a:srgbClr val="FF0000"/>
                </a:solidFill>
              </a:rPr>
              <a:t>Error Correcting Code</a:t>
            </a:r>
            <a:r>
              <a:rPr lang="zh-CN" altLang="en-US" sz="2000" dirty="0">
                <a:solidFill>
                  <a:srgbClr val="FF0000"/>
                </a:solidFill>
              </a:rPr>
              <a:t>）</a:t>
            </a:r>
            <a:r>
              <a:rPr lang="zh-CN" altLang="en-US" sz="2000" dirty="0"/>
              <a:t>分为两种，一种是块状编码（简称为块状码或分组码），一种是卷积编码</a:t>
            </a:r>
            <a:r>
              <a:rPr lang="en-US" altLang="zh-CN" sz="2000" dirty="0"/>
              <a:t>(</a:t>
            </a:r>
            <a:r>
              <a:rPr lang="zh-CN" altLang="en-US" sz="2000" dirty="0"/>
              <a:t>简称为卷积码</a:t>
            </a:r>
            <a:r>
              <a:rPr lang="en-US" altLang="zh-CN" sz="2000" dirty="0"/>
              <a:t>)</a:t>
            </a:r>
            <a:r>
              <a:rPr lang="zh-CN" altLang="en-US" sz="2000" dirty="0"/>
              <a:t>。</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p>
        </p:txBody>
      </p:sp>
      <p:pic>
        <p:nvPicPr>
          <p:cNvPr id="5" name="图片 4">
            <a:extLst>
              <a:ext uri="{FF2B5EF4-FFF2-40B4-BE49-F238E27FC236}">
                <a16:creationId xmlns:a16="http://schemas.microsoft.com/office/drawing/2014/main" id="{FE2E73E2-0543-A9FA-F7D8-0C3147A96E74}"/>
              </a:ext>
            </a:extLst>
          </p:cNvPr>
          <p:cNvPicPr>
            <a:picLocks noChangeAspect="1"/>
          </p:cNvPicPr>
          <p:nvPr/>
        </p:nvPicPr>
        <p:blipFill>
          <a:blip r:embed="rId3"/>
          <a:stretch>
            <a:fillRect/>
          </a:stretch>
        </p:blipFill>
        <p:spPr>
          <a:xfrm>
            <a:off x="2960548" y="2015008"/>
            <a:ext cx="5589553" cy="4368375"/>
          </a:xfrm>
          <a:prstGeom prst="rect">
            <a:avLst/>
          </a:prstGeom>
        </p:spPr>
      </p:pic>
    </p:spTree>
    <p:extLst>
      <p:ext uri="{BB962C8B-B14F-4D97-AF65-F5344CB8AC3E}">
        <p14:creationId xmlns:p14="http://schemas.microsoft.com/office/powerpoint/2010/main" val="1356557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45921" y="1255735"/>
            <a:ext cx="10515600" cy="4346530"/>
          </a:xfrm>
        </p:spPr>
        <p:txBody>
          <a:bodyPr>
            <a:noAutofit/>
          </a:bodyPr>
          <a:lstStyle/>
          <a:p>
            <a:r>
              <a:rPr lang="zh-CN" altLang="en-US" sz="2000" dirty="0">
                <a:solidFill>
                  <a:srgbClr val="FF0000"/>
                </a:solidFill>
              </a:rPr>
              <a:t>块状码</a:t>
            </a:r>
            <a:r>
              <a:rPr lang="zh-CN" altLang="en-US" sz="2000" dirty="0"/>
              <a:t>：进行块状编码时， 需要将用户数据块分成固定长度的组， 针对每一组计算并添加冗余比特。我们以</a:t>
            </a:r>
            <a:r>
              <a:rPr lang="en-US" altLang="zh-CN" sz="2000" dirty="0"/>
              <a:t>Flash ( </a:t>
            </a:r>
            <a:r>
              <a:rPr lang="zh-CN" altLang="en-US" sz="2000" dirty="0"/>
              <a:t>闪存 ） 为例， 其内部的数据被划分为</a:t>
            </a:r>
            <a:r>
              <a:rPr lang="en-US" altLang="zh-CN" sz="2000" dirty="0"/>
              <a:t>512</a:t>
            </a:r>
            <a:r>
              <a:rPr lang="zh-CN" altLang="en-US" sz="2000" dirty="0"/>
              <a:t>比特（ 每一块数据的比特数</a:t>
            </a:r>
            <a:r>
              <a:rPr lang="en-US" altLang="zh-CN" sz="2000" dirty="0"/>
              <a:t>n = 512 ) </a:t>
            </a:r>
            <a:r>
              <a:rPr lang="zh-CN" altLang="en-US" sz="2000" dirty="0"/>
              <a:t>的块， 针对每个块有</a:t>
            </a:r>
            <a:r>
              <a:rPr lang="en-US" altLang="zh-CN" sz="2000" dirty="0"/>
              <a:t>k</a:t>
            </a:r>
            <a:r>
              <a:rPr lang="zh-CN" altLang="en-US" sz="2000" dirty="0"/>
              <a:t>个按照一定算法生成的冗余比特。这些冗余比特是根据</a:t>
            </a:r>
            <a:r>
              <a:rPr lang="en-US" altLang="zh-CN" sz="2000" dirty="0"/>
              <a:t>n</a:t>
            </a:r>
            <a:r>
              <a:rPr lang="zh-CN" altLang="en-US" sz="2000" dirty="0"/>
              <a:t>比特数据产生的奇偶校验比特。数据比特</a:t>
            </a:r>
            <a:r>
              <a:rPr lang="en-US" altLang="zh-CN" sz="2000" dirty="0"/>
              <a:t>(n) </a:t>
            </a:r>
            <a:r>
              <a:rPr lang="zh-CN" altLang="en-US" sz="2000" dirty="0"/>
              <a:t>及冗余比特</a:t>
            </a:r>
            <a:r>
              <a:rPr lang="en-US" altLang="zh-CN" sz="2000" dirty="0"/>
              <a:t>(k)</a:t>
            </a:r>
            <a:r>
              <a:rPr lang="zh-CN" altLang="en-US" sz="2000" dirty="0"/>
              <a:t>共同构成编码字， 这 </a:t>
            </a:r>
            <a:r>
              <a:rPr lang="en-US" altLang="zh-CN" sz="2000" dirty="0" err="1"/>
              <a:t>n+k</a:t>
            </a:r>
            <a:r>
              <a:rPr lang="en-US" altLang="zh-CN" sz="2000" dirty="0"/>
              <a:t> </a:t>
            </a:r>
            <a:r>
              <a:rPr lang="zh-CN" altLang="en-US" sz="2000" dirty="0"/>
              <a:t>比特被存储在闪存中。从闪存中读出数据时，</a:t>
            </a:r>
            <a:r>
              <a:rPr lang="en-US" altLang="zh-CN" sz="2000" dirty="0" err="1"/>
              <a:t>n+k</a:t>
            </a:r>
            <a:r>
              <a:rPr lang="zh-CN" altLang="en-US" sz="2000" dirty="0"/>
              <a:t>比特被读出， 此后需要根据编码规则进行错误纠正。在块状码中， 两个编码块之间不存在相互关联， 每个数据块独立地进行错误纠正，与其他数据块无关。</a:t>
            </a:r>
            <a:endParaRPr lang="en-US" altLang="zh-CN" sz="2000" dirty="0"/>
          </a:p>
          <a:p>
            <a:r>
              <a:rPr lang="zh-CN" altLang="en-US" sz="2000" dirty="0">
                <a:solidFill>
                  <a:srgbClr val="FF0000"/>
                </a:solidFill>
              </a:rPr>
              <a:t>卷积码</a:t>
            </a:r>
            <a:r>
              <a:rPr lang="zh-CN" altLang="en-US" sz="2000" dirty="0"/>
              <a:t>：与块状码不同， 卷积编码的当前编码输出不仅与当前输入有关， 还与此前的输入有关。</a:t>
            </a:r>
            <a:endParaRPr lang="en-US" altLang="zh-CN" sz="2000" dirty="0"/>
          </a:p>
          <a:p>
            <a:r>
              <a:rPr lang="zh-CN" altLang="en-US" sz="2000" dirty="0">
                <a:solidFill>
                  <a:srgbClr val="FF0000"/>
                </a:solidFill>
              </a:rPr>
              <a:t>线性编码</a:t>
            </a:r>
            <a:r>
              <a:rPr lang="zh-CN" altLang="en-US" sz="2000" dirty="0"/>
              <a:t>：它是块状码的一种， 两个编码字的线性组合可以构成另外的编码字，汉明码是线性码的一种。</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p>
        </p:txBody>
      </p:sp>
    </p:spTree>
    <p:extLst>
      <p:ext uri="{BB962C8B-B14F-4D97-AF65-F5344CB8AC3E}">
        <p14:creationId xmlns:p14="http://schemas.microsoft.com/office/powerpoint/2010/main" val="3251642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2000" dirty="0"/>
              <a:t>汉明码是一种线性码，每个编码块都可以检测岀两个以内的比特错误，可以纠正单比特错误。 </a:t>
            </a:r>
            <a:r>
              <a:rPr lang="en-US" altLang="zh-CN" sz="2000" dirty="0"/>
              <a:t>DDR</a:t>
            </a:r>
            <a:r>
              <a:rPr lang="zh-CN" altLang="en-US" sz="2000" dirty="0"/>
              <a:t>存储器中使用了</a:t>
            </a:r>
            <a:r>
              <a:rPr lang="en-US" altLang="zh-CN" sz="2000" dirty="0"/>
              <a:t>(72,64)</a:t>
            </a:r>
            <a:r>
              <a:rPr lang="zh-CN" altLang="en-US" sz="2000" dirty="0"/>
              <a:t>汉明码作为纠错码。</a:t>
            </a:r>
            <a:endParaRPr lang="en-US" altLang="zh-CN" sz="2000" dirty="0"/>
          </a:p>
          <a:p>
            <a:endParaRPr lang="en-US" altLang="zh-CN" sz="2000" dirty="0"/>
          </a:p>
          <a:p>
            <a:pPr>
              <a:buFont typeface="Wingdings" panose="05000000000000000000" pitchFamily="2" charset="2"/>
              <a:buChar char="Ø"/>
            </a:pPr>
            <a:r>
              <a:rPr lang="zh-CN" altLang="en-US" sz="2000" dirty="0"/>
              <a:t>以</a:t>
            </a:r>
            <a:r>
              <a:rPr lang="en-US" altLang="zh-CN" sz="2000" dirty="0"/>
              <a:t>1010110</a:t>
            </a:r>
            <a:r>
              <a:rPr lang="zh-CN" altLang="en-US" sz="2000" dirty="0"/>
              <a:t>这个二进制数为例解释汉明码的编码和校验方法。</a:t>
            </a:r>
            <a:endParaRPr lang="en-US" altLang="zh-CN" sz="2000" dirty="0"/>
          </a:p>
          <a:p>
            <a:endParaRPr lang="en-US" altLang="zh-CN" sz="2000" dirty="0"/>
          </a:p>
          <a:p>
            <a:pPr marL="0" indent="0">
              <a:buNone/>
            </a:pPr>
            <a:r>
              <a:rPr lang="zh-CN" altLang="en-US" sz="2000" dirty="0"/>
              <a:t>（</a:t>
            </a:r>
            <a:r>
              <a:rPr lang="en-US" altLang="zh-CN" sz="2000" dirty="0"/>
              <a:t>1</a:t>
            </a:r>
            <a:r>
              <a:rPr lang="zh-CN" altLang="en-US" sz="2000" dirty="0"/>
              <a:t>）确定校验码的位数</a:t>
            </a:r>
            <a:r>
              <a:rPr lang="en-US" altLang="zh-CN" sz="2000" dirty="0"/>
              <a:t>x</a:t>
            </a:r>
          </a:p>
          <a:p>
            <a:pPr marL="0" indent="0">
              <a:buNone/>
            </a:pPr>
            <a:r>
              <a:rPr lang="zh-CN" altLang="en-US" sz="2000" dirty="0"/>
              <a:t>设数据有</a:t>
            </a:r>
            <a:r>
              <a:rPr lang="en-US" altLang="zh-CN" sz="2000" dirty="0"/>
              <a:t>n</a:t>
            </a:r>
            <a:r>
              <a:rPr lang="zh-CN" altLang="en-US" sz="2000" dirty="0"/>
              <a:t>位，校验码有</a:t>
            </a:r>
            <a:r>
              <a:rPr lang="en-US" altLang="zh-CN" sz="2000" dirty="0"/>
              <a:t>x</a:t>
            </a:r>
            <a:r>
              <a:rPr lang="zh-CN" altLang="en-US" sz="2000" dirty="0"/>
              <a:t>位。则校验码一共有</a:t>
            </a:r>
            <a:r>
              <a:rPr lang="en-US" altLang="zh-CN" sz="2000" dirty="0"/>
              <a:t>2^x</a:t>
            </a:r>
            <a:r>
              <a:rPr lang="zh-CN" altLang="en-US" sz="2000" dirty="0"/>
              <a:t>种取值方式。其中有一个代表是否出错，</a:t>
            </a:r>
            <a:r>
              <a:rPr lang="en-US" altLang="zh-CN" sz="2000" dirty="0"/>
              <a:t> </a:t>
            </a:r>
            <a:r>
              <a:rPr lang="zh-CN" altLang="en-US" sz="2000" dirty="0"/>
              <a:t>剩下</a:t>
            </a:r>
            <a:r>
              <a:rPr lang="en-US" altLang="zh-CN" sz="2000" dirty="0"/>
              <a:t>2^x-1 </a:t>
            </a:r>
            <a:r>
              <a:rPr lang="zh-CN" altLang="en-US" sz="2000" dirty="0"/>
              <a:t>个编码则用来表示到底是哪一位出错</a:t>
            </a:r>
            <a:r>
              <a:rPr lang="en-US" altLang="zh-CN" sz="2000" dirty="0"/>
              <a:t>. </a:t>
            </a:r>
            <a:r>
              <a:rPr lang="zh-CN" altLang="en-US" sz="2000" dirty="0"/>
              <a:t>因为</a:t>
            </a:r>
            <a:r>
              <a:rPr lang="en-US" altLang="zh-CN" sz="2000" dirty="0"/>
              <a:t>n</a:t>
            </a:r>
            <a:r>
              <a:rPr lang="zh-CN" altLang="en-US" sz="2000" dirty="0"/>
              <a:t>个数据位和</a:t>
            </a:r>
            <a:r>
              <a:rPr lang="en-US" altLang="zh-CN" sz="2000" dirty="0"/>
              <a:t>k</a:t>
            </a:r>
            <a:r>
              <a:rPr lang="zh-CN" altLang="en-US" sz="2000" dirty="0"/>
              <a:t>个校验位都可能出错，即编码后有</a:t>
            </a:r>
            <a:r>
              <a:rPr lang="en-US" altLang="zh-CN" sz="2000" dirty="0" err="1"/>
              <a:t>n+x</a:t>
            </a:r>
            <a:r>
              <a:rPr lang="zh-CN" altLang="en-US" sz="2000" dirty="0"/>
              <a:t>位可能出错，因此</a:t>
            </a:r>
            <a:r>
              <a:rPr lang="en-US" altLang="zh-CN" sz="2000" dirty="0"/>
              <a:t>x</a:t>
            </a:r>
            <a:r>
              <a:rPr lang="zh-CN" altLang="en-US" sz="2000" dirty="0"/>
              <a:t>应该满足</a:t>
            </a:r>
            <a:endParaRPr lang="en-US" altLang="zh-CN" sz="2000" dirty="0"/>
          </a:p>
          <a:p>
            <a:pPr marL="0" indent="0">
              <a:buNone/>
            </a:pPr>
            <a:r>
              <a:rPr lang="en-US" altLang="zh-CN" sz="2000" dirty="0"/>
              <a:t>2^x-1 ≥ </a:t>
            </a:r>
            <a:r>
              <a:rPr lang="en-US" altLang="zh-CN" sz="2000" dirty="0" err="1"/>
              <a:t>n+x</a:t>
            </a:r>
            <a:endParaRPr lang="en-US" altLang="zh-CN" sz="2000" dirty="0"/>
          </a:p>
          <a:p>
            <a:pPr marL="0" indent="0">
              <a:buNone/>
            </a:pPr>
            <a:r>
              <a:rPr lang="zh-CN" altLang="en-US" sz="2000" dirty="0"/>
              <a:t>使不等式成立的</a:t>
            </a:r>
            <a:r>
              <a:rPr lang="en-US" altLang="zh-CN" sz="2000" dirty="0"/>
              <a:t>x</a:t>
            </a:r>
            <a:r>
              <a:rPr lang="zh-CN" altLang="en-US" sz="2000" dirty="0"/>
              <a:t>的最小值就是校验码的位数。在本例中，</a:t>
            </a:r>
            <a:r>
              <a:rPr lang="en-US" altLang="zh-CN" sz="2000" dirty="0"/>
              <a:t>n=7</a:t>
            </a:r>
            <a:r>
              <a:rPr lang="zh-CN" altLang="en-US" sz="2000" dirty="0"/>
              <a:t>，解得</a:t>
            </a:r>
            <a:r>
              <a:rPr lang="en-US" altLang="zh-CN" sz="2000" dirty="0"/>
              <a:t>x=4</a:t>
            </a:r>
            <a:r>
              <a:rPr lang="zh-CN" altLang="en-US" sz="2000" dirty="0"/>
              <a:t>。</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zh-CN" altLang="en-US" sz="2800" b="1" dirty="0">
                <a:solidFill>
                  <a:srgbClr val="0070C0"/>
                </a:solidFill>
              </a:rPr>
              <a:t>汉明码</a:t>
            </a:r>
          </a:p>
        </p:txBody>
      </p:sp>
    </p:spTree>
    <p:extLst>
      <p:ext uri="{BB962C8B-B14F-4D97-AF65-F5344CB8AC3E}">
        <p14:creationId xmlns:p14="http://schemas.microsoft.com/office/powerpoint/2010/main" val="501406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0635" y="838441"/>
            <a:ext cx="10515600" cy="624463"/>
          </a:xfrm>
        </p:spPr>
        <p:txBody>
          <a:bodyPr>
            <a:noAutofit/>
          </a:bodyPr>
          <a:lstStyle/>
          <a:p>
            <a:pPr marL="0" indent="0">
              <a:buNone/>
            </a:pPr>
            <a:r>
              <a:rPr lang="zh-CN" altLang="en-US" sz="2000" dirty="0"/>
              <a:t>（</a:t>
            </a:r>
            <a:r>
              <a:rPr lang="en-US" altLang="zh-CN" sz="2000" dirty="0"/>
              <a:t>2</a:t>
            </a:r>
            <a:r>
              <a:rPr lang="zh-CN" altLang="en-US" sz="2000" dirty="0"/>
              <a:t>）确定校验码的位置</a:t>
            </a:r>
            <a:endParaRPr lang="en-US" altLang="zh-CN" sz="2000" dirty="0"/>
          </a:p>
          <a:p>
            <a:pPr marL="0" indent="0">
              <a:buNone/>
            </a:pPr>
            <a:r>
              <a:rPr lang="en-US" altLang="zh-CN" sz="2000" dirty="0"/>
              <a:t>        </a:t>
            </a:r>
            <a:r>
              <a:rPr lang="zh-CN" altLang="en-US" sz="2000" dirty="0"/>
              <a:t>校验码在二进制串中的位置为</a:t>
            </a:r>
            <a:r>
              <a:rPr lang="en-US" altLang="zh-CN" sz="2000" dirty="0"/>
              <a:t>2</a:t>
            </a:r>
            <a:r>
              <a:rPr lang="zh-CN" altLang="en-US" sz="2000" dirty="0"/>
              <a:t>的整数幂。剩下的位置为数据。</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zh-CN" altLang="en-US" sz="2800" b="1" dirty="0">
                <a:solidFill>
                  <a:srgbClr val="0070C0"/>
                </a:solidFill>
              </a:rPr>
              <a:t>汉明码</a:t>
            </a:r>
          </a:p>
        </p:txBody>
      </p:sp>
      <p:pic>
        <p:nvPicPr>
          <p:cNvPr id="7" name="图片 6">
            <a:extLst>
              <a:ext uri="{FF2B5EF4-FFF2-40B4-BE49-F238E27FC236}">
                <a16:creationId xmlns:a16="http://schemas.microsoft.com/office/drawing/2014/main" id="{5BFB2415-1CE9-4D29-E4D3-BE1BB17CAD40}"/>
              </a:ext>
            </a:extLst>
          </p:cNvPr>
          <p:cNvPicPr>
            <a:picLocks noChangeAspect="1"/>
          </p:cNvPicPr>
          <p:nvPr/>
        </p:nvPicPr>
        <p:blipFill>
          <a:blip r:embed="rId3"/>
          <a:stretch>
            <a:fillRect/>
          </a:stretch>
        </p:blipFill>
        <p:spPr>
          <a:xfrm>
            <a:off x="594691" y="1938702"/>
            <a:ext cx="11002617" cy="806226"/>
          </a:xfrm>
          <a:prstGeom prst="rect">
            <a:avLst/>
          </a:prstGeom>
        </p:spPr>
      </p:pic>
      <p:sp>
        <p:nvSpPr>
          <p:cNvPr id="8" name="内容占位符 1">
            <a:extLst>
              <a:ext uri="{FF2B5EF4-FFF2-40B4-BE49-F238E27FC236}">
                <a16:creationId xmlns:a16="http://schemas.microsoft.com/office/drawing/2014/main" id="{C3BE975D-BC1A-1BEE-C750-D1D18607814F}"/>
              </a:ext>
            </a:extLst>
          </p:cNvPr>
          <p:cNvSpPr txBox="1">
            <a:spLocks/>
          </p:cNvSpPr>
          <p:nvPr/>
        </p:nvSpPr>
        <p:spPr>
          <a:xfrm>
            <a:off x="440635" y="2908494"/>
            <a:ext cx="10515600" cy="1037341"/>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80604020202020204" pitchFamily="34" charset="0"/>
              <a:buChar char="•"/>
              <a:defRPr sz="1600"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8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buFont typeface="Arial" panose="02080604020202020204" pitchFamily="34" charset="0"/>
              <a:buNone/>
            </a:pPr>
            <a:r>
              <a:rPr lang="zh-CN" altLang="en-US" sz="2000" dirty="0"/>
              <a:t>（</a:t>
            </a:r>
            <a:r>
              <a:rPr lang="en-US" altLang="zh-CN" sz="2000" dirty="0"/>
              <a:t>3</a:t>
            </a:r>
            <a:r>
              <a:rPr lang="zh-CN" altLang="en-US" sz="2000" dirty="0"/>
              <a:t>）求出校验位的值</a:t>
            </a:r>
            <a:endParaRPr lang="en-US" altLang="zh-CN" sz="2000" dirty="0"/>
          </a:p>
          <a:p>
            <a:pPr marL="0" indent="0">
              <a:buFont typeface="Arial" panose="02080604020202020204" pitchFamily="34" charset="0"/>
              <a:buNone/>
            </a:pPr>
            <a:r>
              <a:rPr lang="zh-CN" altLang="en-US" sz="2000" dirty="0"/>
              <a:t>         以求</a:t>
            </a:r>
            <a:r>
              <a:rPr lang="en-US" altLang="zh-CN" sz="2000" dirty="0"/>
              <a:t>x2</a:t>
            </a:r>
            <a:r>
              <a:rPr lang="zh-CN" altLang="en-US" sz="2000" dirty="0"/>
              <a:t>的值为例。为了直观，将表格中的位置用二进制表示。</a:t>
            </a:r>
            <a:endParaRPr lang="en-US" altLang="zh-CN" sz="2000" dirty="0"/>
          </a:p>
        </p:txBody>
      </p:sp>
      <p:pic>
        <p:nvPicPr>
          <p:cNvPr id="10" name="图片 9">
            <a:extLst>
              <a:ext uri="{FF2B5EF4-FFF2-40B4-BE49-F238E27FC236}">
                <a16:creationId xmlns:a16="http://schemas.microsoft.com/office/drawing/2014/main" id="{970E2F90-7496-B714-0C53-27C7AD523DFE}"/>
              </a:ext>
            </a:extLst>
          </p:cNvPr>
          <p:cNvPicPr>
            <a:picLocks noChangeAspect="1"/>
          </p:cNvPicPr>
          <p:nvPr/>
        </p:nvPicPr>
        <p:blipFill>
          <a:blip r:embed="rId4"/>
          <a:stretch>
            <a:fillRect/>
          </a:stretch>
        </p:blipFill>
        <p:spPr>
          <a:xfrm>
            <a:off x="594691" y="3945835"/>
            <a:ext cx="11002617" cy="866969"/>
          </a:xfrm>
          <a:prstGeom prst="rect">
            <a:avLst/>
          </a:prstGeom>
        </p:spPr>
      </p:pic>
      <p:sp>
        <p:nvSpPr>
          <p:cNvPr id="12" name="文本框 11">
            <a:extLst>
              <a:ext uri="{FF2B5EF4-FFF2-40B4-BE49-F238E27FC236}">
                <a16:creationId xmlns:a16="http://schemas.microsoft.com/office/drawing/2014/main" id="{7A44E42B-CCF5-84A0-6938-8F7ACF5839E8}"/>
              </a:ext>
            </a:extLst>
          </p:cNvPr>
          <p:cNvSpPr txBox="1"/>
          <p:nvPr/>
        </p:nvSpPr>
        <p:spPr>
          <a:xfrm>
            <a:off x="594691" y="5090381"/>
            <a:ext cx="11461474" cy="707886"/>
          </a:xfrm>
          <a:prstGeom prst="rect">
            <a:avLst/>
          </a:prstGeom>
          <a:noFill/>
        </p:spPr>
        <p:txBody>
          <a:bodyPr wrap="square">
            <a:spAutoFit/>
          </a:bodyPr>
          <a:lstStyle/>
          <a:p>
            <a:r>
              <a:rPr lang="zh-CN" altLang="en-US" sz="2000" dirty="0"/>
              <a:t>为了求出x2,要使所有</a:t>
            </a:r>
            <a:r>
              <a:rPr lang="zh-CN" altLang="en-US" sz="2000" dirty="0">
                <a:solidFill>
                  <a:srgbClr val="FF0000"/>
                </a:solidFill>
              </a:rPr>
              <a:t>位置的第二位是1</a:t>
            </a:r>
            <a:r>
              <a:rPr lang="zh-CN" altLang="en-US" sz="2000" dirty="0"/>
              <a:t>的数据（即形如**1*的位置的数据）的异或值为0。即x2^1^1^0^1^0 = 0。因此x2 = 1。</a:t>
            </a:r>
          </a:p>
        </p:txBody>
      </p:sp>
    </p:spTree>
    <p:extLst>
      <p:ext uri="{BB962C8B-B14F-4D97-AF65-F5344CB8AC3E}">
        <p14:creationId xmlns:p14="http://schemas.microsoft.com/office/powerpoint/2010/main" val="32096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14737" y="779583"/>
            <a:ext cx="10515600" cy="450606"/>
          </a:xfrm>
        </p:spPr>
        <p:txBody>
          <a:bodyPr>
            <a:noAutofit/>
          </a:bodyPr>
          <a:lstStyle/>
          <a:p>
            <a:pPr marL="0" indent="0">
              <a:buNone/>
            </a:pPr>
            <a:r>
              <a:rPr lang="zh-CN" altLang="en-US" sz="2000" dirty="0"/>
              <a:t>（</a:t>
            </a:r>
            <a:r>
              <a:rPr lang="en-US" altLang="zh-CN" sz="2000" dirty="0"/>
              <a:t>4</a:t>
            </a:r>
            <a:r>
              <a:rPr lang="zh-CN" altLang="en-US" sz="2000" dirty="0"/>
              <a:t>）</a:t>
            </a:r>
            <a:r>
              <a:rPr lang="zh-CN" altLang="fr-FR" sz="2000" dirty="0"/>
              <a:t>同理可得</a:t>
            </a:r>
            <a:r>
              <a:rPr lang="fr-FR" altLang="zh-CN" sz="2000" dirty="0"/>
              <a:t>x1 = 0, x3 = 1, x4 = 0</a:t>
            </a:r>
            <a:r>
              <a:rPr lang="zh-CN" altLang="fr-FR" sz="2000" dirty="0"/>
              <a:t>。</a:t>
            </a:r>
            <a:endParaRPr lang="zh-CN" altLang="en-US"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zh-CN" altLang="en-US" sz="2800" b="1" dirty="0">
                <a:solidFill>
                  <a:srgbClr val="0070C0"/>
                </a:solidFill>
              </a:rPr>
              <a:t>汉明码</a:t>
            </a:r>
          </a:p>
        </p:txBody>
      </p:sp>
      <p:pic>
        <p:nvPicPr>
          <p:cNvPr id="5" name="图片 4">
            <a:extLst>
              <a:ext uri="{FF2B5EF4-FFF2-40B4-BE49-F238E27FC236}">
                <a16:creationId xmlns:a16="http://schemas.microsoft.com/office/drawing/2014/main" id="{A01CBFD4-2B3C-690B-D5DC-9645B61D760D}"/>
              </a:ext>
            </a:extLst>
          </p:cNvPr>
          <p:cNvPicPr>
            <a:picLocks noChangeAspect="1"/>
          </p:cNvPicPr>
          <p:nvPr/>
        </p:nvPicPr>
        <p:blipFill>
          <a:blip r:embed="rId3"/>
          <a:stretch>
            <a:fillRect/>
          </a:stretch>
        </p:blipFill>
        <p:spPr>
          <a:xfrm>
            <a:off x="684920" y="1272573"/>
            <a:ext cx="10175237" cy="798912"/>
          </a:xfrm>
          <a:prstGeom prst="rect">
            <a:avLst/>
          </a:prstGeom>
        </p:spPr>
      </p:pic>
      <p:sp>
        <p:nvSpPr>
          <p:cNvPr id="7" name="文本框 6">
            <a:extLst>
              <a:ext uri="{FF2B5EF4-FFF2-40B4-BE49-F238E27FC236}">
                <a16:creationId xmlns:a16="http://schemas.microsoft.com/office/drawing/2014/main" id="{6E0A4C5F-1039-1B20-23A7-48BF3F66F641}"/>
              </a:ext>
            </a:extLst>
          </p:cNvPr>
          <p:cNvSpPr txBox="1"/>
          <p:nvPr/>
        </p:nvSpPr>
        <p:spPr>
          <a:xfrm>
            <a:off x="757107" y="2156254"/>
            <a:ext cx="6094602" cy="369332"/>
          </a:xfrm>
          <a:prstGeom prst="rect">
            <a:avLst/>
          </a:prstGeom>
          <a:noFill/>
        </p:spPr>
        <p:txBody>
          <a:bodyPr wrap="square">
            <a:spAutoFit/>
          </a:bodyPr>
          <a:lstStyle/>
          <a:p>
            <a:r>
              <a:rPr lang="zh-CN" altLang="en-US" dirty="0"/>
              <a:t>因此1010110的海明码为01110100110。</a:t>
            </a:r>
          </a:p>
        </p:txBody>
      </p:sp>
      <p:sp>
        <p:nvSpPr>
          <p:cNvPr id="9" name="文本框 8">
            <a:extLst>
              <a:ext uri="{FF2B5EF4-FFF2-40B4-BE49-F238E27FC236}">
                <a16:creationId xmlns:a16="http://schemas.microsoft.com/office/drawing/2014/main" id="{589A8415-C644-2976-D529-F739D5FF406C}"/>
              </a:ext>
            </a:extLst>
          </p:cNvPr>
          <p:cNvSpPr txBox="1"/>
          <p:nvPr/>
        </p:nvSpPr>
        <p:spPr>
          <a:xfrm>
            <a:off x="533917" y="2593481"/>
            <a:ext cx="6094602" cy="707886"/>
          </a:xfrm>
          <a:prstGeom prst="rect">
            <a:avLst/>
          </a:prstGeom>
          <a:noFill/>
        </p:spPr>
        <p:txBody>
          <a:bodyPr wrap="square">
            <a:spAutoFit/>
          </a:bodyPr>
          <a:lstStyle/>
          <a:p>
            <a:r>
              <a:rPr lang="zh-CN" altLang="en-US" sz="2000" dirty="0"/>
              <a:t>（</a:t>
            </a:r>
            <a:r>
              <a:rPr lang="en-US" altLang="zh-CN" sz="2000" dirty="0"/>
              <a:t>5</a:t>
            </a:r>
            <a:r>
              <a:rPr lang="zh-CN" altLang="en-US" sz="2000" dirty="0"/>
              <a:t>）校验</a:t>
            </a:r>
            <a:endParaRPr lang="en-US" altLang="zh-CN" sz="2000" dirty="0"/>
          </a:p>
          <a:p>
            <a:r>
              <a:rPr lang="zh-CN" altLang="en-US" sz="2000" dirty="0"/>
              <a:t>       假设位置为1011的数据由0变成了1</a:t>
            </a:r>
          </a:p>
        </p:txBody>
      </p:sp>
      <p:pic>
        <p:nvPicPr>
          <p:cNvPr id="11" name="图片 10">
            <a:extLst>
              <a:ext uri="{FF2B5EF4-FFF2-40B4-BE49-F238E27FC236}">
                <a16:creationId xmlns:a16="http://schemas.microsoft.com/office/drawing/2014/main" id="{745A2501-8FDE-6C4B-EDBE-F7031632AFAA}"/>
              </a:ext>
            </a:extLst>
          </p:cNvPr>
          <p:cNvPicPr>
            <a:picLocks noChangeAspect="1"/>
          </p:cNvPicPr>
          <p:nvPr/>
        </p:nvPicPr>
        <p:blipFill>
          <a:blip r:embed="rId4"/>
          <a:stretch>
            <a:fillRect/>
          </a:stretch>
        </p:blipFill>
        <p:spPr>
          <a:xfrm>
            <a:off x="684919" y="3341265"/>
            <a:ext cx="10175237" cy="852795"/>
          </a:xfrm>
          <a:prstGeom prst="rect">
            <a:avLst/>
          </a:prstGeom>
        </p:spPr>
      </p:pic>
      <p:sp>
        <p:nvSpPr>
          <p:cNvPr id="13" name="文本框 12">
            <a:extLst>
              <a:ext uri="{FF2B5EF4-FFF2-40B4-BE49-F238E27FC236}">
                <a16:creationId xmlns:a16="http://schemas.microsoft.com/office/drawing/2014/main" id="{734C1889-318D-9C4E-2B4D-CF8C573D2BD2}"/>
              </a:ext>
            </a:extLst>
          </p:cNvPr>
          <p:cNvSpPr txBox="1"/>
          <p:nvPr/>
        </p:nvSpPr>
        <p:spPr>
          <a:xfrm>
            <a:off x="846589" y="4330731"/>
            <a:ext cx="9295002" cy="2031325"/>
          </a:xfrm>
          <a:prstGeom prst="rect">
            <a:avLst/>
          </a:prstGeom>
          <a:noFill/>
        </p:spPr>
        <p:txBody>
          <a:bodyPr wrap="square">
            <a:spAutoFit/>
          </a:bodyPr>
          <a:lstStyle/>
          <a:p>
            <a:r>
              <a:rPr lang="zh-CN" altLang="en-US" dirty="0"/>
              <a:t>校验过程为：将所有位置形如***1, **1*, *1**, 1***的数据分别异或。</a:t>
            </a:r>
            <a:endParaRPr lang="en-US" altLang="zh-CN" dirty="0"/>
          </a:p>
          <a:p>
            <a:r>
              <a:rPr lang="zh-CN" altLang="en-US" dirty="0"/>
              <a:t>***1: 0^1^0^0^1^1 = 1</a:t>
            </a:r>
            <a:endParaRPr lang="en-US" altLang="zh-CN" dirty="0"/>
          </a:p>
          <a:p>
            <a:r>
              <a:rPr lang="zh-CN" altLang="en-US" dirty="0"/>
              <a:t>**1*: 1^1^1^0^1^1 = 1</a:t>
            </a:r>
            <a:endParaRPr lang="en-US" altLang="zh-CN" dirty="0"/>
          </a:p>
          <a:p>
            <a:r>
              <a:rPr lang="zh-CN" altLang="en-US" dirty="0"/>
              <a:t>*1**: 1^0^1^0 = 0</a:t>
            </a:r>
            <a:endParaRPr lang="en-US" altLang="zh-CN" dirty="0"/>
          </a:p>
          <a:p>
            <a:r>
              <a:rPr lang="zh-CN" altLang="en-US" dirty="0"/>
              <a:t>1***: 0^1^1^1 = 1</a:t>
            </a:r>
            <a:endParaRPr lang="en-US" altLang="zh-CN" dirty="0"/>
          </a:p>
          <a:p>
            <a:r>
              <a:rPr lang="zh-CN" altLang="en-US" dirty="0"/>
              <a:t>以上四组中，如果一组异或值为1，说明该组中有数据出错了。***1 **1* 1***的异或都为1，说明出错数据的位置为1011。</a:t>
            </a:r>
          </a:p>
        </p:txBody>
      </p:sp>
    </p:spTree>
    <p:extLst>
      <p:ext uri="{BB962C8B-B14F-4D97-AF65-F5344CB8AC3E}">
        <p14:creationId xmlns:p14="http://schemas.microsoft.com/office/powerpoint/2010/main" val="3717057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en-US" altLang="zh-CN" sz="2000" dirty="0" err="1"/>
              <a:t>NandFlash</a:t>
            </a:r>
            <a:r>
              <a:rPr lang="zh-CN" altLang="en-US" sz="2000" dirty="0"/>
              <a:t>的</a:t>
            </a:r>
            <a:r>
              <a:rPr lang="en-US" altLang="zh-CN" sz="2000" dirty="0"/>
              <a:t>ECC</a:t>
            </a:r>
            <a:r>
              <a:rPr lang="zh-CN" altLang="en-US" sz="2000" dirty="0"/>
              <a:t>校验算法，只能纠正一个</a:t>
            </a:r>
            <a:r>
              <a:rPr lang="en-US" altLang="zh-CN" sz="2000" dirty="0"/>
              <a:t>bit</a:t>
            </a:r>
            <a:r>
              <a:rPr lang="zh-CN" altLang="en-US" sz="2000" dirty="0"/>
              <a:t>的错误。实现过程就是在存入数据时计算</a:t>
            </a:r>
            <a:r>
              <a:rPr lang="en-US" altLang="zh-CN" sz="2000" dirty="0"/>
              <a:t>ECC</a:t>
            </a:r>
            <a:r>
              <a:rPr lang="zh-CN" altLang="en-US" sz="2000" dirty="0"/>
              <a:t>校验，在读出数据时再次计算</a:t>
            </a:r>
            <a:r>
              <a:rPr lang="en-US" altLang="zh-CN" sz="2000" dirty="0"/>
              <a:t>ECC</a:t>
            </a:r>
            <a:r>
              <a:rPr lang="zh-CN" altLang="en-US" sz="2000" dirty="0"/>
              <a:t>校验，如果两次计算结果不同，则数据在存储过程中肯定发生了变化。通过两次计算结果对比来找到是哪一个</a:t>
            </a:r>
            <a:r>
              <a:rPr lang="en-US" altLang="zh-CN" sz="2000" dirty="0"/>
              <a:t>bit</a:t>
            </a:r>
            <a:r>
              <a:rPr lang="zh-CN" altLang="en-US" sz="2000" dirty="0"/>
              <a:t>发生了变化，然后更正。</a:t>
            </a:r>
            <a:endParaRPr lang="en-US" altLang="zh-CN" sz="2000" dirty="0"/>
          </a:p>
          <a:p>
            <a:endParaRPr lang="en-US" altLang="zh-CN" sz="2000" dirty="0"/>
          </a:p>
          <a:p>
            <a:r>
              <a:rPr lang="zh-CN" altLang="en-US" sz="2000" dirty="0"/>
              <a:t>其实</a:t>
            </a:r>
            <a:r>
              <a:rPr lang="en-US" altLang="zh-CN" sz="2000" dirty="0" err="1"/>
              <a:t>NandFlash</a:t>
            </a:r>
            <a:r>
              <a:rPr lang="en-US" altLang="zh-CN" sz="2000" dirty="0"/>
              <a:t> ECC</a:t>
            </a:r>
            <a:r>
              <a:rPr lang="zh-CN" altLang="en-US" sz="2000" dirty="0"/>
              <a:t>校验主要用了两个点：异或和二分法。</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2" y="129209"/>
            <a:ext cx="4635101"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sp>
        <p:nvSpPr>
          <p:cNvPr id="8" name="文本框 7">
            <a:extLst>
              <a:ext uri="{FF2B5EF4-FFF2-40B4-BE49-F238E27FC236}">
                <a16:creationId xmlns:a16="http://schemas.microsoft.com/office/drawing/2014/main" id="{3F4746BB-9720-E4F6-704F-5730BABF004D}"/>
              </a:ext>
            </a:extLst>
          </p:cNvPr>
          <p:cNvSpPr txBox="1"/>
          <p:nvPr/>
        </p:nvSpPr>
        <p:spPr>
          <a:xfrm>
            <a:off x="1084277" y="2993921"/>
            <a:ext cx="8848288" cy="369332"/>
          </a:xfrm>
          <a:prstGeom prst="rect">
            <a:avLst/>
          </a:prstGeom>
          <a:noFill/>
        </p:spPr>
        <p:txBody>
          <a:bodyPr wrap="square">
            <a:spAutoFit/>
          </a:bodyPr>
          <a:lstStyle/>
          <a:p>
            <a:r>
              <a:rPr lang="zh-CN" altLang="en-US" dirty="0"/>
              <a:t>举一个简单的例子：向NandFlash里存了8个字节的数据，它们全部为0。</a:t>
            </a:r>
          </a:p>
        </p:txBody>
      </p:sp>
      <p:pic>
        <p:nvPicPr>
          <p:cNvPr id="10" name="图片 9">
            <a:extLst>
              <a:ext uri="{FF2B5EF4-FFF2-40B4-BE49-F238E27FC236}">
                <a16:creationId xmlns:a16="http://schemas.microsoft.com/office/drawing/2014/main" id="{D4B3BE20-046B-3EC0-58F5-5B635609345A}"/>
              </a:ext>
            </a:extLst>
          </p:cNvPr>
          <p:cNvPicPr>
            <a:picLocks noChangeAspect="1"/>
          </p:cNvPicPr>
          <p:nvPr/>
        </p:nvPicPr>
        <p:blipFill>
          <a:blip r:embed="rId3"/>
          <a:stretch>
            <a:fillRect/>
          </a:stretch>
        </p:blipFill>
        <p:spPr>
          <a:xfrm>
            <a:off x="402672" y="3648448"/>
            <a:ext cx="5545123" cy="2224791"/>
          </a:xfrm>
          <a:prstGeom prst="rect">
            <a:avLst/>
          </a:prstGeom>
        </p:spPr>
      </p:pic>
      <p:pic>
        <p:nvPicPr>
          <p:cNvPr id="12" name="图片 11">
            <a:extLst>
              <a:ext uri="{FF2B5EF4-FFF2-40B4-BE49-F238E27FC236}">
                <a16:creationId xmlns:a16="http://schemas.microsoft.com/office/drawing/2014/main" id="{7D99343F-30BF-A4B5-8669-494A4AC4F4C5}"/>
              </a:ext>
            </a:extLst>
          </p:cNvPr>
          <p:cNvPicPr>
            <a:picLocks noChangeAspect="1"/>
          </p:cNvPicPr>
          <p:nvPr/>
        </p:nvPicPr>
        <p:blipFill>
          <a:blip r:embed="rId4"/>
          <a:stretch>
            <a:fillRect/>
          </a:stretch>
        </p:blipFill>
        <p:spPr>
          <a:xfrm>
            <a:off x="6157413" y="3648448"/>
            <a:ext cx="5609277" cy="2344303"/>
          </a:xfrm>
          <a:prstGeom prst="rect">
            <a:avLst/>
          </a:prstGeom>
        </p:spPr>
      </p:pic>
      <p:sp>
        <p:nvSpPr>
          <p:cNvPr id="13" name="文本框 12">
            <a:extLst>
              <a:ext uri="{FF2B5EF4-FFF2-40B4-BE49-F238E27FC236}">
                <a16:creationId xmlns:a16="http://schemas.microsoft.com/office/drawing/2014/main" id="{4ACF3F45-FD4D-879F-C81F-AFF47DCBF8B3}"/>
              </a:ext>
            </a:extLst>
          </p:cNvPr>
          <p:cNvSpPr txBox="1"/>
          <p:nvPr/>
        </p:nvSpPr>
        <p:spPr>
          <a:xfrm>
            <a:off x="2718034" y="3543863"/>
            <a:ext cx="671979" cy="369332"/>
          </a:xfrm>
          <a:prstGeom prst="rect">
            <a:avLst/>
          </a:prstGeom>
          <a:noFill/>
        </p:spPr>
        <p:txBody>
          <a:bodyPr wrap="none" rtlCol="0">
            <a:spAutoFit/>
          </a:bodyPr>
          <a:lstStyle/>
          <a:p>
            <a:r>
              <a:rPr lang="zh-CN" altLang="en-US" dirty="0"/>
              <a:t>存入</a:t>
            </a:r>
          </a:p>
        </p:txBody>
      </p:sp>
      <p:sp>
        <p:nvSpPr>
          <p:cNvPr id="14" name="文本框 13">
            <a:extLst>
              <a:ext uri="{FF2B5EF4-FFF2-40B4-BE49-F238E27FC236}">
                <a16:creationId xmlns:a16="http://schemas.microsoft.com/office/drawing/2014/main" id="{76D0CC36-552A-45A2-410B-4AE78FA87149}"/>
              </a:ext>
            </a:extLst>
          </p:cNvPr>
          <p:cNvSpPr txBox="1"/>
          <p:nvPr/>
        </p:nvSpPr>
        <p:spPr>
          <a:xfrm>
            <a:off x="8593125" y="3494747"/>
            <a:ext cx="646331" cy="369332"/>
          </a:xfrm>
          <a:prstGeom prst="rect">
            <a:avLst/>
          </a:prstGeom>
          <a:noFill/>
        </p:spPr>
        <p:txBody>
          <a:bodyPr wrap="none" rtlCol="0">
            <a:spAutoFit/>
          </a:bodyPr>
          <a:lstStyle/>
          <a:p>
            <a:r>
              <a:rPr lang="zh-CN" altLang="en-US" dirty="0"/>
              <a:t>读出</a:t>
            </a:r>
          </a:p>
        </p:txBody>
      </p:sp>
    </p:spTree>
    <p:extLst>
      <p:ext uri="{BB962C8B-B14F-4D97-AF65-F5344CB8AC3E}">
        <p14:creationId xmlns:p14="http://schemas.microsoft.com/office/powerpoint/2010/main" val="3088093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86198" y="1055839"/>
            <a:ext cx="10515600" cy="1276160"/>
          </a:xfrm>
        </p:spPr>
        <p:txBody>
          <a:bodyPr>
            <a:noAutofit/>
          </a:bodyPr>
          <a:lstStyle/>
          <a:p>
            <a:r>
              <a:rPr lang="zh-CN" altLang="en-US" sz="2000" dirty="0"/>
              <a:t>如何通过两次计算来确定是哪个</a:t>
            </a:r>
            <a:r>
              <a:rPr lang="en-US" altLang="zh-CN" sz="2000" dirty="0"/>
              <a:t>bit</a:t>
            </a:r>
            <a:r>
              <a:rPr lang="zh-CN" altLang="en-US" sz="2000" dirty="0"/>
              <a:t>发生了变化？</a:t>
            </a:r>
            <a:endParaRPr lang="en-US" altLang="zh-CN" sz="2000" dirty="0"/>
          </a:p>
          <a:p>
            <a:pPr marL="0" indent="0">
              <a:buNone/>
            </a:pPr>
            <a:r>
              <a:rPr lang="zh-CN" altLang="en-US" sz="2000" dirty="0"/>
              <a:t>实际操作如下：</a:t>
            </a:r>
            <a:endParaRPr lang="en-US" altLang="zh-CN" sz="2000" dirty="0"/>
          </a:p>
          <a:p>
            <a:pPr marL="0" indent="0">
              <a:buNone/>
            </a:pPr>
            <a:r>
              <a:rPr lang="zh-CN" altLang="en-US" sz="2000" dirty="0"/>
              <a:t>在存入数据时，计算</a:t>
            </a:r>
            <a:r>
              <a:rPr lang="en-US" altLang="zh-CN" sz="2000" dirty="0"/>
              <a:t>8</a:t>
            </a:r>
            <a:r>
              <a:rPr lang="zh-CN" altLang="en-US" sz="2000" dirty="0"/>
              <a:t>个字节</a:t>
            </a:r>
            <a:r>
              <a:rPr lang="en-US" altLang="zh-CN" sz="2000" dirty="0"/>
              <a:t>bit0-bit3</a:t>
            </a:r>
            <a:r>
              <a:rPr lang="zh-CN" altLang="en-US" sz="2000" dirty="0"/>
              <a:t>所有位的异或结果得到一个位</a:t>
            </a:r>
            <a:r>
              <a:rPr lang="en-US" altLang="zh-CN" sz="2000" dirty="0"/>
              <a:t>(32</a:t>
            </a:r>
            <a:r>
              <a:rPr lang="zh-CN" altLang="en-US" sz="2000" dirty="0"/>
              <a:t>个位异或的结果</a:t>
            </a:r>
            <a:r>
              <a:rPr lang="en-US" altLang="zh-CN" sz="2000" dirty="0"/>
              <a:t>)</a:t>
            </a:r>
            <a:r>
              <a:rPr lang="zh-CN" altLang="en-US" sz="2000" dirty="0"/>
              <a:t>，再计算</a:t>
            </a:r>
            <a:r>
              <a:rPr lang="en-US" altLang="zh-CN" sz="2000" dirty="0"/>
              <a:t>bit4-bit7</a:t>
            </a:r>
            <a:r>
              <a:rPr lang="zh-CN" altLang="en-US" sz="2000" dirty="0"/>
              <a:t>所有位的异或结果又得到一个位</a:t>
            </a:r>
            <a:r>
              <a:rPr lang="en-US" altLang="zh-CN" sz="2000" dirty="0"/>
              <a:t>(</a:t>
            </a:r>
            <a:r>
              <a:rPr lang="zh-CN" altLang="en-US" sz="2000" dirty="0"/>
              <a:t>同样</a:t>
            </a:r>
            <a:r>
              <a:rPr lang="en-US" altLang="zh-CN" sz="2000" dirty="0"/>
              <a:t>32</a:t>
            </a:r>
            <a:r>
              <a:rPr lang="zh-CN" altLang="en-US" sz="2000" dirty="0"/>
              <a:t>个位</a:t>
            </a:r>
            <a:r>
              <a:rPr lang="en-US" altLang="zh-CN" sz="2000" dirty="0"/>
              <a:t>)</a:t>
            </a:r>
            <a:endParaRPr lang="zh-CN" altLang="en-US"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90354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5" name="图片 4">
            <a:extLst>
              <a:ext uri="{FF2B5EF4-FFF2-40B4-BE49-F238E27FC236}">
                <a16:creationId xmlns:a16="http://schemas.microsoft.com/office/drawing/2014/main" id="{B20221DE-A9B4-9AD9-1656-D1E139AB840F}"/>
              </a:ext>
            </a:extLst>
          </p:cNvPr>
          <p:cNvPicPr>
            <a:picLocks noChangeAspect="1"/>
          </p:cNvPicPr>
          <p:nvPr/>
        </p:nvPicPr>
        <p:blipFill>
          <a:blip r:embed="rId3"/>
          <a:stretch>
            <a:fillRect/>
          </a:stretch>
        </p:blipFill>
        <p:spPr>
          <a:xfrm>
            <a:off x="14310" y="3370277"/>
            <a:ext cx="5947134" cy="2485239"/>
          </a:xfrm>
          <a:prstGeom prst="rect">
            <a:avLst/>
          </a:prstGeom>
        </p:spPr>
      </p:pic>
      <p:sp>
        <p:nvSpPr>
          <p:cNvPr id="7" name="文本框 6">
            <a:extLst>
              <a:ext uri="{FF2B5EF4-FFF2-40B4-BE49-F238E27FC236}">
                <a16:creationId xmlns:a16="http://schemas.microsoft.com/office/drawing/2014/main" id="{D29C4D4F-2C89-152F-42D2-DA512CCC65B6}"/>
              </a:ext>
            </a:extLst>
          </p:cNvPr>
          <p:cNvSpPr txBox="1"/>
          <p:nvPr/>
        </p:nvSpPr>
        <p:spPr>
          <a:xfrm>
            <a:off x="6315905" y="3059668"/>
            <a:ext cx="6094602" cy="369332"/>
          </a:xfrm>
          <a:prstGeom prst="rect">
            <a:avLst/>
          </a:prstGeom>
          <a:noFill/>
        </p:spPr>
        <p:txBody>
          <a:bodyPr wrap="square">
            <a:spAutoFit/>
          </a:bodyPr>
          <a:lstStyle/>
          <a:p>
            <a:r>
              <a:rPr lang="zh-CN" altLang="en-US" b="0" i="0" dirty="0">
                <a:effectLst/>
                <a:latin typeface="-apple-system"/>
              </a:rPr>
              <a:t>读取：再次计算这个两个位：</a:t>
            </a:r>
            <a:endParaRPr lang="zh-CN" altLang="en-US" dirty="0"/>
          </a:p>
        </p:txBody>
      </p:sp>
      <p:pic>
        <p:nvPicPr>
          <p:cNvPr id="9" name="图片 8">
            <a:extLst>
              <a:ext uri="{FF2B5EF4-FFF2-40B4-BE49-F238E27FC236}">
                <a16:creationId xmlns:a16="http://schemas.microsoft.com/office/drawing/2014/main" id="{77159064-AC3E-355E-DC7E-CE168ECECF58}"/>
              </a:ext>
            </a:extLst>
          </p:cNvPr>
          <p:cNvPicPr>
            <a:picLocks noChangeAspect="1"/>
          </p:cNvPicPr>
          <p:nvPr/>
        </p:nvPicPr>
        <p:blipFill>
          <a:blip r:embed="rId4"/>
          <a:stretch>
            <a:fillRect/>
          </a:stretch>
        </p:blipFill>
        <p:spPr>
          <a:xfrm>
            <a:off x="5976632" y="3429000"/>
            <a:ext cx="5918940" cy="2560739"/>
          </a:xfrm>
          <a:prstGeom prst="rect">
            <a:avLst/>
          </a:prstGeom>
        </p:spPr>
      </p:pic>
      <p:sp>
        <p:nvSpPr>
          <p:cNvPr id="11" name="文本框 10">
            <a:extLst>
              <a:ext uri="{FF2B5EF4-FFF2-40B4-BE49-F238E27FC236}">
                <a16:creationId xmlns:a16="http://schemas.microsoft.com/office/drawing/2014/main" id="{1ACA4447-5092-24DC-7496-11FA2D9AE925}"/>
              </a:ext>
            </a:extLst>
          </p:cNvPr>
          <p:cNvSpPr txBox="1"/>
          <p:nvPr/>
        </p:nvSpPr>
        <p:spPr>
          <a:xfrm>
            <a:off x="281689" y="3040576"/>
            <a:ext cx="3048740" cy="369332"/>
          </a:xfrm>
          <a:prstGeom prst="rect">
            <a:avLst/>
          </a:prstGeom>
          <a:noFill/>
        </p:spPr>
        <p:txBody>
          <a:bodyPr wrap="square">
            <a:spAutoFit/>
          </a:bodyPr>
          <a:lstStyle/>
          <a:p>
            <a:r>
              <a:rPr lang="zh-CN" altLang="en-US" sz="1800" dirty="0"/>
              <a:t>存入：计算这两个校验位</a:t>
            </a:r>
            <a:endParaRPr lang="zh-CN" altLang="en-US" dirty="0"/>
          </a:p>
        </p:txBody>
      </p:sp>
    </p:spTree>
    <p:extLst>
      <p:ext uri="{BB962C8B-B14F-4D97-AF65-F5344CB8AC3E}">
        <p14:creationId xmlns:p14="http://schemas.microsoft.com/office/powerpoint/2010/main" val="383794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2000" dirty="0"/>
              <a:t>这样，通过两次计算结果中两个位比较，可以确定是</a:t>
            </a:r>
            <a:r>
              <a:rPr lang="en-US" altLang="zh-CN" sz="2000" dirty="0"/>
              <a:t>bit0-bit3</a:t>
            </a:r>
            <a:r>
              <a:rPr lang="zh-CN" altLang="en-US" sz="2000" dirty="0"/>
              <a:t>中出现了错误，还是</a:t>
            </a:r>
            <a:r>
              <a:rPr lang="en-US" altLang="zh-CN" sz="2000" dirty="0"/>
              <a:t>bit4-bit7</a:t>
            </a:r>
            <a:r>
              <a:rPr lang="zh-CN" altLang="en-US" sz="2000" dirty="0"/>
              <a:t>中出现了错误。这是第一次二分，用两个位筛选掉了一半的位。同理，我们可以在</a:t>
            </a:r>
            <a:r>
              <a:rPr lang="en-US" altLang="zh-CN" sz="2000" dirty="0"/>
              <a:t>bit0-bit3</a:t>
            </a:r>
            <a:r>
              <a:rPr lang="zh-CN" altLang="en-US" sz="2000" dirty="0"/>
              <a:t>中再次二分，可以确定是</a:t>
            </a:r>
            <a:r>
              <a:rPr lang="en-US" altLang="zh-CN" sz="2000" dirty="0"/>
              <a:t>bit0-bit1</a:t>
            </a:r>
            <a:r>
              <a:rPr lang="zh-CN" altLang="en-US" sz="2000" dirty="0"/>
              <a:t>中出现了错误还是</a:t>
            </a:r>
            <a:r>
              <a:rPr lang="en-US" altLang="zh-CN" sz="2000" dirty="0"/>
              <a:t>bit2-bit3</a:t>
            </a:r>
            <a:r>
              <a:rPr lang="zh-CN" altLang="en-US" sz="2000" dirty="0"/>
              <a:t>中出现了错误。也就是我在写入和读出时再加</a:t>
            </a:r>
            <a:r>
              <a:rPr lang="en-US" altLang="zh-CN" sz="2000" dirty="0"/>
              <a:t>4</a:t>
            </a:r>
            <a:r>
              <a:rPr lang="zh-CN" altLang="en-US" sz="2000" dirty="0"/>
              <a:t>个</a:t>
            </a:r>
            <a:r>
              <a:rPr lang="en-US" altLang="zh-CN" sz="2000" dirty="0"/>
              <a:t>bit</a:t>
            </a:r>
            <a:r>
              <a:rPr lang="zh-CN" altLang="en-US" sz="2000" dirty="0"/>
              <a:t>。如下图：</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5" name="图片 4">
            <a:extLst>
              <a:ext uri="{FF2B5EF4-FFF2-40B4-BE49-F238E27FC236}">
                <a16:creationId xmlns:a16="http://schemas.microsoft.com/office/drawing/2014/main" id="{ECAD8B16-84B8-E25F-8E99-894C7B2F9021}"/>
              </a:ext>
            </a:extLst>
          </p:cNvPr>
          <p:cNvPicPr>
            <a:picLocks noChangeAspect="1"/>
          </p:cNvPicPr>
          <p:nvPr/>
        </p:nvPicPr>
        <p:blipFill>
          <a:blip r:embed="rId3"/>
          <a:stretch>
            <a:fillRect/>
          </a:stretch>
        </p:blipFill>
        <p:spPr>
          <a:xfrm>
            <a:off x="258832" y="3120427"/>
            <a:ext cx="5522843" cy="2680579"/>
          </a:xfrm>
          <a:prstGeom prst="rect">
            <a:avLst/>
          </a:prstGeom>
        </p:spPr>
      </p:pic>
      <p:pic>
        <p:nvPicPr>
          <p:cNvPr id="7" name="图片 6">
            <a:extLst>
              <a:ext uri="{FF2B5EF4-FFF2-40B4-BE49-F238E27FC236}">
                <a16:creationId xmlns:a16="http://schemas.microsoft.com/office/drawing/2014/main" id="{FAB65208-49E7-B001-604F-459C4BEA72C2}"/>
              </a:ext>
            </a:extLst>
          </p:cNvPr>
          <p:cNvPicPr>
            <a:picLocks noChangeAspect="1"/>
          </p:cNvPicPr>
          <p:nvPr/>
        </p:nvPicPr>
        <p:blipFill>
          <a:blip r:embed="rId4"/>
          <a:stretch>
            <a:fillRect/>
          </a:stretch>
        </p:blipFill>
        <p:spPr>
          <a:xfrm>
            <a:off x="6149827" y="3043886"/>
            <a:ext cx="5904189" cy="2833660"/>
          </a:xfrm>
          <a:prstGeom prst="rect">
            <a:avLst/>
          </a:prstGeom>
        </p:spPr>
      </p:pic>
      <p:sp>
        <p:nvSpPr>
          <p:cNvPr id="8" name="文本框 7">
            <a:extLst>
              <a:ext uri="{FF2B5EF4-FFF2-40B4-BE49-F238E27FC236}">
                <a16:creationId xmlns:a16="http://schemas.microsoft.com/office/drawing/2014/main" id="{5FD7F2A5-F196-C377-F665-211E347E9463}"/>
              </a:ext>
            </a:extLst>
          </p:cNvPr>
          <p:cNvSpPr txBox="1"/>
          <p:nvPr/>
        </p:nvSpPr>
        <p:spPr>
          <a:xfrm>
            <a:off x="2348274" y="2842218"/>
            <a:ext cx="671979" cy="369332"/>
          </a:xfrm>
          <a:prstGeom prst="rect">
            <a:avLst/>
          </a:prstGeom>
          <a:noFill/>
        </p:spPr>
        <p:txBody>
          <a:bodyPr wrap="none" rtlCol="0">
            <a:spAutoFit/>
          </a:bodyPr>
          <a:lstStyle/>
          <a:p>
            <a:r>
              <a:rPr lang="zh-CN" altLang="en-US" dirty="0"/>
              <a:t>存入</a:t>
            </a:r>
          </a:p>
        </p:txBody>
      </p:sp>
      <p:sp>
        <p:nvSpPr>
          <p:cNvPr id="9" name="文本框 8">
            <a:extLst>
              <a:ext uri="{FF2B5EF4-FFF2-40B4-BE49-F238E27FC236}">
                <a16:creationId xmlns:a16="http://schemas.microsoft.com/office/drawing/2014/main" id="{EB5AC40E-966F-BDE3-8DE5-02E1AD092142}"/>
              </a:ext>
            </a:extLst>
          </p:cNvPr>
          <p:cNvSpPr txBox="1"/>
          <p:nvPr/>
        </p:nvSpPr>
        <p:spPr>
          <a:xfrm>
            <a:off x="8778755" y="2828745"/>
            <a:ext cx="646331" cy="369332"/>
          </a:xfrm>
          <a:prstGeom prst="rect">
            <a:avLst/>
          </a:prstGeom>
          <a:noFill/>
        </p:spPr>
        <p:txBody>
          <a:bodyPr wrap="none" rtlCol="0">
            <a:spAutoFit/>
          </a:bodyPr>
          <a:lstStyle/>
          <a:p>
            <a:r>
              <a:rPr lang="zh-CN" altLang="en-US" dirty="0"/>
              <a:t>读出</a:t>
            </a:r>
          </a:p>
        </p:txBody>
      </p:sp>
    </p:spTree>
    <p:extLst>
      <p:ext uri="{BB962C8B-B14F-4D97-AF65-F5344CB8AC3E}">
        <p14:creationId xmlns:p14="http://schemas.microsoft.com/office/powerpoint/2010/main" val="160172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2000" dirty="0"/>
              <a:t>此时，我们把错误位定位到了</a:t>
            </a:r>
            <a:r>
              <a:rPr lang="en-US" altLang="zh-CN" sz="2000" dirty="0"/>
              <a:t>bit2-bit3</a:t>
            </a:r>
            <a:r>
              <a:rPr lang="zh-CN" altLang="en-US" sz="2000" dirty="0"/>
              <a:t>中间。再继续，可以再加</a:t>
            </a:r>
            <a:r>
              <a:rPr lang="en-US" altLang="zh-CN" sz="2000" dirty="0"/>
              <a:t>8</a:t>
            </a:r>
            <a:r>
              <a:rPr lang="zh-CN" altLang="en-US" sz="2000" dirty="0"/>
              <a:t>个位去再次二分，最后得到错误的位就在</a:t>
            </a:r>
            <a:r>
              <a:rPr lang="en-US" altLang="zh-CN" sz="2000" dirty="0"/>
              <a:t>bit2</a:t>
            </a:r>
            <a:r>
              <a:rPr lang="zh-CN" altLang="en-US" sz="2000" dirty="0"/>
              <a:t>这个位。这么乍一听好像没有问题，其实不然。在实际写入和读取时，并不知道到底是哪一位是错误的，所以我们每一列</a:t>
            </a:r>
            <a:r>
              <a:rPr lang="en-US" altLang="zh-CN" sz="2000" dirty="0"/>
              <a:t>bit</a:t>
            </a:r>
            <a:r>
              <a:rPr lang="zh-CN" altLang="en-US" sz="2000" dirty="0"/>
              <a:t>都要计算，而并不是先计算</a:t>
            </a:r>
            <a:r>
              <a:rPr lang="en-US" altLang="zh-CN" sz="2000" dirty="0"/>
              <a:t>bit0-bit3</a:t>
            </a:r>
            <a:r>
              <a:rPr lang="zh-CN" altLang="en-US" sz="2000" dirty="0"/>
              <a:t>和</a:t>
            </a:r>
            <a:r>
              <a:rPr lang="en-US" altLang="zh-CN" sz="2000" dirty="0"/>
              <a:t>bit4-bit7</a:t>
            </a:r>
            <a:r>
              <a:rPr lang="zh-CN" altLang="en-US" sz="2000" dirty="0"/>
              <a:t>，在判断是</a:t>
            </a:r>
            <a:r>
              <a:rPr lang="en-US" altLang="zh-CN" sz="2000" dirty="0"/>
              <a:t>bit0-bit3</a:t>
            </a:r>
            <a:r>
              <a:rPr lang="zh-CN" altLang="en-US" sz="2000" dirty="0"/>
              <a:t>存在错误后再计算</a:t>
            </a:r>
            <a:r>
              <a:rPr lang="en-US" altLang="zh-CN" sz="2000" dirty="0"/>
              <a:t>bit0-bit1</a:t>
            </a:r>
            <a:r>
              <a:rPr lang="zh-CN" altLang="en-US" sz="2000" dirty="0"/>
              <a:t>和</a:t>
            </a:r>
            <a:r>
              <a:rPr lang="en-US" altLang="zh-CN" sz="2000" dirty="0"/>
              <a:t>bit2-bit3</a:t>
            </a:r>
            <a:r>
              <a:rPr lang="zh-CN" altLang="en-US" sz="2000" dirty="0"/>
              <a:t>，而是我们要计算出</a:t>
            </a:r>
            <a:r>
              <a:rPr lang="en-US" altLang="zh-CN" sz="2000" dirty="0"/>
              <a:t>2+4+8 = 14</a:t>
            </a:r>
            <a:r>
              <a:rPr lang="zh-CN" altLang="en-US" sz="2000" dirty="0"/>
              <a:t>个部分</a:t>
            </a:r>
            <a:r>
              <a:rPr lang="en-US" altLang="zh-CN" sz="2000" dirty="0"/>
              <a:t>bit</a:t>
            </a:r>
            <a:r>
              <a:rPr lang="zh-CN" altLang="en-US" sz="2000" dirty="0"/>
              <a:t>的异或结果</a:t>
            </a:r>
            <a:r>
              <a:rPr lang="en-US" altLang="zh-CN" sz="2000" dirty="0"/>
              <a:t>:</a:t>
            </a:r>
            <a:r>
              <a:rPr lang="zh-CN" altLang="en-US" sz="2000" dirty="0"/>
              <a:t>：</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6" name="图片 5">
            <a:extLst>
              <a:ext uri="{FF2B5EF4-FFF2-40B4-BE49-F238E27FC236}">
                <a16:creationId xmlns:a16="http://schemas.microsoft.com/office/drawing/2014/main" id="{82F4EE7E-2E04-EB2C-4D1B-14DB9E1DD103}"/>
              </a:ext>
            </a:extLst>
          </p:cNvPr>
          <p:cNvPicPr>
            <a:picLocks noChangeAspect="1"/>
          </p:cNvPicPr>
          <p:nvPr/>
        </p:nvPicPr>
        <p:blipFill>
          <a:blip r:embed="rId3"/>
          <a:stretch>
            <a:fillRect/>
          </a:stretch>
        </p:blipFill>
        <p:spPr>
          <a:xfrm>
            <a:off x="1552710" y="2715578"/>
            <a:ext cx="9063039" cy="3658576"/>
          </a:xfrm>
          <a:prstGeom prst="rect">
            <a:avLst/>
          </a:prstGeom>
        </p:spPr>
      </p:pic>
    </p:spTree>
    <p:extLst>
      <p:ext uri="{BB962C8B-B14F-4D97-AF65-F5344CB8AC3E}">
        <p14:creationId xmlns:p14="http://schemas.microsoft.com/office/powerpoint/2010/main" val="1113489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412333"/>
          </a:xfrm>
        </p:spPr>
        <p:txBody>
          <a:bodyPr>
            <a:noAutofit/>
          </a:bodyPr>
          <a:lstStyle/>
          <a:p>
            <a:r>
              <a:rPr lang="zh-CN" altLang="en-US" sz="1800" dirty="0"/>
              <a:t>如果我们是在每次判断后再计算，那我们需要计算</a:t>
            </a:r>
            <a:r>
              <a:rPr lang="en-US" altLang="zh-CN" sz="1800" dirty="0"/>
              <a:t>2+2+2 = 6</a:t>
            </a:r>
            <a:r>
              <a:rPr lang="zh-CN" altLang="en-US" sz="1800" dirty="0"/>
              <a:t>次，</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5" name="图片 4">
            <a:extLst>
              <a:ext uri="{FF2B5EF4-FFF2-40B4-BE49-F238E27FC236}">
                <a16:creationId xmlns:a16="http://schemas.microsoft.com/office/drawing/2014/main" id="{25F092CA-4050-B62C-9BE3-4F00C6D7955E}"/>
              </a:ext>
            </a:extLst>
          </p:cNvPr>
          <p:cNvPicPr>
            <a:picLocks noChangeAspect="1"/>
          </p:cNvPicPr>
          <p:nvPr/>
        </p:nvPicPr>
        <p:blipFill>
          <a:blip r:embed="rId3"/>
          <a:stretch>
            <a:fillRect/>
          </a:stretch>
        </p:blipFill>
        <p:spPr>
          <a:xfrm>
            <a:off x="2730137" y="1032532"/>
            <a:ext cx="4861015" cy="2368715"/>
          </a:xfrm>
          <a:prstGeom prst="rect">
            <a:avLst/>
          </a:prstGeom>
        </p:spPr>
      </p:pic>
      <p:sp>
        <p:nvSpPr>
          <p:cNvPr id="7" name="文本框 6">
            <a:extLst>
              <a:ext uri="{FF2B5EF4-FFF2-40B4-BE49-F238E27FC236}">
                <a16:creationId xmlns:a16="http://schemas.microsoft.com/office/drawing/2014/main" id="{2C61ADDA-709A-9479-07A7-10A88EC1346F}"/>
              </a:ext>
            </a:extLst>
          </p:cNvPr>
          <p:cNvSpPr txBox="1"/>
          <p:nvPr/>
        </p:nvSpPr>
        <p:spPr>
          <a:xfrm>
            <a:off x="865123" y="3284248"/>
            <a:ext cx="10395857"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t>但是实际情况是我们在存入数据的时候不知道哪一列会出现错误，所以我们需要一次性把14个bit都计算出来，而实际如果我们每次判断后再计算的话，第一步就可以筛选掉7个没用的bit：</a:t>
            </a:r>
          </a:p>
        </p:txBody>
      </p:sp>
      <p:pic>
        <p:nvPicPr>
          <p:cNvPr id="11" name="图片 10">
            <a:extLst>
              <a:ext uri="{FF2B5EF4-FFF2-40B4-BE49-F238E27FC236}">
                <a16:creationId xmlns:a16="http://schemas.microsoft.com/office/drawing/2014/main" id="{944B84A3-19F6-86FD-0A03-F8E0F41B7F42}"/>
              </a:ext>
            </a:extLst>
          </p:cNvPr>
          <p:cNvPicPr>
            <a:picLocks noChangeAspect="1"/>
          </p:cNvPicPr>
          <p:nvPr/>
        </p:nvPicPr>
        <p:blipFill>
          <a:blip r:embed="rId4"/>
          <a:stretch>
            <a:fillRect/>
          </a:stretch>
        </p:blipFill>
        <p:spPr>
          <a:xfrm>
            <a:off x="2730137" y="3864428"/>
            <a:ext cx="4689566" cy="2637881"/>
          </a:xfrm>
          <a:prstGeom prst="rect">
            <a:avLst/>
          </a:prstGeom>
        </p:spPr>
      </p:pic>
    </p:spTree>
    <p:extLst>
      <p:ext uri="{BB962C8B-B14F-4D97-AF65-F5344CB8AC3E}">
        <p14:creationId xmlns:p14="http://schemas.microsoft.com/office/powerpoint/2010/main" val="1370831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1111283"/>
          </a:xfrm>
        </p:spPr>
        <p:txBody>
          <a:bodyPr>
            <a:noAutofit/>
          </a:bodyPr>
          <a:lstStyle/>
          <a:p>
            <a:r>
              <a:rPr lang="zh-CN" altLang="en-US" sz="1800" dirty="0"/>
              <a:t>第一次，还和之前一样，先计算</a:t>
            </a:r>
            <a:r>
              <a:rPr lang="en-US" altLang="zh-CN" sz="1800" dirty="0"/>
              <a:t>bit0-bit3</a:t>
            </a:r>
            <a:r>
              <a:rPr lang="zh-CN" altLang="en-US" sz="1800" dirty="0"/>
              <a:t>和</a:t>
            </a:r>
            <a:r>
              <a:rPr lang="en-US" altLang="zh-CN" sz="1800" dirty="0"/>
              <a:t>bit4-bit7</a:t>
            </a:r>
            <a:r>
              <a:rPr lang="zh-CN" altLang="en-US" sz="1800" dirty="0"/>
              <a:t>的异或结果，</a:t>
            </a:r>
            <a:r>
              <a:rPr lang="zh-CN" altLang="en-US" sz="1800" dirty="0">
                <a:solidFill>
                  <a:srgbClr val="FF0000"/>
                </a:solidFill>
              </a:rPr>
              <a:t>得到两个</a:t>
            </a:r>
            <a:r>
              <a:rPr lang="en-US" altLang="zh-CN" sz="1800" dirty="0">
                <a:solidFill>
                  <a:srgbClr val="FF0000"/>
                </a:solidFill>
              </a:rPr>
              <a:t>bit</a:t>
            </a:r>
            <a:r>
              <a:rPr lang="zh-CN" altLang="en-US" sz="1800" dirty="0">
                <a:solidFill>
                  <a:srgbClr val="FF0000"/>
                </a:solidFill>
              </a:rPr>
              <a:t>可以用来第一次二分</a:t>
            </a:r>
            <a:r>
              <a:rPr lang="zh-CN" altLang="en-US" sz="1800" dirty="0"/>
              <a:t>。第二次，不再计算</a:t>
            </a:r>
            <a:r>
              <a:rPr lang="en-US" altLang="zh-CN" sz="1800" dirty="0"/>
              <a:t>bit0-bit1</a:t>
            </a:r>
            <a:r>
              <a:rPr lang="zh-CN" altLang="en-US" sz="1800" dirty="0"/>
              <a:t>，</a:t>
            </a:r>
            <a:r>
              <a:rPr lang="en-US" altLang="zh-CN" sz="1800" dirty="0"/>
              <a:t>bit2-bit3</a:t>
            </a:r>
            <a:r>
              <a:rPr lang="zh-CN" altLang="en-US" sz="1800" dirty="0"/>
              <a:t>，</a:t>
            </a:r>
            <a:r>
              <a:rPr lang="en-US" altLang="zh-CN" sz="1800" dirty="0"/>
              <a:t>bit4-bit5</a:t>
            </a:r>
            <a:r>
              <a:rPr lang="zh-CN" altLang="en-US" sz="1800" dirty="0"/>
              <a:t>，</a:t>
            </a:r>
            <a:r>
              <a:rPr lang="en-US" altLang="zh-CN" sz="1800" dirty="0"/>
              <a:t>bit6-bit7</a:t>
            </a:r>
            <a:r>
              <a:rPr lang="zh-CN" altLang="en-US" sz="1800" dirty="0"/>
              <a:t>这四个部分，而是进一步合并，我们计算</a:t>
            </a:r>
            <a:r>
              <a:rPr lang="en-US" altLang="zh-CN" sz="1800" dirty="0"/>
              <a:t>bit0-bit1</a:t>
            </a:r>
            <a:r>
              <a:rPr lang="zh-CN" altLang="en-US" sz="1800" dirty="0"/>
              <a:t>与</a:t>
            </a:r>
            <a:r>
              <a:rPr lang="en-US" altLang="zh-CN" sz="1800" dirty="0"/>
              <a:t>bit4-bit5</a:t>
            </a:r>
            <a:r>
              <a:rPr lang="zh-CN" altLang="en-US" sz="1800" dirty="0"/>
              <a:t>所有位的异或结果，再计算</a:t>
            </a:r>
            <a:r>
              <a:rPr lang="en-US" altLang="zh-CN" sz="1800" dirty="0"/>
              <a:t>bit2-bit3</a:t>
            </a:r>
            <a:r>
              <a:rPr lang="zh-CN" altLang="en-US" sz="1800" dirty="0"/>
              <a:t>与</a:t>
            </a:r>
            <a:r>
              <a:rPr lang="en-US" altLang="zh-CN" sz="1800" dirty="0"/>
              <a:t>bit6-bit7</a:t>
            </a:r>
            <a:r>
              <a:rPr lang="zh-CN" altLang="en-US" sz="1800" dirty="0"/>
              <a:t>所有位的异或结果。</a:t>
            </a:r>
            <a:endParaRPr lang="en-US" altLang="zh-CN" sz="1800" dirty="0"/>
          </a:p>
          <a:p>
            <a:endParaRPr lang="zh-CN" altLang="en-US"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5" name="图片 4">
            <a:extLst>
              <a:ext uri="{FF2B5EF4-FFF2-40B4-BE49-F238E27FC236}">
                <a16:creationId xmlns:a16="http://schemas.microsoft.com/office/drawing/2014/main" id="{7E2CC230-6DBF-132A-7CA6-5176B1139F8E}"/>
              </a:ext>
            </a:extLst>
          </p:cNvPr>
          <p:cNvPicPr>
            <a:picLocks noChangeAspect="1"/>
          </p:cNvPicPr>
          <p:nvPr/>
        </p:nvPicPr>
        <p:blipFill>
          <a:blip r:embed="rId3"/>
          <a:stretch>
            <a:fillRect/>
          </a:stretch>
        </p:blipFill>
        <p:spPr>
          <a:xfrm>
            <a:off x="3463630" y="1754872"/>
            <a:ext cx="5264740" cy="3348255"/>
          </a:xfrm>
          <a:prstGeom prst="rect">
            <a:avLst/>
          </a:prstGeom>
        </p:spPr>
      </p:pic>
      <p:sp>
        <p:nvSpPr>
          <p:cNvPr id="7" name="文本框 6">
            <a:extLst>
              <a:ext uri="{FF2B5EF4-FFF2-40B4-BE49-F238E27FC236}">
                <a16:creationId xmlns:a16="http://schemas.microsoft.com/office/drawing/2014/main" id="{ABA1E124-9DED-B118-8FCE-EE51A160C46B}"/>
              </a:ext>
            </a:extLst>
          </p:cNvPr>
          <p:cNvSpPr txBox="1"/>
          <p:nvPr/>
        </p:nvSpPr>
        <p:spPr>
          <a:xfrm>
            <a:off x="838200" y="4870212"/>
            <a:ext cx="11083834" cy="1477328"/>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FF0000"/>
                </a:solidFill>
              </a:rPr>
              <a:t>此时</a:t>
            </a:r>
            <a:r>
              <a:rPr lang="zh-CN" altLang="en-US" sz="1800" dirty="0">
                <a:solidFill>
                  <a:srgbClr val="FF0000"/>
                </a:solidFill>
              </a:rPr>
              <a:t>我们只用</a:t>
            </a:r>
            <a:r>
              <a:rPr lang="en-US" altLang="zh-CN" sz="1800" dirty="0">
                <a:solidFill>
                  <a:srgbClr val="FF0000"/>
                </a:solidFill>
              </a:rPr>
              <a:t>2</a:t>
            </a:r>
            <a:r>
              <a:rPr lang="zh-CN" altLang="en-US" sz="1800" dirty="0">
                <a:solidFill>
                  <a:srgbClr val="FF0000"/>
                </a:solidFill>
              </a:rPr>
              <a:t>个位就可以做第二次二分法</a:t>
            </a:r>
            <a:r>
              <a:rPr lang="zh-CN" altLang="en-US" sz="1800" dirty="0"/>
              <a:t>。即无论第一次二分法得到的结果是左边四列存在错误还是右边四列存在错误，都可以通过第二次二分法得到是四列中的左边两列存在错误还是右边两列存在错误！为什么我们多了一步异或就可以判断？比如我们上面举的例子，是</a:t>
            </a:r>
            <a:r>
              <a:rPr lang="en-US" altLang="zh-CN" sz="1800" dirty="0"/>
              <a:t>bit2</a:t>
            </a:r>
            <a:r>
              <a:rPr lang="zh-CN" altLang="en-US" sz="1800" dirty="0"/>
              <a:t>出现错误，那在第一次筛选后已经能确定是</a:t>
            </a:r>
            <a:r>
              <a:rPr lang="en-US" altLang="zh-CN" sz="1800" dirty="0"/>
              <a:t>bit0-bit3</a:t>
            </a:r>
            <a:r>
              <a:rPr lang="zh-CN" altLang="en-US" sz="1800" dirty="0"/>
              <a:t>中出现错误，那</a:t>
            </a:r>
            <a:r>
              <a:rPr lang="en-US" altLang="zh-CN" sz="1800" dirty="0"/>
              <a:t>bit4-bit7</a:t>
            </a:r>
            <a:r>
              <a:rPr lang="zh-CN" altLang="en-US" sz="1800" dirty="0"/>
              <a:t>肯定是没有错误的，所以即使它们与</a:t>
            </a:r>
            <a:r>
              <a:rPr lang="en-US" altLang="zh-CN" sz="1800" dirty="0"/>
              <a:t>bit2-bit3</a:t>
            </a:r>
            <a:r>
              <a:rPr lang="zh-CN" altLang="en-US" sz="1800" dirty="0"/>
              <a:t>异或，并不会影响最终的结果，如果</a:t>
            </a:r>
            <a:r>
              <a:rPr lang="en-US" altLang="zh-CN" sz="1800" dirty="0"/>
              <a:t>bit2</a:t>
            </a:r>
            <a:r>
              <a:rPr lang="zh-CN" altLang="en-US" sz="1800" dirty="0"/>
              <a:t>、</a:t>
            </a:r>
            <a:r>
              <a:rPr lang="en-US" altLang="zh-CN" sz="1800" dirty="0"/>
              <a:t>bit3</a:t>
            </a:r>
            <a:r>
              <a:rPr lang="zh-CN" altLang="en-US" sz="1800" dirty="0"/>
              <a:t>、</a:t>
            </a:r>
            <a:r>
              <a:rPr lang="en-US" altLang="zh-CN" sz="1800" dirty="0"/>
              <a:t>bit6</a:t>
            </a:r>
            <a:r>
              <a:rPr lang="zh-CN" altLang="en-US" sz="1800" dirty="0"/>
              <a:t>、</a:t>
            </a:r>
            <a:r>
              <a:rPr lang="en-US" altLang="zh-CN" sz="1800" dirty="0"/>
              <a:t>bit7</a:t>
            </a:r>
            <a:r>
              <a:rPr lang="zh-CN" altLang="en-US" sz="1800" dirty="0"/>
              <a:t>中出现错误，肯定是</a:t>
            </a:r>
            <a:r>
              <a:rPr lang="en-US" altLang="zh-CN" sz="1800" dirty="0"/>
              <a:t>bit2</a:t>
            </a:r>
            <a:r>
              <a:rPr lang="zh-CN" altLang="en-US" sz="1800" dirty="0"/>
              <a:t>和</a:t>
            </a:r>
            <a:r>
              <a:rPr lang="en-US" altLang="zh-CN" sz="1800" dirty="0"/>
              <a:t>bit3</a:t>
            </a:r>
            <a:r>
              <a:rPr lang="zh-CN" altLang="en-US" sz="1800" dirty="0"/>
              <a:t>中某一列出现了错误！</a:t>
            </a:r>
            <a:endParaRPr lang="zh-CN" altLang="en-US" dirty="0"/>
          </a:p>
        </p:txBody>
      </p:sp>
    </p:spTree>
    <p:extLst>
      <p:ext uri="{BB962C8B-B14F-4D97-AF65-F5344CB8AC3E}">
        <p14:creationId xmlns:p14="http://schemas.microsoft.com/office/powerpoint/2010/main" val="2741532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zh-CN" altLang="en-US" sz="1800" dirty="0">
                <a:solidFill>
                  <a:srgbClr val="FF0000"/>
                </a:solidFill>
              </a:rPr>
              <a:t>相同的，我们可以再用</a:t>
            </a:r>
            <a:r>
              <a:rPr lang="en-US" altLang="zh-CN" sz="1800" dirty="0">
                <a:solidFill>
                  <a:srgbClr val="FF0000"/>
                </a:solidFill>
              </a:rPr>
              <a:t>2</a:t>
            </a:r>
            <a:r>
              <a:rPr lang="zh-CN" altLang="en-US" sz="1800" dirty="0">
                <a:solidFill>
                  <a:srgbClr val="FF0000"/>
                </a:solidFill>
              </a:rPr>
              <a:t>个</a:t>
            </a:r>
            <a:r>
              <a:rPr lang="en-US" altLang="zh-CN" sz="1800" dirty="0">
                <a:solidFill>
                  <a:srgbClr val="FF0000"/>
                </a:solidFill>
              </a:rPr>
              <a:t>bit</a:t>
            </a:r>
            <a:r>
              <a:rPr lang="zh-CN" altLang="en-US" sz="1800" dirty="0">
                <a:solidFill>
                  <a:srgbClr val="FF0000"/>
                </a:solidFill>
              </a:rPr>
              <a:t>做最后一次二分。</a:t>
            </a:r>
            <a:endParaRPr lang="en-US" altLang="zh-CN" sz="1800" dirty="0"/>
          </a:p>
          <a:p>
            <a:r>
              <a:rPr lang="zh-CN" altLang="en-US" sz="1800" dirty="0"/>
              <a:t>在上次二分后，我们已经可以确定是哪两列出现了错误，所以最后这次二分我们可以判断具体是两列中哪一列出现了错误。就这样我们用了</a:t>
            </a:r>
            <a:r>
              <a:rPr lang="en-US" altLang="zh-CN" sz="1800" dirty="0"/>
              <a:t>6</a:t>
            </a:r>
            <a:r>
              <a:rPr lang="zh-CN" altLang="en-US" sz="1800" dirty="0"/>
              <a:t>个</a:t>
            </a:r>
            <a:r>
              <a:rPr lang="en-US" altLang="zh-CN" sz="1800" dirty="0"/>
              <a:t>bit</a:t>
            </a:r>
            <a:r>
              <a:rPr lang="zh-CN" altLang="en-US" sz="1800" dirty="0"/>
              <a:t>来确定哪一列出现了错误，同理我们也可以用这个方法确定是哪一行出现了错误，这样行列都确定了，就可以定位到哪个</a:t>
            </a:r>
            <a:r>
              <a:rPr lang="en-US" altLang="zh-CN" sz="1800" dirty="0"/>
              <a:t>bit</a:t>
            </a:r>
            <a:r>
              <a:rPr lang="zh-CN" altLang="en-US" sz="1800" dirty="0"/>
              <a:t>出现了错误。</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pic>
        <p:nvPicPr>
          <p:cNvPr id="6" name="图片 5">
            <a:extLst>
              <a:ext uri="{FF2B5EF4-FFF2-40B4-BE49-F238E27FC236}">
                <a16:creationId xmlns:a16="http://schemas.microsoft.com/office/drawing/2014/main" id="{6FDF3A4D-18E8-1EDA-499C-C27B9D5BCACA}"/>
              </a:ext>
            </a:extLst>
          </p:cNvPr>
          <p:cNvPicPr>
            <a:picLocks noChangeAspect="1"/>
          </p:cNvPicPr>
          <p:nvPr/>
        </p:nvPicPr>
        <p:blipFill>
          <a:blip r:embed="rId3"/>
          <a:stretch>
            <a:fillRect/>
          </a:stretch>
        </p:blipFill>
        <p:spPr>
          <a:xfrm>
            <a:off x="3106054" y="2155355"/>
            <a:ext cx="5004531" cy="3702904"/>
          </a:xfrm>
          <a:prstGeom prst="rect">
            <a:avLst/>
          </a:prstGeom>
        </p:spPr>
      </p:pic>
    </p:spTree>
    <p:extLst>
      <p:ext uri="{BB962C8B-B14F-4D97-AF65-F5344CB8AC3E}">
        <p14:creationId xmlns:p14="http://schemas.microsoft.com/office/powerpoint/2010/main" val="1124607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DDDB0A0B-B988-EC5C-F35B-901D5BE2C204}"/>
              </a:ext>
            </a:extLst>
          </p:cNvPr>
          <p:cNvPicPr>
            <a:picLocks noChangeAspect="1"/>
          </p:cNvPicPr>
          <p:nvPr/>
        </p:nvPicPr>
        <p:blipFill>
          <a:blip r:embed="rId3"/>
          <a:stretch>
            <a:fillRect/>
          </a:stretch>
        </p:blipFill>
        <p:spPr>
          <a:xfrm>
            <a:off x="3945030" y="4641269"/>
            <a:ext cx="5597162" cy="1336855"/>
          </a:xfrm>
          <a:prstGeom prst="rect">
            <a:avLst/>
          </a:prstGeom>
        </p:spPr>
      </p:pic>
      <p:pic>
        <p:nvPicPr>
          <p:cNvPr id="5" name="图片 4">
            <a:extLst>
              <a:ext uri="{FF2B5EF4-FFF2-40B4-BE49-F238E27FC236}">
                <a16:creationId xmlns:a16="http://schemas.microsoft.com/office/drawing/2014/main" id="{667AAED9-42F3-1C7E-4ED2-72F997F96CA8}"/>
              </a:ext>
            </a:extLst>
          </p:cNvPr>
          <p:cNvPicPr>
            <a:picLocks noChangeAspect="1"/>
          </p:cNvPicPr>
          <p:nvPr/>
        </p:nvPicPr>
        <p:blipFill>
          <a:blip r:embed="rId4"/>
          <a:stretch>
            <a:fillRect/>
          </a:stretch>
        </p:blipFill>
        <p:spPr>
          <a:xfrm>
            <a:off x="3246079" y="765313"/>
            <a:ext cx="5050155" cy="2683390"/>
          </a:xfrm>
          <a:prstGeom prst="rect">
            <a:avLst/>
          </a:prstGeom>
        </p:spPr>
      </p:pic>
      <p:sp>
        <p:nvSpPr>
          <p:cNvPr id="2" name="内容占位符 1"/>
          <p:cNvSpPr>
            <a:spLocks noGrp="1"/>
          </p:cNvSpPr>
          <p:nvPr>
            <p:ph idx="1"/>
          </p:nvPr>
        </p:nvSpPr>
        <p:spPr>
          <a:xfrm>
            <a:off x="838200" y="737198"/>
            <a:ext cx="10515600" cy="5355489"/>
          </a:xfrm>
        </p:spPr>
        <p:txBody>
          <a:bodyPr>
            <a:noAutofit/>
          </a:bodyPr>
          <a:lstStyle/>
          <a:p>
            <a:r>
              <a:rPr lang="zh-CN" altLang="en-US" sz="1800" dirty="0"/>
              <a:t>同理我们扩大到</a:t>
            </a:r>
            <a:r>
              <a:rPr lang="en-US" altLang="zh-CN" sz="1800" dirty="0"/>
              <a:t>256</a:t>
            </a:r>
            <a:r>
              <a:rPr lang="zh-CN" altLang="en-US" sz="1800" dirty="0"/>
              <a:t>个字节计算</a:t>
            </a:r>
            <a:r>
              <a:rPr lang="en-US" altLang="zh-CN" sz="1800" dirty="0" err="1"/>
              <a:t>ecc</a:t>
            </a:r>
            <a:endParaRPr lang="zh-CN" altLang="en-US"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4651878"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a:t>
            </a:r>
            <a:r>
              <a:rPr lang="en-US" altLang="zh-CN" sz="2800" b="1" dirty="0" err="1">
                <a:solidFill>
                  <a:srgbClr val="0070C0"/>
                </a:solidFill>
              </a:rPr>
              <a:t>NandFlash</a:t>
            </a:r>
            <a:r>
              <a:rPr lang="zh-CN" altLang="en-US" sz="2800" b="1" dirty="0">
                <a:solidFill>
                  <a:srgbClr val="0070C0"/>
                </a:solidFill>
              </a:rPr>
              <a:t>的</a:t>
            </a:r>
            <a:r>
              <a:rPr lang="en-US" altLang="zh-CN" sz="2800" b="1" dirty="0">
                <a:solidFill>
                  <a:srgbClr val="0070C0"/>
                </a:solidFill>
              </a:rPr>
              <a:t>ECC</a:t>
            </a:r>
            <a:endParaRPr lang="zh-CN" altLang="en-US" sz="2800" b="1" dirty="0">
              <a:solidFill>
                <a:srgbClr val="0070C0"/>
              </a:solidFill>
            </a:endParaRPr>
          </a:p>
        </p:txBody>
      </p:sp>
      <p:sp>
        <p:nvSpPr>
          <p:cNvPr id="8" name="文本框 7">
            <a:extLst>
              <a:ext uri="{FF2B5EF4-FFF2-40B4-BE49-F238E27FC236}">
                <a16:creationId xmlns:a16="http://schemas.microsoft.com/office/drawing/2014/main" id="{3F9EAAFE-3CB3-C529-D818-861C4238B598}"/>
              </a:ext>
            </a:extLst>
          </p:cNvPr>
          <p:cNvSpPr txBox="1"/>
          <p:nvPr/>
        </p:nvSpPr>
        <p:spPr>
          <a:xfrm>
            <a:off x="661851" y="3414942"/>
            <a:ext cx="11530149" cy="3046988"/>
          </a:xfrm>
          <a:prstGeom prst="rect">
            <a:avLst/>
          </a:prstGeom>
          <a:noFill/>
        </p:spPr>
        <p:txBody>
          <a:bodyPr wrap="square">
            <a:spAutoFit/>
          </a:bodyPr>
          <a:lstStyle/>
          <a:p>
            <a:r>
              <a:rPr lang="zh-CN" altLang="en-US" sz="1600" dirty="0"/>
              <a:t>可以看到为了定位哪一列我们用了</a:t>
            </a:r>
            <a:r>
              <a:rPr lang="en-US" altLang="zh-CN" sz="1600" dirty="0"/>
              <a:t>6</a:t>
            </a:r>
            <a:r>
              <a:rPr lang="zh-CN" altLang="en-US" sz="1600" dirty="0"/>
              <a:t>个</a:t>
            </a:r>
            <a:r>
              <a:rPr lang="en-US" altLang="zh-CN" sz="1600" dirty="0"/>
              <a:t>bit</a:t>
            </a:r>
            <a:r>
              <a:rPr lang="zh-CN" altLang="en-US" sz="1600" dirty="0"/>
              <a:t>：</a:t>
            </a:r>
            <a:r>
              <a:rPr lang="en-US" altLang="zh-CN" sz="1600" dirty="0"/>
              <a:t>CP0-CP5</a:t>
            </a:r>
            <a:r>
              <a:rPr lang="zh-CN" altLang="en-US" sz="1600" dirty="0"/>
              <a:t>；为了定位哪一行我们用了</a:t>
            </a:r>
            <a:r>
              <a:rPr lang="en-US" altLang="zh-CN" sz="1600" dirty="0"/>
              <a:t>16</a:t>
            </a:r>
            <a:r>
              <a:rPr lang="zh-CN" altLang="en-US" sz="1600" dirty="0"/>
              <a:t>个</a:t>
            </a:r>
            <a:r>
              <a:rPr lang="en-US" altLang="zh-CN" sz="1600" dirty="0"/>
              <a:t>bit</a:t>
            </a:r>
            <a:r>
              <a:rPr lang="zh-CN" altLang="en-US" sz="1600" dirty="0"/>
              <a:t>：</a:t>
            </a:r>
            <a:r>
              <a:rPr lang="en-US" altLang="zh-CN" sz="1600" dirty="0"/>
              <a:t>LP0-LP15</a:t>
            </a:r>
          </a:p>
          <a:p>
            <a:r>
              <a:rPr lang="en-US" altLang="zh-CN" sz="1600" dirty="0"/>
              <a:t>256</a:t>
            </a:r>
            <a:r>
              <a:rPr lang="zh-CN" altLang="en-US" sz="1600" dirty="0"/>
              <a:t>行为什么是</a:t>
            </a:r>
            <a:r>
              <a:rPr lang="en-US" altLang="zh-CN" sz="1600" dirty="0"/>
              <a:t>16</a:t>
            </a:r>
            <a:r>
              <a:rPr lang="zh-CN" altLang="en-US" sz="1600" dirty="0"/>
              <a:t>个</a:t>
            </a:r>
            <a:r>
              <a:rPr lang="en-US" altLang="zh-CN" sz="1600" dirty="0"/>
              <a:t>bit</a:t>
            </a:r>
            <a:r>
              <a:rPr lang="zh-CN" altLang="en-US" sz="1600" dirty="0"/>
              <a:t>呢？从上图可以看到</a:t>
            </a:r>
            <a:r>
              <a:rPr lang="zh-CN" altLang="en-US" sz="1600" dirty="0">
                <a:solidFill>
                  <a:srgbClr val="FF0000"/>
                </a:solidFill>
              </a:rPr>
              <a:t>对于</a:t>
            </a:r>
            <a:r>
              <a:rPr lang="en-US" altLang="zh-CN" sz="1600" dirty="0">
                <a:solidFill>
                  <a:srgbClr val="FF0000"/>
                </a:solidFill>
              </a:rPr>
              <a:t>8</a:t>
            </a:r>
            <a:r>
              <a:rPr lang="zh-CN" altLang="en-US" sz="1600" dirty="0">
                <a:solidFill>
                  <a:srgbClr val="FF0000"/>
                </a:solidFill>
              </a:rPr>
              <a:t>列的情况</a:t>
            </a:r>
            <a:r>
              <a:rPr lang="zh-CN" altLang="en-US" sz="1600" dirty="0"/>
              <a:t>，</a:t>
            </a:r>
            <a:r>
              <a:rPr lang="en-US" altLang="zh-CN" sz="1600" dirty="0"/>
              <a:t>CP0</a:t>
            </a:r>
            <a:r>
              <a:rPr lang="zh-CN" altLang="en-US" sz="1600" dirty="0"/>
              <a:t>和</a:t>
            </a:r>
            <a:r>
              <a:rPr lang="en-US" altLang="zh-CN" sz="1600" dirty="0"/>
              <a:t>CP1</a:t>
            </a:r>
            <a:r>
              <a:rPr lang="zh-CN" altLang="en-US" sz="1600" dirty="0"/>
              <a:t>一共</a:t>
            </a:r>
            <a:r>
              <a:rPr lang="en-US" altLang="zh-CN" sz="1600" dirty="0"/>
              <a:t>8</a:t>
            </a:r>
            <a:r>
              <a:rPr lang="zh-CN" altLang="en-US" sz="1600" dirty="0"/>
              <a:t>个，即</a:t>
            </a:r>
            <a:r>
              <a:rPr lang="en-US" altLang="zh-CN" sz="1600" dirty="0">
                <a:solidFill>
                  <a:srgbClr val="FF0000"/>
                </a:solidFill>
              </a:rPr>
              <a:t>2^3=8</a:t>
            </a:r>
            <a:r>
              <a:rPr lang="zh-CN" altLang="en-US" sz="1600" dirty="0"/>
              <a:t>；</a:t>
            </a:r>
            <a:r>
              <a:rPr lang="en-US" altLang="zh-CN" sz="1600" dirty="0"/>
              <a:t>CP3</a:t>
            </a:r>
            <a:r>
              <a:rPr lang="zh-CN" altLang="en-US" sz="1600" dirty="0"/>
              <a:t>和</a:t>
            </a:r>
            <a:r>
              <a:rPr lang="en-US" altLang="zh-CN" sz="1600" dirty="0"/>
              <a:t>CP2</a:t>
            </a:r>
            <a:r>
              <a:rPr lang="zh-CN" altLang="en-US" sz="1600" dirty="0"/>
              <a:t>一共</a:t>
            </a:r>
            <a:r>
              <a:rPr lang="en-US" altLang="zh-CN" sz="1600" dirty="0"/>
              <a:t>4</a:t>
            </a:r>
            <a:r>
              <a:rPr lang="zh-CN" altLang="en-US" sz="1600" dirty="0"/>
              <a:t>个，即</a:t>
            </a:r>
            <a:r>
              <a:rPr lang="en-US" altLang="zh-CN" sz="1600" dirty="0"/>
              <a:t>2^2=4</a:t>
            </a:r>
            <a:r>
              <a:rPr lang="zh-CN" altLang="en-US" sz="1600" dirty="0"/>
              <a:t>；</a:t>
            </a:r>
            <a:r>
              <a:rPr lang="en-US" altLang="zh-CN" sz="1600" dirty="0"/>
              <a:t>CP4</a:t>
            </a:r>
            <a:r>
              <a:rPr lang="zh-CN" altLang="en-US" sz="1600" dirty="0"/>
              <a:t>和</a:t>
            </a:r>
            <a:r>
              <a:rPr lang="en-US" altLang="zh-CN" sz="1600" dirty="0"/>
              <a:t>CP5</a:t>
            </a:r>
            <a:r>
              <a:rPr lang="zh-CN" altLang="en-US" sz="1600" dirty="0"/>
              <a:t>一共</a:t>
            </a:r>
            <a:r>
              <a:rPr lang="en-US" altLang="zh-CN" sz="1600" dirty="0"/>
              <a:t>2</a:t>
            </a:r>
            <a:r>
              <a:rPr lang="zh-CN" altLang="en-US" sz="1600" dirty="0"/>
              <a:t>个，即</a:t>
            </a:r>
            <a:r>
              <a:rPr lang="en-US" altLang="zh-CN" sz="1600" dirty="0"/>
              <a:t>2^1=2</a:t>
            </a:r>
            <a:r>
              <a:rPr lang="zh-CN" altLang="en-US" sz="1600" dirty="0"/>
              <a:t>。也就是对于</a:t>
            </a:r>
            <a:r>
              <a:rPr lang="en-US" altLang="zh-CN" sz="1600" dirty="0"/>
              <a:t>8</a:t>
            </a:r>
            <a:r>
              <a:rPr lang="zh-CN" altLang="en-US" sz="1600" dirty="0"/>
              <a:t>个元素来说，一共需要</a:t>
            </a:r>
            <a:r>
              <a:rPr lang="en-US" altLang="zh-CN" sz="1600" dirty="0"/>
              <a:t>3</a:t>
            </a:r>
            <a:r>
              <a:rPr lang="zh-CN" altLang="en-US" sz="1600" dirty="0"/>
              <a:t>行，每行占用两个位，也就是</a:t>
            </a:r>
            <a:r>
              <a:rPr lang="en-US" altLang="zh-CN" sz="1600" dirty="0">
                <a:solidFill>
                  <a:srgbClr val="FF0000"/>
                </a:solidFill>
              </a:rPr>
              <a:t>3*2=6</a:t>
            </a:r>
            <a:r>
              <a:rPr lang="zh-CN" altLang="en-US" sz="1600" dirty="0"/>
              <a:t>。同理我们可以算出，对于</a:t>
            </a:r>
            <a:r>
              <a:rPr lang="en-US" altLang="zh-CN" sz="1600" dirty="0">
                <a:solidFill>
                  <a:srgbClr val="FF0000"/>
                </a:solidFill>
              </a:rPr>
              <a:t>256</a:t>
            </a:r>
            <a:r>
              <a:rPr lang="zh-CN" altLang="en-US" sz="1600" dirty="0">
                <a:solidFill>
                  <a:srgbClr val="FF0000"/>
                </a:solidFill>
              </a:rPr>
              <a:t>个元素来说，</a:t>
            </a:r>
            <a:r>
              <a:rPr lang="en-US" altLang="zh-CN" sz="1600" dirty="0">
                <a:solidFill>
                  <a:srgbClr val="FF0000"/>
                </a:solidFill>
              </a:rPr>
              <a:t>2^8=256</a:t>
            </a:r>
            <a:r>
              <a:rPr lang="zh-CN" altLang="en-US" sz="1600" dirty="0"/>
              <a:t>，则需要</a:t>
            </a:r>
            <a:r>
              <a:rPr lang="en-US" altLang="zh-CN" sz="1600" dirty="0"/>
              <a:t>8</a:t>
            </a:r>
            <a:r>
              <a:rPr lang="zh-CN" altLang="en-US" sz="1600" dirty="0"/>
              <a:t>行，每行占用</a:t>
            </a:r>
            <a:r>
              <a:rPr lang="en-US" altLang="zh-CN" sz="1600" dirty="0"/>
              <a:t>2</a:t>
            </a:r>
            <a:r>
              <a:rPr lang="zh-CN" altLang="en-US" sz="1600" dirty="0"/>
              <a:t>个位，即</a:t>
            </a:r>
            <a:r>
              <a:rPr lang="en-US" altLang="zh-CN" sz="1600" dirty="0">
                <a:solidFill>
                  <a:srgbClr val="FF0000"/>
                </a:solidFill>
              </a:rPr>
              <a:t>8*2=16</a:t>
            </a:r>
            <a:r>
              <a:rPr lang="zh-CN" altLang="en-US" sz="1600" dirty="0"/>
              <a:t>。总共得到</a:t>
            </a:r>
            <a:r>
              <a:rPr lang="en-US" altLang="zh-CN" sz="1600" dirty="0"/>
              <a:t>22</a:t>
            </a:r>
            <a:r>
              <a:rPr lang="zh-CN" altLang="en-US" sz="1600" dirty="0"/>
              <a:t>个</a:t>
            </a:r>
            <a:r>
              <a:rPr lang="en-US" altLang="zh-CN" sz="1600" dirty="0"/>
              <a:t>bit</a:t>
            </a:r>
            <a:r>
              <a:rPr lang="zh-CN" altLang="en-US" sz="1600" dirty="0"/>
              <a:t>的校验位，需要占用</a:t>
            </a:r>
            <a:r>
              <a:rPr lang="en-US" altLang="zh-CN" sz="1600" dirty="0"/>
              <a:t>3</a:t>
            </a:r>
            <a:r>
              <a:rPr lang="zh-CN" altLang="en-US" sz="1600" dirty="0"/>
              <a:t>个</a:t>
            </a:r>
            <a:r>
              <a:rPr lang="en-US" altLang="zh-CN" sz="1600" dirty="0"/>
              <a:t>byte</a:t>
            </a:r>
            <a:r>
              <a:rPr lang="zh-CN" altLang="en-US" sz="1600" dirty="0"/>
              <a:t>，而多余出来两个</a:t>
            </a:r>
            <a:r>
              <a:rPr lang="en-US" altLang="zh-CN" sz="1600" dirty="0"/>
              <a:t>bit</a:t>
            </a:r>
            <a:r>
              <a:rPr lang="zh-CN" altLang="en-US" sz="1600" dirty="0"/>
              <a:t>，然后我们把这些</a:t>
            </a:r>
            <a:r>
              <a:rPr lang="en-US" altLang="zh-CN" sz="1600" dirty="0"/>
              <a:t>bit</a:t>
            </a:r>
            <a:r>
              <a:rPr lang="zh-CN" altLang="en-US" sz="1600" dirty="0"/>
              <a:t>按照固定的顺序排列：</a:t>
            </a:r>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pPr marL="285750" indent="-285750">
              <a:buFont typeface="Wingdings" panose="05000000000000000000" pitchFamily="2" charset="2"/>
              <a:buChar char="Ø"/>
            </a:pPr>
            <a:r>
              <a:rPr lang="zh-CN" altLang="en-US" sz="1600" dirty="0"/>
              <a:t>对于拥有</a:t>
            </a:r>
            <a:r>
              <a:rPr lang="en-US" altLang="zh-CN" sz="1600" dirty="0"/>
              <a:t>2^n</a:t>
            </a:r>
            <a:r>
              <a:rPr lang="zh-CN" altLang="en-US" sz="1600" dirty="0"/>
              <a:t>个元素的集合来说，我们需要</a:t>
            </a:r>
            <a:r>
              <a:rPr lang="en-US" altLang="zh-CN" sz="1600" dirty="0"/>
              <a:t>m</a:t>
            </a:r>
            <a:r>
              <a:rPr lang="zh-CN" altLang="en-US" sz="1600" dirty="0"/>
              <a:t>行校验码，第一行的元素个数等于</a:t>
            </a:r>
            <a:r>
              <a:rPr lang="en-US" altLang="zh-CN" sz="1600" dirty="0"/>
              <a:t>2^n</a:t>
            </a:r>
            <a:r>
              <a:rPr lang="zh-CN" altLang="en-US" sz="1600" dirty="0"/>
              <a:t>，最后一行的元素个数等于</a:t>
            </a:r>
            <a:r>
              <a:rPr lang="en-US" altLang="zh-CN" sz="1600" dirty="0"/>
              <a:t>2^1</a:t>
            </a:r>
            <a:r>
              <a:rPr lang="zh-CN" altLang="en-US" sz="1600" dirty="0"/>
              <a:t>，所以一共需要</a:t>
            </a:r>
            <a:r>
              <a:rPr lang="en-US" altLang="zh-CN" sz="1600" dirty="0"/>
              <a:t>n-1+1</a:t>
            </a:r>
            <a:r>
              <a:rPr lang="zh-CN" altLang="en-US" sz="1600" dirty="0"/>
              <a:t>行，每行占用两个位，一共</a:t>
            </a:r>
            <a:r>
              <a:rPr lang="en-US" altLang="zh-CN" sz="1600" dirty="0"/>
              <a:t>2n</a:t>
            </a:r>
            <a:r>
              <a:rPr lang="zh-CN" altLang="en-US" sz="1600" dirty="0"/>
              <a:t>个校验位。</a:t>
            </a:r>
          </a:p>
        </p:txBody>
      </p:sp>
      <p:sp>
        <p:nvSpPr>
          <p:cNvPr id="12" name="文本框 11">
            <a:extLst>
              <a:ext uri="{FF2B5EF4-FFF2-40B4-BE49-F238E27FC236}">
                <a16:creationId xmlns:a16="http://schemas.microsoft.com/office/drawing/2014/main" id="{72ED0B91-4292-8585-D786-EC3F9AC7D90D}"/>
              </a:ext>
            </a:extLst>
          </p:cNvPr>
          <p:cNvSpPr txBox="1"/>
          <p:nvPr/>
        </p:nvSpPr>
        <p:spPr>
          <a:xfrm>
            <a:off x="9630366" y="4652755"/>
            <a:ext cx="2157995"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t>所以256字节最后得到3个字节的ECC校验。</a:t>
            </a:r>
          </a:p>
        </p:txBody>
      </p:sp>
    </p:spTree>
    <p:extLst>
      <p:ext uri="{BB962C8B-B14F-4D97-AF65-F5344CB8AC3E}">
        <p14:creationId xmlns:p14="http://schemas.microsoft.com/office/powerpoint/2010/main" val="1118886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r>
              <a:rPr lang="en-US" altLang="zh-CN" sz="2000" dirty="0"/>
              <a:t>BCH</a:t>
            </a:r>
            <a:r>
              <a:rPr lang="zh-CN" altLang="en-US" sz="2000" dirty="0"/>
              <a:t>是循环码的一种，可以纠正编码块中的多个比特错误，广泛地用于存储设备，如硬盘、固态盘、</a:t>
            </a:r>
            <a:r>
              <a:rPr lang="en-US" altLang="zh-CN" sz="2000" dirty="0"/>
              <a:t>CD</a:t>
            </a:r>
            <a:r>
              <a:rPr lang="zh-CN" altLang="en-US" sz="2000" dirty="0"/>
              <a:t>及</a:t>
            </a:r>
            <a:r>
              <a:rPr lang="en-US" altLang="zh-CN" sz="2000" dirty="0"/>
              <a:t>DVD</a:t>
            </a:r>
            <a:r>
              <a:rPr lang="zh-CN" altLang="en-US" sz="2000" dirty="0"/>
              <a:t>中。</a:t>
            </a:r>
            <a:endParaRPr lang="en-US" altLang="zh-CN" sz="2000" dirty="0"/>
          </a:p>
          <a:p>
            <a:endParaRPr lang="en-US" altLang="zh-CN" sz="2000" dirty="0"/>
          </a:p>
          <a:p>
            <a:r>
              <a:rPr lang="zh-CN" altLang="en-US" sz="2000" dirty="0"/>
              <a:t>假如我们的真正的消息是</a:t>
            </a:r>
            <a:r>
              <a:rPr lang="en-US" altLang="zh-CN" sz="2000" dirty="0"/>
              <a:t>m(x)</a:t>
            </a:r>
            <a:r>
              <a:rPr lang="zh-CN" altLang="en-US" sz="2000" dirty="0"/>
              <a:t>，然后乘上一个编码多项式</a:t>
            </a:r>
            <a:r>
              <a:rPr lang="en-US" altLang="zh-CN" sz="2000" dirty="0"/>
              <a:t>p(x)</a:t>
            </a:r>
            <a:r>
              <a:rPr lang="zh-CN" altLang="en-US" sz="2000" dirty="0"/>
              <a:t>，得到</a:t>
            </a:r>
            <a:r>
              <a:rPr lang="en-US" altLang="zh-CN" sz="2000" dirty="0"/>
              <a:t>m(x)p(x)</a:t>
            </a:r>
            <a:r>
              <a:rPr lang="zh-CN" altLang="en-US" sz="2000" dirty="0"/>
              <a:t>再将其发送过去。发送过程中会会受到很多干扰，于是多项式被加上错误多项式</a:t>
            </a:r>
            <a:r>
              <a:rPr lang="en-US" altLang="zh-CN" sz="2000" dirty="0"/>
              <a:t>e(x)</a:t>
            </a:r>
            <a:r>
              <a:rPr lang="zh-CN" altLang="en-US" sz="2000" dirty="0"/>
              <a:t>，而接收者接收者的消息为</a:t>
            </a:r>
            <a:r>
              <a:rPr lang="en-US" altLang="zh-CN" sz="2000" dirty="0"/>
              <a:t>c(x)</a:t>
            </a:r>
            <a:r>
              <a:rPr lang="zh-CN" altLang="en-US" sz="2000" dirty="0"/>
              <a:t>，就有</a:t>
            </a:r>
            <a:endParaRPr lang="en-US" altLang="zh-CN" sz="2000" dirty="0"/>
          </a:p>
          <a:p>
            <a:pPr marL="0" indent="0">
              <a:buNone/>
            </a:pPr>
            <a:r>
              <a:rPr lang="en-US" altLang="zh-CN" sz="2000" dirty="0"/>
              <a:t>           c(x)=m(x)p(x)+e(x) </a:t>
            </a:r>
          </a:p>
          <a:p>
            <a:r>
              <a:rPr lang="zh-CN" altLang="en-US" sz="2000" dirty="0"/>
              <a:t>接收者怎么知道消息有没错呢？接收者事先就会和发送者商量好</a:t>
            </a:r>
            <a:r>
              <a:rPr lang="en-US" altLang="zh-CN" sz="2000" dirty="0"/>
              <a:t>p(x)</a:t>
            </a:r>
            <a:r>
              <a:rPr lang="zh-CN" altLang="en-US" sz="2000" dirty="0"/>
              <a:t>，然后就很简单，只要让</a:t>
            </a:r>
            <a:r>
              <a:rPr lang="en-US" altLang="zh-CN" sz="2000" dirty="0"/>
              <a:t>c(x)</a:t>
            </a:r>
            <a:r>
              <a:rPr lang="zh-CN" altLang="en-US" sz="2000" dirty="0"/>
              <a:t>除以</a:t>
            </a:r>
            <a:r>
              <a:rPr lang="en-US" altLang="zh-CN" sz="2000" dirty="0"/>
              <a:t>p(x)</a:t>
            </a:r>
            <a:r>
              <a:rPr lang="zh-CN" altLang="en-US" sz="2000" dirty="0"/>
              <a:t>，如果余项是</a:t>
            </a:r>
            <a:r>
              <a:rPr lang="en-US" altLang="zh-CN" sz="2000" dirty="0"/>
              <a:t>0</a:t>
            </a:r>
            <a:r>
              <a:rPr lang="zh-CN" altLang="en-US" sz="2000" dirty="0"/>
              <a:t>，即没有</a:t>
            </a:r>
            <a:r>
              <a:rPr lang="en-US" altLang="zh-CN" sz="2000" dirty="0"/>
              <a:t>e(x)</a:t>
            </a:r>
            <a:r>
              <a:rPr lang="zh-CN" altLang="en-US" sz="2000" dirty="0"/>
              <a:t>，没有受到干扰，那么商就是</a:t>
            </a:r>
            <a:r>
              <a:rPr lang="en-US" altLang="zh-CN" sz="2000" dirty="0"/>
              <a:t>m(x)</a:t>
            </a:r>
            <a:r>
              <a:rPr lang="zh-CN" altLang="en-US" sz="2000" dirty="0"/>
              <a:t>，就是正确的消息。如果余项不是零，我们的商就变成了</a:t>
            </a:r>
            <a:r>
              <a:rPr lang="en-US" altLang="zh-CN" sz="2000" dirty="0"/>
              <a:t>m(x) + e(x)/p(x)</a:t>
            </a:r>
            <a:r>
              <a:rPr lang="zh-CN" altLang="en-US" sz="2000" dirty="0"/>
              <a:t>，无法将真正的消息分离出来。上述方法有个前提，在</a:t>
            </a:r>
            <a:r>
              <a:rPr lang="en-US" altLang="zh-CN" sz="2000" dirty="0"/>
              <a:t>m(x) + e(x)/p(x)</a:t>
            </a:r>
            <a:r>
              <a:rPr lang="zh-CN" altLang="en-US" sz="2000" dirty="0"/>
              <a:t>，</a:t>
            </a:r>
            <a:r>
              <a:rPr lang="en-US" altLang="zh-CN" sz="2000" dirty="0"/>
              <a:t>p(x)</a:t>
            </a:r>
            <a:r>
              <a:rPr lang="zh-CN" altLang="en-US" sz="2000" dirty="0"/>
              <a:t>必须是不可约的本原多项式</a:t>
            </a:r>
            <a:r>
              <a:rPr lang="en-US" altLang="zh-CN" sz="2000" dirty="0"/>
              <a:t>(primitive polynomials)</a:t>
            </a:r>
            <a:r>
              <a:rPr lang="zh-CN" altLang="en-US" sz="2000" dirty="0"/>
              <a:t>，这样才能让</a:t>
            </a:r>
            <a:r>
              <a:rPr lang="en-US" altLang="zh-CN" sz="2000" dirty="0"/>
              <a:t>e(x)</a:t>
            </a:r>
            <a:r>
              <a:rPr lang="zh-CN" altLang="en-US" sz="2000" dirty="0"/>
              <a:t>不被除尽，我们才能意识到有干扰的存在。</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spTree>
    <p:extLst>
      <p:ext uri="{BB962C8B-B14F-4D97-AF65-F5344CB8AC3E}">
        <p14:creationId xmlns:p14="http://schemas.microsoft.com/office/powerpoint/2010/main" val="112660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buFont typeface="Wingdings" panose="05000000000000000000" pitchFamily="2" charset="2"/>
              <a:buChar char="Ø"/>
            </a:pPr>
            <a:r>
              <a:rPr lang="zh-CN" altLang="en-US" sz="2000" dirty="0"/>
              <a:t>纠单个错的例子</a:t>
            </a:r>
            <a:endParaRPr lang="en-US" altLang="zh-CN" sz="2000" dirty="0"/>
          </a:p>
          <a:p>
            <a:r>
              <a:rPr lang="zh-CN" altLang="en-US" sz="2000" dirty="0"/>
              <a:t>下面来看个例子。例如我们要发送的消息</a:t>
            </a:r>
            <a:r>
              <a:rPr lang="en-US" altLang="zh-CN" sz="2000" dirty="0"/>
              <a:t>m(x)</a:t>
            </a:r>
            <a:r>
              <a:rPr lang="zh-CN" altLang="en-US" sz="2000" dirty="0"/>
              <a:t>是</a:t>
            </a:r>
            <a:r>
              <a:rPr lang="en-US" altLang="zh-CN" sz="2000" dirty="0"/>
              <a:t>1001</a:t>
            </a:r>
            <a:r>
              <a:rPr lang="zh-CN" altLang="en-US" sz="2000" dirty="0"/>
              <a:t>，而编码多项式</a:t>
            </a:r>
            <a:r>
              <a:rPr lang="en-US" altLang="zh-CN" sz="2000" dirty="0"/>
              <a:t>p(x)</a:t>
            </a:r>
            <a:r>
              <a:rPr lang="zh-CN" altLang="en-US" sz="2000" dirty="0"/>
              <a:t>是</a:t>
            </a:r>
            <a:r>
              <a:rPr lang="en-US" altLang="zh-CN" sz="2000" dirty="0"/>
              <a:t>1011</a:t>
            </a:r>
            <a:r>
              <a:rPr lang="zh-CN" altLang="en-US" sz="2000" dirty="0"/>
              <a:t>，于是我们要发送出去的消息就是</a:t>
            </a:r>
            <a:r>
              <a:rPr lang="en-US" altLang="zh-CN" sz="2000" dirty="0"/>
              <a:t>1010011</a:t>
            </a:r>
            <a:r>
              <a:rPr lang="zh-CN" altLang="en-US" sz="2000" dirty="0"/>
              <a:t>。假如接收者也接收到了这个消息，用</a:t>
            </a:r>
            <a:r>
              <a:rPr lang="en-US" altLang="zh-CN" sz="2000" dirty="0"/>
              <a:t>p(x)</a:t>
            </a:r>
            <a:r>
              <a:rPr lang="zh-CN" altLang="en-US" sz="2000" dirty="0"/>
              <a:t>除后余项是</a:t>
            </a:r>
            <a:r>
              <a:rPr lang="en-US" altLang="zh-CN" sz="2000" dirty="0"/>
              <a:t>0</a:t>
            </a:r>
            <a:r>
              <a:rPr lang="zh-CN" altLang="en-US" sz="2000" dirty="0"/>
              <a:t>，没有错误存在，商是</a:t>
            </a:r>
            <a:r>
              <a:rPr lang="en-US" altLang="zh-CN" sz="2000" dirty="0"/>
              <a:t>1001</a:t>
            </a:r>
            <a:r>
              <a:rPr lang="zh-CN" altLang="en-US" sz="2000" dirty="0"/>
              <a:t>，就是发送者发送的消息，自然皆大欢喜。但如果发送过程中，有一个位改变了，变成了</a:t>
            </a:r>
            <a:r>
              <a:rPr lang="en-US" altLang="zh-CN" sz="2000" dirty="0"/>
              <a:t>1</a:t>
            </a:r>
            <a:r>
              <a:rPr lang="en-US" altLang="zh-CN" sz="2000" dirty="0">
                <a:solidFill>
                  <a:srgbClr val="FF0000"/>
                </a:solidFill>
              </a:rPr>
              <a:t>1</a:t>
            </a:r>
            <a:r>
              <a:rPr lang="en-US" altLang="zh-CN" sz="2000" dirty="0"/>
              <a:t>10011</a:t>
            </a:r>
            <a:r>
              <a:rPr lang="zh-CN" altLang="en-US" sz="2000" dirty="0"/>
              <a:t>，接收者同样用</a:t>
            </a:r>
            <a:r>
              <a:rPr lang="en-US" altLang="zh-CN" sz="2000" dirty="0"/>
              <a:t>p(x)</a:t>
            </a:r>
            <a:r>
              <a:rPr lang="zh-CN" altLang="en-US" sz="2000" dirty="0"/>
              <a:t>去除，得到了余项</a:t>
            </a:r>
            <a:r>
              <a:rPr lang="en-US" altLang="zh-CN" sz="2000" dirty="0"/>
              <a:t>111</a:t>
            </a:r>
            <a:r>
              <a:rPr lang="zh-CN" altLang="en-US" sz="2000" dirty="0"/>
              <a:t>，这下不好了，接收者知道出错了。但现在怎么去找出错误多项式</a:t>
            </a:r>
            <a:r>
              <a:rPr lang="en-US" altLang="zh-CN" sz="2000" dirty="0"/>
              <a:t>e(x)</a:t>
            </a:r>
            <a:r>
              <a:rPr lang="zh-CN" altLang="en-US" sz="2000" dirty="0"/>
              <a:t>呢？我们知道，这个余项</a:t>
            </a:r>
            <a:r>
              <a:rPr lang="en-US" altLang="zh-CN" sz="2000" dirty="0"/>
              <a:t>1110000</a:t>
            </a:r>
            <a:r>
              <a:rPr lang="zh-CN" altLang="en-US" sz="2000" dirty="0"/>
              <a:t>（注意低位在前，下表同理），就是</a:t>
            </a:r>
            <a:r>
              <a:rPr lang="en-US" altLang="zh-CN" sz="2000" dirty="0"/>
              <a:t>e(x)/p(x)</a:t>
            </a:r>
            <a:r>
              <a:rPr lang="zh-CN" altLang="en-US" sz="2000" dirty="0"/>
              <a:t>的余项。为了找出</a:t>
            </a:r>
            <a:r>
              <a:rPr lang="en-US" altLang="zh-CN" sz="2000" dirty="0"/>
              <a:t>e(x)</a:t>
            </a:r>
            <a:r>
              <a:rPr lang="zh-CN" altLang="en-US" sz="2000" dirty="0"/>
              <a:t>，我们可以反过来推。于是制作一张表格</a:t>
            </a:r>
            <a:endParaRPr lang="en-US" altLang="zh-CN" sz="20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pic>
        <p:nvPicPr>
          <p:cNvPr id="5" name="图片 4">
            <a:extLst>
              <a:ext uri="{FF2B5EF4-FFF2-40B4-BE49-F238E27FC236}">
                <a16:creationId xmlns:a16="http://schemas.microsoft.com/office/drawing/2014/main" id="{8C6B4192-07EA-61C0-05D3-1598E9C74E7D}"/>
              </a:ext>
            </a:extLst>
          </p:cNvPr>
          <p:cNvPicPr>
            <a:picLocks noChangeAspect="1"/>
          </p:cNvPicPr>
          <p:nvPr/>
        </p:nvPicPr>
        <p:blipFill>
          <a:blip r:embed="rId3"/>
          <a:stretch>
            <a:fillRect/>
          </a:stretch>
        </p:blipFill>
        <p:spPr>
          <a:xfrm>
            <a:off x="3609290" y="3346237"/>
            <a:ext cx="7014256" cy="2171565"/>
          </a:xfrm>
          <a:prstGeom prst="rect">
            <a:avLst/>
          </a:prstGeom>
        </p:spPr>
      </p:pic>
      <p:sp>
        <p:nvSpPr>
          <p:cNvPr id="6" name="文本框 5">
            <a:extLst>
              <a:ext uri="{FF2B5EF4-FFF2-40B4-BE49-F238E27FC236}">
                <a16:creationId xmlns:a16="http://schemas.microsoft.com/office/drawing/2014/main" id="{FBA07A09-A1A1-111F-6720-A29674BB8B19}"/>
              </a:ext>
            </a:extLst>
          </p:cNvPr>
          <p:cNvSpPr txBox="1"/>
          <p:nvPr/>
        </p:nvSpPr>
        <p:spPr>
          <a:xfrm>
            <a:off x="1169125" y="5641720"/>
            <a:ext cx="10308771" cy="646331"/>
          </a:xfrm>
          <a:prstGeom prst="rect">
            <a:avLst/>
          </a:prstGeom>
          <a:noFill/>
        </p:spPr>
        <p:txBody>
          <a:bodyPr wrap="square">
            <a:spAutoFit/>
          </a:bodyPr>
          <a:lstStyle/>
          <a:p>
            <a:r>
              <a:rPr lang="zh-CN" altLang="en-US" dirty="0"/>
              <a:t>表格右侧就是如果出现一位错误，r(x)/p(x)后，e(x)/p(x)的余项。通过寻找余项结果，我们可以快速定位究竟是哪里出错了。</a:t>
            </a:r>
          </a:p>
        </p:txBody>
      </p:sp>
    </p:spTree>
    <p:extLst>
      <p:ext uri="{BB962C8B-B14F-4D97-AF65-F5344CB8AC3E}">
        <p14:creationId xmlns:p14="http://schemas.microsoft.com/office/powerpoint/2010/main" val="2468741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pPr>
            <a:r>
              <a:rPr lang="zh-CN" altLang="en-US" sz="1800" dirty="0"/>
              <a:t>上面这个方法之所以对于所有的可能的错误能奏效，是因为右边的每一个余项都不相同，我们才不至于混淆。如果我们把</a:t>
            </a:r>
            <a:r>
              <a:rPr lang="en-US" altLang="zh-CN" sz="1800" dirty="0"/>
              <a:t>p(x)</a:t>
            </a:r>
            <a:r>
              <a:rPr lang="zh-CN" altLang="en-US" sz="1800" dirty="0"/>
              <a:t>换成</a:t>
            </a:r>
            <a:r>
              <a:rPr lang="en-US" altLang="zh-CN" sz="1800" dirty="0"/>
              <a:t>10001</a:t>
            </a:r>
            <a:r>
              <a:rPr lang="zh-CN" altLang="en-US" sz="1800" dirty="0"/>
              <a:t>会发生什么呢？这里</a:t>
            </a:r>
            <a:r>
              <a:rPr lang="en-US" altLang="zh-CN" sz="1800" dirty="0"/>
              <a:t>10001</a:t>
            </a:r>
            <a:r>
              <a:rPr lang="zh-CN" altLang="en-US" sz="1800" dirty="0"/>
              <a:t>不是本原多项式，因为</a:t>
            </a:r>
            <a:r>
              <a:rPr lang="en-US" altLang="zh-CN" sz="1800" dirty="0"/>
              <a:t>10001</a:t>
            </a:r>
            <a:r>
              <a:rPr lang="zh-CN" altLang="en-US" sz="1800" dirty="0"/>
              <a:t>可以分解成</a:t>
            </a:r>
            <a:r>
              <a:rPr lang="en-US" altLang="zh-CN" sz="1800" dirty="0"/>
              <a:t>101</a:t>
            </a:r>
            <a:r>
              <a:rPr lang="zh-CN" altLang="en-US" sz="1800" dirty="0"/>
              <a:t>乘</a:t>
            </a:r>
            <a:r>
              <a:rPr lang="en-US" altLang="zh-CN" sz="1800" dirty="0"/>
              <a:t>101</a:t>
            </a:r>
            <a:r>
              <a:rPr lang="zh-CN" altLang="en-US" sz="1800" dirty="0"/>
              <a:t>。</a:t>
            </a:r>
            <a:endParaRPr lang="en-US" altLang="zh-CN"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pic>
        <p:nvPicPr>
          <p:cNvPr id="7" name="图片 6">
            <a:extLst>
              <a:ext uri="{FF2B5EF4-FFF2-40B4-BE49-F238E27FC236}">
                <a16:creationId xmlns:a16="http://schemas.microsoft.com/office/drawing/2014/main" id="{0014A0CD-5601-A75E-C6ED-2FD498F789C4}"/>
              </a:ext>
            </a:extLst>
          </p:cNvPr>
          <p:cNvPicPr>
            <a:picLocks noChangeAspect="1"/>
          </p:cNvPicPr>
          <p:nvPr/>
        </p:nvPicPr>
        <p:blipFill>
          <a:blip r:embed="rId3"/>
          <a:stretch>
            <a:fillRect/>
          </a:stretch>
        </p:blipFill>
        <p:spPr>
          <a:xfrm>
            <a:off x="2662646" y="2055224"/>
            <a:ext cx="6553200" cy="1981200"/>
          </a:xfrm>
          <a:prstGeom prst="rect">
            <a:avLst/>
          </a:prstGeom>
        </p:spPr>
      </p:pic>
      <p:sp>
        <p:nvSpPr>
          <p:cNvPr id="9" name="文本框 8">
            <a:extLst>
              <a:ext uri="{FF2B5EF4-FFF2-40B4-BE49-F238E27FC236}">
                <a16:creationId xmlns:a16="http://schemas.microsoft.com/office/drawing/2014/main" id="{302057F0-768D-9A23-8C76-890788A11F6E}"/>
              </a:ext>
            </a:extLst>
          </p:cNvPr>
          <p:cNvSpPr txBox="1"/>
          <p:nvPr/>
        </p:nvSpPr>
        <p:spPr>
          <a:xfrm>
            <a:off x="1097280" y="4286702"/>
            <a:ext cx="10256520" cy="1296637"/>
          </a:xfrm>
          <a:prstGeom prst="rect">
            <a:avLst/>
          </a:prstGeom>
          <a:noFill/>
        </p:spPr>
        <p:txBody>
          <a:bodyPr wrap="square">
            <a:spAutoFit/>
          </a:bodyPr>
          <a:lstStyle/>
          <a:p>
            <a:pPr>
              <a:lnSpc>
                <a:spcPct val="150000"/>
              </a:lnSpc>
            </a:pPr>
            <a:r>
              <a:rPr lang="zh-CN" altLang="en-US" dirty="0"/>
              <a:t>我们可以看到，右侧重复了！假如我们得到余项</a:t>
            </a:r>
            <a:r>
              <a:rPr lang="en-US" altLang="zh-CN" dirty="0"/>
              <a:t>1000000</a:t>
            </a:r>
            <a:r>
              <a:rPr lang="zh-CN" altLang="en-US" dirty="0"/>
              <a:t>，我们无法知道</a:t>
            </a:r>
            <a:r>
              <a:rPr lang="en-US" altLang="zh-CN" dirty="0"/>
              <a:t>e(x)</a:t>
            </a:r>
            <a:r>
              <a:rPr lang="zh-CN" altLang="en-US" dirty="0"/>
              <a:t>究竟是第一行的</a:t>
            </a:r>
            <a:r>
              <a:rPr lang="en-US" altLang="zh-CN" dirty="0"/>
              <a:t>1000000</a:t>
            </a:r>
            <a:r>
              <a:rPr lang="zh-CN" altLang="en-US" dirty="0"/>
              <a:t>还是第五行的</a:t>
            </a:r>
            <a:r>
              <a:rPr lang="en-US" altLang="zh-CN" dirty="0"/>
              <a:t>0000100</a:t>
            </a:r>
            <a:r>
              <a:rPr lang="zh-CN" altLang="en-US" dirty="0"/>
              <a:t>。而本原多项式就好在，在所有错误余项</a:t>
            </a:r>
            <a:r>
              <a:rPr lang="en-US" altLang="zh-CN" dirty="0"/>
              <a:t>e(x)</a:t>
            </a:r>
            <a:r>
              <a:rPr lang="zh-CN" altLang="en-US" dirty="0"/>
              <a:t>出现前，</a:t>
            </a:r>
            <a:r>
              <a:rPr lang="en-US" altLang="zh-CN" dirty="0"/>
              <a:t>e(x)/p(x)</a:t>
            </a:r>
            <a:r>
              <a:rPr lang="zh-CN" altLang="en-US" dirty="0"/>
              <a:t>的余项不会重复。之后将开始重复，这就是被称为循环（</a:t>
            </a:r>
            <a:r>
              <a:rPr lang="en-US" altLang="zh-CN" dirty="0"/>
              <a:t>cyclic</a:t>
            </a:r>
            <a:r>
              <a:rPr lang="zh-CN" altLang="en-US" dirty="0"/>
              <a:t>）码的原因。</a:t>
            </a:r>
          </a:p>
        </p:txBody>
      </p:sp>
    </p:spTree>
    <p:extLst>
      <p:ext uri="{BB962C8B-B14F-4D97-AF65-F5344CB8AC3E}">
        <p14:creationId xmlns:p14="http://schemas.microsoft.com/office/powerpoint/2010/main" val="257798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buFont typeface="Wingdings" panose="05000000000000000000" pitchFamily="2" charset="2"/>
              <a:buChar char="Ø"/>
            </a:pPr>
            <a:r>
              <a:rPr lang="zh-CN" altLang="en-US" sz="1800" dirty="0"/>
              <a:t>寻找本原多项式</a:t>
            </a:r>
            <a:endParaRPr lang="en-US" altLang="zh-CN" sz="1800" dirty="0"/>
          </a:p>
          <a:p>
            <a:pPr>
              <a:lnSpc>
                <a:spcPct val="150000"/>
              </a:lnSpc>
            </a:pPr>
            <a:r>
              <a:rPr lang="zh-CN" altLang="en-US" sz="1800" dirty="0"/>
              <a:t>首先有一些原则：</a:t>
            </a:r>
            <a:endParaRPr lang="en-US" altLang="zh-CN" sz="1800" dirty="0"/>
          </a:p>
          <a:p>
            <a:pPr marL="0" indent="0">
              <a:lnSpc>
                <a:spcPct val="150000"/>
              </a:lnSpc>
              <a:buNone/>
            </a:pPr>
            <a:r>
              <a:rPr lang="zh-CN" altLang="en-US" sz="1800" dirty="0"/>
              <a:t>（</a:t>
            </a:r>
            <a:r>
              <a:rPr lang="en-US" altLang="zh-CN" sz="1800" dirty="0"/>
              <a:t>1</a:t>
            </a:r>
            <a:r>
              <a:rPr lang="zh-CN" altLang="en-US" sz="1800" dirty="0"/>
              <a:t>）</a:t>
            </a:r>
            <a:r>
              <a:rPr lang="en-US" altLang="zh-CN" sz="1800" dirty="0"/>
              <a:t>r</a:t>
            </a:r>
            <a:r>
              <a:rPr lang="zh-CN" altLang="en-US" sz="1800" dirty="0"/>
              <a:t>次多项式，最高次项</a:t>
            </a:r>
            <a:r>
              <a:rPr lang="en-US" altLang="zh-CN" sz="1800" dirty="0" err="1"/>
              <a:t>x^r</a:t>
            </a:r>
            <a:r>
              <a:rPr lang="zh-CN" altLang="en-US" sz="1800" dirty="0"/>
              <a:t>的系数必须是</a:t>
            </a:r>
            <a:r>
              <a:rPr lang="en-US" altLang="zh-CN" sz="1800" dirty="0"/>
              <a:t>1</a:t>
            </a:r>
            <a:r>
              <a:rPr lang="zh-CN" altLang="en-US" sz="1800" dirty="0"/>
              <a:t>。</a:t>
            </a:r>
            <a:endParaRPr lang="en-US" altLang="zh-CN" sz="1800" dirty="0"/>
          </a:p>
          <a:p>
            <a:pPr marL="0" indent="0">
              <a:lnSpc>
                <a:spcPct val="150000"/>
              </a:lnSpc>
              <a:buNone/>
            </a:pPr>
            <a:r>
              <a:rPr lang="zh-CN" altLang="en-US" sz="1800" dirty="0"/>
              <a:t>（</a:t>
            </a:r>
            <a:r>
              <a:rPr lang="en-US" altLang="zh-CN" sz="1800" dirty="0"/>
              <a:t>2</a:t>
            </a:r>
            <a:r>
              <a:rPr lang="zh-CN" altLang="en-US" sz="1800" dirty="0"/>
              <a:t>）多项式如果不包含常数项</a:t>
            </a:r>
            <a:r>
              <a:rPr lang="en-US" altLang="zh-CN" sz="1800" dirty="0"/>
              <a:t>1</a:t>
            </a:r>
            <a:r>
              <a:rPr lang="zh-CN" altLang="en-US" sz="1800" dirty="0"/>
              <a:t>，就会被</a:t>
            </a:r>
            <a:r>
              <a:rPr lang="en-US" altLang="zh-CN" sz="1800" dirty="0"/>
              <a:t>x</a:t>
            </a:r>
            <a:r>
              <a:rPr lang="zh-CN" altLang="en-US" sz="1800" dirty="0"/>
              <a:t>整除。</a:t>
            </a:r>
            <a:endParaRPr lang="en-US" altLang="zh-CN" sz="1800" dirty="0"/>
          </a:p>
          <a:p>
            <a:pPr marL="0" indent="0">
              <a:lnSpc>
                <a:spcPct val="150000"/>
              </a:lnSpc>
              <a:buNone/>
            </a:pPr>
            <a:r>
              <a:rPr lang="zh-CN" altLang="en-US" sz="1800" dirty="0"/>
              <a:t>（</a:t>
            </a:r>
            <a:r>
              <a:rPr lang="en-US" altLang="zh-CN" sz="1800" dirty="0"/>
              <a:t>3</a:t>
            </a:r>
            <a:r>
              <a:rPr lang="zh-CN" altLang="en-US" sz="1800" dirty="0"/>
              <a:t>）多项式项数不能是偶数的，比如 </a:t>
            </a:r>
            <a:r>
              <a:rPr lang="en-US" altLang="zh-CN" sz="1800" dirty="0"/>
              <a:t>1+x+x^2+x^4 </a:t>
            </a:r>
            <a:r>
              <a:rPr lang="zh-CN" altLang="en-US" sz="1800" dirty="0"/>
              <a:t>有四项，很容易将其分解为 </a:t>
            </a:r>
            <a:r>
              <a:rPr lang="en-US" altLang="zh-CN" sz="1800" dirty="0"/>
              <a:t>(1+x)(1+x^2)</a:t>
            </a:r>
            <a:r>
              <a:rPr lang="zh-CN" altLang="en-US" sz="1800" dirty="0"/>
              <a:t>。每一项的次数也不能都是偶数，否则将每一项次数减半就能得到因子。例如 </a:t>
            </a:r>
            <a:r>
              <a:rPr lang="en-US" altLang="zh-CN" sz="1800" dirty="0"/>
              <a:t>1 + x^2 + x^4 = (1 + x + x^2)^2 </a:t>
            </a:r>
            <a:r>
              <a:rPr lang="zh-CN" altLang="en-US" sz="1800" dirty="0"/>
              <a:t>。</a:t>
            </a:r>
            <a:endParaRPr lang="en-US" altLang="zh-CN"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pic>
        <p:nvPicPr>
          <p:cNvPr id="5" name="图片 4">
            <a:extLst>
              <a:ext uri="{FF2B5EF4-FFF2-40B4-BE49-F238E27FC236}">
                <a16:creationId xmlns:a16="http://schemas.microsoft.com/office/drawing/2014/main" id="{B3E06236-0530-6A6E-817B-4BC3065EDEE7}"/>
              </a:ext>
            </a:extLst>
          </p:cNvPr>
          <p:cNvPicPr>
            <a:picLocks noChangeAspect="1"/>
          </p:cNvPicPr>
          <p:nvPr/>
        </p:nvPicPr>
        <p:blipFill>
          <a:blip r:embed="rId3"/>
          <a:stretch>
            <a:fillRect/>
          </a:stretch>
        </p:blipFill>
        <p:spPr>
          <a:xfrm>
            <a:off x="3737113" y="3984307"/>
            <a:ext cx="5276850" cy="1571625"/>
          </a:xfrm>
          <a:prstGeom prst="rect">
            <a:avLst/>
          </a:prstGeom>
        </p:spPr>
      </p:pic>
      <p:sp>
        <p:nvSpPr>
          <p:cNvPr id="8" name="文本框 7">
            <a:extLst>
              <a:ext uri="{FF2B5EF4-FFF2-40B4-BE49-F238E27FC236}">
                <a16:creationId xmlns:a16="http://schemas.microsoft.com/office/drawing/2014/main" id="{857AC289-A6FD-519A-61F4-4D69E6BEE47E}"/>
              </a:ext>
            </a:extLst>
          </p:cNvPr>
          <p:cNvSpPr txBox="1"/>
          <p:nvPr/>
        </p:nvSpPr>
        <p:spPr>
          <a:xfrm>
            <a:off x="1053736" y="5714733"/>
            <a:ext cx="9344297" cy="369332"/>
          </a:xfrm>
          <a:prstGeom prst="rect">
            <a:avLst/>
          </a:prstGeom>
          <a:noFill/>
        </p:spPr>
        <p:txBody>
          <a:bodyPr wrap="square">
            <a:spAutoFit/>
          </a:bodyPr>
          <a:lstStyle/>
          <a:p>
            <a:r>
              <a:rPr lang="zh-CN" altLang="en-US" b="0" i="0" dirty="0">
                <a:solidFill>
                  <a:srgbClr val="121212"/>
                </a:solidFill>
                <a:effectLst/>
                <a:latin typeface="-apple-system"/>
              </a:rPr>
              <a:t>按照上述方法还可以继续寻找更多的本原多项式。次数越高数量越多。</a:t>
            </a:r>
            <a:endParaRPr lang="zh-CN" altLang="en-US" dirty="0"/>
          </a:p>
        </p:txBody>
      </p:sp>
    </p:spTree>
    <p:extLst>
      <p:ext uri="{BB962C8B-B14F-4D97-AF65-F5344CB8AC3E}">
        <p14:creationId xmlns:p14="http://schemas.microsoft.com/office/powerpoint/2010/main" val="3166275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buFont typeface="Wingdings" panose="05000000000000000000" pitchFamily="2" charset="2"/>
              <a:buChar char="Ø"/>
            </a:pPr>
            <a:r>
              <a:rPr lang="zh-CN" altLang="en-US" sz="1800" dirty="0"/>
              <a:t>但如果想要纠正多个错误呢？此时仅一个编码多项式</a:t>
            </a:r>
            <a:r>
              <a:rPr lang="en-US" altLang="zh-CN" sz="1800" dirty="0"/>
              <a:t>p(x)</a:t>
            </a:r>
            <a:r>
              <a:rPr lang="zh-CN" altLang="en-US" sz="1800" dirty="0"/>
              <a:t>就不够了，我们还需要更多的编码多项式来让我们能找出多个错误。这时就轮到</a:t>
            </a:r>
            <a:r>
              <a:rPr lang="en-US" altLang="zh-CN" sz="1800" dirty="0"/>
              <a:t>BCH</a:t>
            </a:r>
            <a:r>
              <a:rPr lang="zh-CN" altLang="en-US" sz="1800" dirty="0"/>
              <a:t>码出场了，其编码多项式标准形式是：</a:t>
            </a:r>
            <a:endParaRPr lang="en-US" altLang="zh-CN" sz="1800" dirty="0"/>
          </a:p>
          <a:p>
            <a:pPr>
              <a:lnSpc>
                <a:spcPct val="150000"/>
              </a:lnSpc>
              <a:buFont typeface="Wingdings" panose="05000000000000000000" pitchFamily="2" charset="2"/>
              <a:buChar char="Ø"/>
            </a:pPr>
            <a:endParaRPr lang="en-US" altLang="zh-CN" sz="1800" dirty="0"/>
          </a:p>
          <a:p>
            <a:pPr>
              <a:lnSpc>
                <a:spcPct val="150000"/>
              </a:lnSpc>
              <a:buFont typeface="Wingdings" panose="05000000000000000000" pitchFamily="2" charset="2"/>
              <a:buChar char="Ø"/>
            </a:pPr>
            <a:r>
              <a:rPr lang="zh-CN" altLang="en-US" sz="1800" dirty="0"/>
              <a:t>其中</a:t>
            </a:r>
            <a:r>
              <a:rPr lang="en-US" altLang="zh-CN" sz="1800" dirty="0"/>
              <a:t>p(x)</a:t>
            </a:r>
            <a:r>
              <a:rPr lang="zh-CN" altLang="en-US" sz="1800" dirty="0"/>
              <a:t>是本原多项式，而 </a:t>
            </a:r>
            <a:r>
              <a:rPr lang="en-US" altLang="zh-CN" sz="1800" dirty="0"/>
              <a:t>p_3(x^3)</a:t>
            </a:r>
            <a:r>
              <a:rPr lang="zh-CN" altLang="en-US" sz="1800" dirty="0"/>
              <a:t>，</a:t>
            </a:r>
            <a:r>
              <a:rPr lang="en-US" altLang="zh-CN" sz="1800" dirty="0"/>
              <a:t>p_5(x^5)… </a:t>
            </a:r>
            <a:r>
              <a:rPr lang="zh-CN" altLang="en-US" sz="1800" dirty="0"/>
              <a:t>都是可以被</a:t>
            </a:r>
            <a:r>
              <a:rPr lang="en-US" altLang="zh-CN" sz="1800" dirty="0"/>
              <a:t>p(x)</a:t>
            </a:r>
            <a:r>
              <a:rPr lang="zh-CN" altLang="en-US" sz="1800" dirty="0"/>
              <a:t>除余</a:t>
            </a:r>
            <a:r>
              <a:rPr lang="en-US" altLang="zh-CN" sz="1800" dirty="0"/>
              <a:t>0</a:t>
            </a:r>
            <a:r>
              <a:rPr lang="zh-CN" altLang="en-US" sz="1800" dirty="0"/>
              <a:t>的多项式。即</a:t>
            </a:r>
            <a:endParaRPr lang="en-US" altLang="zh-CN" sz="1800" dirty="0"/>
          </a:p>
          <a:p>
            <a:pPr marL="0" indent="0">
              <a:lnSpc>
                <a:spcPct val="150000"/>
              </a:lnSpc>
              <a:buNone/>
            </a:pPr>
            <a:endParaRPr lang="en-US" altLang="zh-CN" sz="1800" dirty="0"/>
          </a:p>
          <a:p>
            <a:pPr>
              <a:lnSpc>
                <a:spcPct val="150000"/>
              </a:lnSpc>
              <a:buFont typeface="Wingdings" panose="05000000000000000000" pitchFamily="2" charset="2"/>
              <a:buChar char="Ø"/>
            </a:pPr>
            <a:r>
              <a:rPr lang="zh-CN" altLang="en-US" sz="1800" dirty="0"/>
              <a:t>如果我们要设计一个可以纠正两个错误的编码多项式，就让 </a:t>
            </a:r>
            <a:r>
              <a:rPr lang="en-US" altLang="zh-CN" sz="1800" dirty="0"/>
              <a:t>Q(x)=p(x)p3(x) </a:t>
            </a:r>
            <a:r>
              <a:rPr lang="zh-CN" altLang="en-US" sz="1800" dirty="0"/>
              <a:t>。要设计一个可以纠正三个错误的编码多项式，就让 </a:t>
            </a:r>
            <a:r>
              <a:rPr lang="en-US" altLang="zh-CN" sz="1800" dirty="0"/>
              <a:t>Q(x)=p(x)p3(x)p5(x) </a:t>
            </a:r>
            <a:r>
              <a:rPr lang="zh-CN" altLang="en-US" sz="1800" dirty="0"/>
              <a:t>。</a:t>
            </a:r>
            <a:endParaRPr lang="en-US" altLang="zh-CN" sz="1800" dirty="0"/>
          </a:p>
          <a:p>
            <a:pPr>
              <a:lnSpc>
                <a:spcPct val="150000"/>
              </a:lnSpc>
              <a:buFont typeface="Wingdings" panose="05000000000000000000" pitchFamily="2" charset="2"/>
              <a:buChar char="Ø"/>
            </a:pPr>
            <a:r>
              <a:rPr lang="zh-CN" altLang="en-US" sz="1800" dirty="0"/>
              <a:t>现在我们先说如何寻找 </a:t>
            </a:r>
            <a:r>
              <a:rPr lang="en-US" altLang="zh-CN" sz="1800" dirty="0"/>
              <a:t>p3(x) </a:t>
            </a:r>
            <a:r>
              <a:rPr lang="zh-CN" altLang="en-US" sz="1800" dirty="0"/>
              <a:t>。例如 </a:t>
            </a:r>
            <a:r>
              <a:rPr lang="en-US" altLang="zh-CN" sz="1800" dirty="0"/>
              <a:t>p(x) = 1 + x + x^4 </a:t>
            </a:r>
            <a:r>
              <a:rPr lang="zh-CN" altLang="en-US" sz="1800" dirty="0"/>
              <a:t>。我们发现 </a:t>
            </a:r>
            <a:r>
              <a:rPr lang="en-US" altLang="zh-CN" sz="1800" dirty="0"/>
              <a:t>(x^6 + x^9 + x^12) = 1 + x^3  (mod p(x)) </a:t>
            </a:r>
            <a:r>
              <a:rPr lang="zh-CN" altLang="en-US" sz="1800" dirty="0"/>
              <a:t>，所以 </a:t>
            </a:r>
            <a:r>
              <a:rPr lang="en-US" altLang="zh-CN" sz="1800" dirty="0"/>
              <a:t>(1 + x^3 + x^6 + x^9 + x^12) = 0 (mod p (x)) </a:t>
            </a:r>
            <a:r>
              <a:rPr lang="zh-CN" altLang="en-US" sz="1800" dirty="0"/>
              <a:t>。我们用 </a:t>
            </a:r>
            <a:r>
              <a:rPr lang="en-US" altLang="zh-CN" sz="1800" dirty="0"/>
              <a:t>x</a:t>
            </a:r>
            <a:r>
              <a:rPr lang="zh-CN" altLang="en-US" sz="1800" dirty="0"/>
              <a:t>代替 </a:t>
            </a:r>
            <a:r>
              <a:rPr lang="en-US" altLang="zh-CN" sz="1800" dirty="0"/>
              <a:t>x^3 </a:t>
            </a:r>
            <a:r>
              <a:rPr lang="zh-CN" altLang="en-US" sz="1800" dirty="0"/>
              <a:t>，就得到 </a:t>
            </a:r>
            <a:r>
              <a:rPr lang="en-US" altLang="zh-CN" sz="1800" dirty="0"/>
              <a:t>p3(x) = 1 + x + x^2 + x^3 + x^4 </a:t>
            </a:r>
            <a:r>
              <a:rPr lang="zh-CN" altLang="en-US" sz="1800" dirty="0"/>
              <a:t>。同理</a:t>
            </a:r>
            <a:r>
              <a:rPr lang="en-US" altLang="zh-CN" sz="1800" dirty="0"/>
              <a:t>p5(x) = 1 + x + x^2</a:t>
            </a:r>
            <a:r>
              <a:rPr lang="zh-CN" altLang="en-US" sz="1800" dirty="0"/>
              <a:t>。那么，</a:t>
            </a:r>
            <a:r>
              <a:rPr lang="en-US" altLang="zh-CN" sz="1800" dirty="0"/>
              <a:t> Q(x)=p(x)p3(x)p5(x) =1 +x+ x^2 + x^4 + x^5 + x^8 + x^10 </a:t>
            </a:r>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pic>
        <p:nvPicPr>
          <p:cNvPr id="6" name="图片 5">
            <a:extLst>
              <a:ext uri="{FF2B5EF4-FFF2-40B4-BE49-F238E27FC236}">
                <a16:creationId xmlns:a16="http://schemas.microsoft.com/office/drawing/2014/main" id="{2837D1E4-D061-2BE3-16D4-2D68955B2DAA}"/>
              </a:ext>
            </a:extLst>
          </p:cNvPr>
          <p:cNvPicPr>
            <a:picLocks noChangeAspect="1"/>
          </p:cNvPicPr>
          <p:nvPr/>
        </p:nvPicPr>
        <p:blipFill>
          <a:blip r:embed="rId3"/>
          <a:stretch>
            <a:fillRect/>
          </a:stretch>
        </p:blipFill>
        <p:spPr>
          <a:xfrm>
            <a:off x="3340416" y="1757361"/>
            <a:ext cx="3948658" cy="412149"/>
          </a:xfrm>
          <a:prstGeom prst="rect">
            <a:avLst/>
          </a:prstGeom>
        </p:spPr>
      </p:pic>
      <p:pic>
        <p:nvPicPr>
          <p:cNvPr id="9" name="图片 8">
            <a:extLst>
              <a:ext uri="{FF2B5EF4-FFF2-40B4-BE49-F238E27FC236}">
                <a16:creationId xmlns:a16="http://schemas.microsoft.com/office/drawing/2014/main" id="{E4DCF04B-223B-E057-7769-C41EF969C7B9}"/>
              </a:ext>
            </a:extLst>
          </p:cNvPr>
          <p:cNvPicPr>
            <a:picLocks noChangeAspect="1"/>
          </p:cNvPicPr>
          <p:nvPr/>
        </p:nvPicPr>
        <p:blipFill>
          <a:blip r:embed="rId4"/>
          <a:stretch>
            <a:fillRect/>
          </a:stretch>
        </p:blipFill>
        <p:spPr>
          <a:xfrm>
            <a:off x="3436210" y="2793546"/>
            <a:ext cx="5499135" cy="530951"/>
          </a:xfrm>
          <a:prstGeom prst="rect">
            <a:avLst/>
          </a:prstGeom>
        </p:spPr>
      </p:pic>
    </p:spTree>
    <p:extLst>
      <p:ext uri="{BB962C8B-B14F-4D97-AF65-F5344CB8AC3E}">
        <p14:creationId xmlns:p14="http://schemas.microsoft.com/office/powerpoint/2010/main" val="4224088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buFont typeface="Wingdings" panose="05000000000000000000" pitchFamily="2" charset="2"/>
              <a:buChar char="Ø"/>
            </a:pPr>
            <a:r>
              <a:rPr lang="zh-CN" altLang="en-US" sz="1800" dirty="0"/>
              <a:t>纠正多个错误的例子</a:t>
            </a:r>
            <a:endParaRPr lang="en-US" altLang="zh-CN" sz="1800" dirty="0"/>
          </a:p>
          <a:p>
            <a:pPr>
              <a:lnSpc>
                <a:spcPct val="150000"/>
              </a:lnSpc>
            </a:pPr>
            <a:r>
              <a:rPr lang="zh-CN" altLang="en-US" sz="1800" dirty="0"/>
              <a:t>假如我们要发生的消息</a:t>
            </a:r>
            <a:r>
              <a:rPr lang="en-US" altLang="zh-CN" sz="1800" dirty="0"/>
              <a:t>m(x)</a:t>
            </a:r>
            <a:r>
              <a:rPr lang="zh-CN" altLang="en-US" sz="1800" dirty="0"/>
              <a:t>是</a:t>
            </a:r>
            <a:r>
              <a:rPr lang="en-US" altLang="zh-CN" sz="1800" dirty="0"/>
              <a:t>11010</a:t>
            </a:r>
            <a:r>
              <a:rPr lang="zh-CN" altLang="en-US" sz="1800" dirty="0"/>
              <a:t>，选择的本原多项式是 </a:t>
            </a:r>
            <a:r>
              <a:rPr lang="en-US" altLang="zh-CN" sz="1800" dirty="0"/>
              <a:t>p(x) = 1 + x + x^4 </a:t>
            </a:r>
            <a:r>
              <a:rPr lang="zh-CN" altLang="en-US" sz="1800" dirty="0"/>
              <a:t>，</a:t>
            </a:r>
            <a:r>
              <a:rPr lang="en-US" altLang="zh-CN" sz="1800" dirty="0"/>
              <a:t> </a:t>
            </a:r>
            <a:r>
              <a:rPr lang="zh-CN" altLang="en-US" sz="1800" dirty="0"/>
              <a:t>要纠正三个错误，那么</a:t>
            </a:r>
            <a:r>
              <a:rPr lang="en-US" altLang="zh-CN" sz="1800" dirty="0"/>
              <a:t>Q(x)=p(x)p3(x)p5(x) =1 +x+ x^2 + x^4 + x^5 + x^8 + x^10</a:t>
            </a:r>
            <a:r>
              <a:rPr lang="zh-CN" altLang="en-US" sz="1800" dirty="0"/>
              <a:t>，表示成二进制是</a:t>
            </a:r>
            <a:r>
              <a:rPr lang="en-US" altLang="zh-CN" sz="1800" dirty="0"/>
              <a:t>11101100101</a:t>
            </a:r>
            <a:r>
              <a:rPr lang="zh-CN" altLang="en-US" sz="1800" dirty="0"/>
              <a:t>，再乘上消息</a:t>
            </a:r>
            <a:r>
              <a:rPr lang="en-US" altLang="zh-CN" sz="1800" dirty="0"/>
              <a:t>m(x)</a:t>
            </a:r>
            <a:r>
              <a:rPr lang="zh-CN" altLang="en-US" sz="1800" dirty="0"/>
              <a:t>就是</a:t>
            </a:r>
            <a:r>
              <a:rPr lang="en-US" altLang="zh-CN" sz="1800" dirty="0"/>
              <a:t>100001110110010</a:t>
            </a:r>
            <a:r>
              <a:rPr lang="zh-CN" altLang="en-US" sz="1800" dirty="0"/>
              <a:t>，就是我们发送的出去的。</a:t>
            </a:r>
            <a:endParaRPr lang="en-US" altLang="zh-CN"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pic>
        <p:nvPicPr>
          <p:cNvPr id="5" name="图片 4">
            <a:extLst>
              <a:ext uri="{FF2B5EF4-FFF2-40B4-BE49-F238E27FC236}">
                <a16:creationId xmlns:a16="http://schemas.microsoft.com/office/drawing/2014/main" id="{80D7F3B2-FCD3-5CC6-B97C-6E8895F50B51}"/>
              </a:ext>
            </a:extLst>
          </p:cNvPr>
          <p:cNvPicPr>
            <a:picLocks noChangeAspect="1"/>
          </p:cNvPicPr>
          <p:nvPr/>
        </p:nvPicPr>
        <p:blipFill>
          <a:blip r:embed="rId3"/>
          <a:stretch>
            <a:fillRect/>
          </a:stretch>
        </p:blipFill>
        <p:spPr>
          <a:xfrm>
            <a:off x="2659960" y="2670128"/>
            <a:ext cx="4857750" cy="333375"/>
          </a:xfrm>
          <a:prstGeom prst="rect">
            <a:avLst/>
          </a:prstGeom>
        </p:spPr>
      </p:pic>
      <p:sp>
        <p:nvSpPr>
          <p:cNvPr id="7" name="文本框 6">
            <a:extLst>
              <a:ext uri="{FF2B5EF4-FFF2-40B4-BE49-F238E27FC236}">
                <a16:creationId xmlns:a16="http://schemas.microsoft.com/office/drawing/2014/main" id="{BECB100A-33D5-8670-F6DA-F5FAE7588951}"/>
              </a:ext>
            </a:extLst>
          </p:cNvPr>
          <p:cNvSpPr txBox="1"/>
          <p:nvPr/>
        </p:nvSpPr>
        <p:spPr>
          <a:xfrm>
            <a:off x="1053737" y="3076293"/>
            <a:ext cx="8374652" cy="369332"/>
          </a:xfrm>
          <a:prstGeom prst="rect">
            <a:avLst/>
          </a:prstGeom>
          <a:noFill/>
        </p:spPr>
        <p:txBody>
          <a:bodyPr wrap="square">
            <a:spAutoFit/>
          </a:bodyPr>
          <a:lstStyle/>
          <a:p>
            <a:r>
              <a:rPr lang="zh-CN" altLang="en-US" b="0" i="0" dirty="0">
                <a:effectLst/>
                <a:latin typeface="-apple-system"/>
              </a:rPr>
              <a:t>但现在接收者受到的</a:t>
            </a:r>
            <a:r>
              <a:rPr lang="en-US" altLang="zh-CN" b="0" i="0" dirty="0">
                <a:effectLst/>
                <a:latin typeface="-apple-system"/>
              </a:rPr>
              <a:t>r(x)</a:t>
            </a:r>
            <a:r>
              <a:rPr lang="zh-CN" altLang="en-US" b="0" i="0" dirty="0">
                <a:effectLst/>
                <a:latin typeface="-apple-system"/>
              </a:rPr>
              <a:t>却是 </a:t>
            </a:r>
            <a:r>
              <a:rPr lang="en-US" altLang="zh-CN" b="0" i="0" dirty="0">
                <a:effectLst/>
                <a:latin typeface="-apple-system"/>
              </a:rPr>
              <a:t>10</a:t>
            </a:r>
            <a:r>
              <a:rPr lang="en-US" altLang="zh-CN" b="1" i="0" dirty="0">
                <a:solidFill>
                  <a:srgbClr val="FF0000"/>
                </a:solidFill>
                <a:effectLst/>
                <a:latin typeface="-apple-system"/>
              </a:rPr>
              <a:t>1</a:t>
            </a:r>
            <a:r>
              <a:rPr lang="en-US" altLang="zh-CN" b="0" i="0" dirty="0">
                <a:effectLst/>
                <a:latin typeface="-apple-system"/>
              </a:rPr>
              <a:t>00</a:t>
            </a:r>
            <a:r>
              <a:rPr lang="en-US" altLang="zh-CN" b="1" i="0" dirty="0">
                <a:solidFill>
                  <a:srgbClr val="FF0000"/>
                </a:solidFill>
                <a:effectLst/>
                <a:latin typeface="-apple-system"/>
              </a:rPr>
              <a:t>0</a:t>
            </a:r>
            <a:r>
              <a:rPr lang="en-US" altLang="zh-CN" b="0" i="0" dirty="0">
                <a:effectLst/>
                <a:latin typeface="-apple-system"/>
              </a:rPr>
              <a:t>110110010</a:t>
            </a:r>
            <a:r>
              <a:rPr lang="zh-CN" altLang="en-US" b="0" i="0" dirty="0">
                <a:effectLst/>
                <a:latin typeface="-apple-system"/>
              </a:rPr>
              <a:t>。然后接收者开始计算（ </a:t>
            </a:r>
            <a:r>
              <a:rPr lang="zh-CN" altLang="en-US" dirty="0">
                <a:latin typeface="-apple-system"/>
              </a:rPr>
              <a:t>模</a:t>
            </a:r>
            <a:r>
              <a:rPr lang="en-US" altLang="zh-CN" b="0" i="0" dirty="0">
                <a:effectLst/>
                <a:latin typeface="-apple-system"/>
              </a:rPr>
              <a:t>p(x) </a:t>
            </a:r>
            <a:r>
              <a:rPr lang="zh-CN" altLang="en-US" b="0" i="0" dirty="0">
                <a:effectLst/>
                <a:latin typeface="-apple-system"/>
              </a:rPr>
              <a:t>）：</a:t>
            </a:r>
            <a:endParaRPr lang="zh-CN" altLang="en-US" dirty="0"/>
          </a:p>
        </p:txBody>
      </p:sp>
      <p:pic>
        <p:nvPicPr>
          <p:cNvPr id="9" name="图片 8">
            <a:extLst>
              <a:ext uri="{FF2B5EF4-FFF2-40B4-BE49-F238E27FC236}">
                <a16:creationId xmlns:a16="http://schemas.microsoft.com/office/drawing/2014/main" id="{BBCDADDA-A211-D443-6963-5A5F3CBC4FDA}"/>
              </a:ext>
            </a:extLst>
          </p:cNvPr>
          <p:cNvPicPr>
            <a:picLocks noChangeAspect="1"/>
          </p:cNvPicPr>
          <p:nvPr/>
        </p:nvPicPr>
        <p:blipFill>
          <a:blip r:embed="rId4"/>
          <a:stretch>
            <a:fillRect/>
          </a:stretch>
        </p:blipFill>
        <p:spPr>
          <a:xfrm>
            <a:off x="2888560" y="3525887"/>
            <a:ext cx="4400550" cy="790575"/>
          </a:xfrm>
          <a:prstGeom prst="rect">
            <a:avLst/>
          </a:prstGeom>
        </p:spPr>
      </p:pic>
      <p:sp>
        <p:nvSpPr>
          <p:cNvPr id="11" name="文本框 10">
            <a:extLst>
              <a:ext uri="{FF2B5EF4-FFF2-40B4-BE49-F238E27FC236}">
                <a16:creationId xmlns:a16="http://schemas.microsoft.com/office/drawing/2014/main" id="{6DF7309E-82A5-CD37-E43E-169031BF13F1}"/>
              </a:ext>
            </a:extLst>
          </p:cNvPr>
          <p:cNvSpPr txBox="1"/>
          <p:nvPr/>
        </p:nvSpPr>
        <p:spPr>
          <a:xfrm>
            <a:off x="1053737" y="4444878"/>
            <a:ext cx="10877006" cy="646331"/>
          </a:xfrm>
          <a:prstGeom prst="rect">
            <a:avLst/>
          </a:prstGeom>
          <a:noFill/>
        </p:spPr>
        <p:txBody>
          <a:bodyPr wrap="square">
            <a:spAutoFit/>
          </a:bodyPr>
          <a:lstStyle/>
          <a:p>
            <a:r>
              <a:rPr lang="zh-CN" altLang="en-US" dirty="0"/>
              <a:t>前两项余项不为0，而第三项为0，说明接到的只有两处错误。但如何把它们的位置找出来？我们就要用到错误定位多项式（ error locator polynomial ）了。即：</a:t>
            </a:r>
          </a:p>
        </p:txBody>
      </p:sp>
      <p:pic>
        <p:nvPicPr>
          <p:cNvPr id="13" name="图片 12">
            <a:extLst>
              <a:ext uri="{FF2B5EF4-FFF2-40B4-BE49-F238E27FC236}">
                <a16:creationId xmlns:a16="http://schemas.microsoft.com/office/drawing/2014/main" id="{FF0D4A79-4486-720F-60AD-20795B2C7034}"/>
              </a:ext>
            </a:extLst>
          </p:cNvPr>
          <p:cNvPicPr>
            <a:picLocks noChangeAspect="1"/>
          </p:cNvPicPr>
          <p:nvPr/>
        </p:nvPicPr>
        <p:blipFill>
          <a:blip r:embed="rId5"/>
          <a:stretch>
            <a:fillRect/>
          </a:stretch>
        </p:blipFill>
        <p:spPr>
          <a:xfrm>
            <a:off x="3133588" y="5115690"/>
            <a:ext cx="3590925" cy="400050"/>
          </a:xfrm>
          <a:prstGeom prst="rect">
            <a:avLst/>
          </a:prstGeom>
        </p:spPr>
      </p:pic>
      <p:sp>
        <p:nvSpPr>
          <p:cNvPr id="15" name="文本框 14">
            <a:extLst>
              <a:ext uri="{FF2B5EF4-FFF2-40B4-BE49-F238E27FC236}">
                <a16:creationId xmlns:a16="http://schemas.microsoft.com/office/drawing/2014/main" id="{20B6330D-CC0C-EF4C-AAB3-E4DE5C5E17D6}"/>
              </a:ext>
            </a:extLst>
          </p:cNvPr>
          <p:cNvSpPr txBox="1"/>
          <p:nvPr/>
        </p:nvSpPr>
        <p:spPr>
          <a:xfrm>
            <a:off x="1068161" y="5522586"/>
            <a:ext cx="10862582" cy="923330"/>
          </a:xfrm>
          <a:prstGeom prst="rect">
            <a:avLst/>
          </a:prstGeom>
          <a:noFill/>
        </p:spPr>
        <p:txBody>
          <a:bodyPr wrap="square">
            <a:spAutoFit/>
          </a:bodyPr>
          <a:lstStyle/>
          <a:p>
            <a:r>
              <a:rPr lang="zh-CN" altLang="en-US" dirty="0"/>
              <a:t>不过这时 e3 可以认为是无穷小，这样 x^e3 就是0。如果我们能找到这个函数的两个根，我们也就找到了e1和e2。经计算（略），可求得</a:t>
            </a:r>
            <a:r>
              <a:rPr lang="en-US" altLang="zh-CN" dirty="0"/>
              <a:t>y1=x^2</a:t>
            </a:r>
            <a:r>
              <a:rPr lang="zh-CN" altLang="en-US" dirty="0"/>
              <a:t>，</a:t>
            </a:r>
            <a:r>
              <a:rPr lang="en-US" altLang="zh-CN" dirty="0"/>
              <a:t>y2=x^5</a:t>
            </a:r>
            <a:r>
              <a:rPr lang="zh-CN" altLang="en-US" dirty="0"/>
              <a:t>、</a:t>
            </a:r>
            <a:r>
              <a:rPr lang="en-US" altLang="zh-CN" dirty="0"/>
              <a:t>y3=0</a:t>
            </a:r>
            <a:r>
              <a:rPr lang="zh-CN" altLang="en-US" dirty="0"/>
              <a:t>。即第一个错误在第三个位，第二个错误在第六个位，没有第三个错误。</a:t>
            </a:r>
          </a:p>
        </p:txBody>
      </p:sp>
    </p:spTree>
    <p:extLst>
      <p:ext uri="{BB962C8B-B14F-4D97-AF65-F5344CB8AC3E}">
        <p14:creationId xmlns:p14="http://schemas.microsoft.com/office/powerpoint/2010/main" val="2206558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buFont typeface="Wingdings" panose="05000000000000000000" pitchFamily="2" charset="2"/>
              <a:buChar char="Ø"/>
            </a:pPr>
            <a:endParaRPr lang="en-US" altLang="zh-CN"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spTree>
    <p:extLst>
      <p:ext uri="{BB962C8B-B14F-4D97-AF65-F5344CB8AC3E}">
        <p14:creationId xmlns:p14="http://schemas.microsoft.com/office/powerpoint/2010/main" val="146960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737198"/>
            <a:ext cx="10515600" cy="5355489"/>
          </a:xfrm>
        </p:spPr>
        <p:txBody>
          <a:bodyPr>
            <a:noAutofit/>
          </a:bodyPr>
          <a:lstStyle/>
          <a:p>
            <a:pPr>
              <a:lnSpc>
                <a:spcPct val="150000"/>
              </a:lnSpc>
              <a:buFont typeface="Wingdings" panose="05000000000000000000" pitchFamily="2" charset="2"/>
              <a:buChar char="Ø"/>
            </a:pPr>
            <a:endParaRPr lang="en-US" altLang="zh-CN" sz="1800" dirty="0"/>
          </a:p>
        </p:txBody>
      </p:sp>
      <p:sp>
        <p:nvSpPr>
          <p:cNvPr id="3" name="文本框 2">
            <a:extLst>
              <a:ext uri="{FF2B5EF4-FFF2-40B4-BE49-F238E27FC236}">
                <a16:creationId xmlns:a16="http://schemas.microsoft.com/office/drawing/2014/main" id="{B68D1F17-3B8E-E5A3-4B81-0AD5C54D36CF}"/>
              </a:ext>
            </a:extLst>
          </p:cNvPr>
          <p:cNvSpPr txBox="1"/>
          <p:nvPr/>
        </p:nvSpPr>
        <p:spPr>
          <a:xfrm>
            <a:off x="3737113" y="129209"/>
            <a:ext cx="2703444" cy="523220"/>
          </a:xfrm>
          <a:prstGeom prst="rect">
            <a:avLst/>
          </a:prstGeom>
          <a:noFill/>
        </p:spPr>
        <p:txBody>
          <a:bodyPr wrap="square" rtlCol="0">
            <a:spAutoFit/>
          </a:bodyPr>
          <a:lstStyle/>
          <a:p>
            <a:r>
              <a:rPr lang="zh-CN" altLang="en-US" sz="2800" b="1" dirty="0">
                <a:solidFill>
                  <a:srgbClr val="0070C0"/>
                </a:solidFill>
              </a:rPr>
              <a:t>纠错</a:t>
            </a:r>
            <a:r>
              <a:rPr lang="en-US" altLang="zh-CN" sz="2800" b="1" dirty="0">
                <a:solidFill>
                  <a:srgbClr val="0070C0"/>
                </a:solidFill>
              </a:rPr>
              <a:t>——BCH</a:t>
            </a:r>
            <a:r>
              <a:rPr lang="zh-CN" altLang="en-US" sz="2800" b="1" dirty="0">
                <a:solidFill>
                  <a:srgbClr val="0070C0"/>
                </a:solidFill>
              </a:rPr>
              <a:t>码</a:t>
            </a:r>
          </a:p>
        </p:txBody>
      </p:sp>
    </p:spTree>
    <p:extLst>
      <p:ext uri="{BB962C8B-B14F-4D97-AF65-F5344CB8AC3E}">
        <p14:creationId xmlns:p14="http://schemas.microsoft.com/office/powerpoint/2010/main" val="40713799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Inno模版 20200708</Template>
  <TotalTime>7832</TotalTime>
  <Words>4530</Words>
  <Application>Microsoft Office PowerPoint</Application>
  <PresentationFormat>宽屏</PresentationFormat>
  <Paragraphs>165</Paragraphs>
  <Slides>28</Slides>
  <Notes>27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-apple-system</vt:lpstr>
      <vt:lpstr>Optima-Regular</vt:lpstr>
      <vt:lpstr>PingFang SC</vt:lpstr>
      <vt:lpstr>等线</vt:lpstr>
      <vt:lpstr>宋体</vt:lpstr>
      <vt:lpstr>微软雅黑</vt:lpstr>
      <vt:lpstr>Arial</vt:lpstr>
      <vt:lpstr>Wingdings</vt:lpstr>
      <vt:lpstr>Office 主题​​</vt:lpstr>
      <vt:lpstr>ECC校验原理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基础学习</dc:title>
  <dc:creator>liuxj</dc:creator>
  <cp:lastModifiedBy>xucw@innosilicon</cp:lastModifiedBy>
  <cp:revision>378</cp:revision>
  <dcterms:created xsi:type="dcterms:W3CDTF">2021-06-16T10:51:15Z</dcterms:created>
  <dcterms:modified xsi:type="dcterms:W3CDTF">2022-09-21T09:17:10Z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1033-11.1.0.9615</vt:lpwstr>
  </property>
</Properties>
</file>